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964" r:id="rId2"/>
    <p:sldId id="970" r:id="rId3"/>
    <p:sldId id="962" r:id="rId4"/>
    <p:sldId id="938" r:id="rId5"/>
    <p:sldId id="919" r:id="rId6"/>
    <p:sldId id="920" r:id="rId7"/>
    <p:sldId id="986" r:id="rId8"/>
    <p:sldId id="926" r:id="rId9"/>
    <p:sldId id="988" r:id="rId10"/>
    <p:sldId id="989" r:id="rId11"/>
    <p:sldId id="981" r:id="rId12"/>
    <p:sldId id="968" r:id="rId13"/>
    <p:sldId id="983" r:id="rId14"/>
    <p:sldId id="918" r:id="rId15"/>
    <p:sldId id="939" r:id="rId16"/>
    <p:sldId id="923" r:id="rId17"/>
    <p:sldId id="924" r:id="rId18"/>
    <p:sldId id="966" r:id="rId19"/>
    <p:sldId id="925" r:id="rId20"/>
    <p:sldId id="978" r:id="rId21"/>
    <p:sldId id="984" r:id="rId22"/>
    <p:sldId id="976" r:id="rId23"/>
    <p:sldId id="975" r:id="rId24"/>
    <p:sldId id="972" r:id="rId25"/>
    <p:sldId id="977" r:id="rId26"/>
    <p:sldId id="935" r:id="rId27"/>
    <p:sldId id="979" r:id="rId28"/>
    <p:sldId id="985" r:id="rId29"/>
    <p:sldId id="922" r:id="rId30"/>
    <p:sldId id="973" r:id="rId31"/>
    <p:sldId id="980" r:id="rId32"/>
    <p:sldId id="987" r:id="rId33"/>
    <p:sldId id="974" r:id="rId34"/>
    <p:sldId id="965" r:id="rId3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2" autoAdjust="0"/>
    <p:restoredTop sz="97267" autoAdjust="0"/>
  </p:normalViewPr>
  <p:slideViewPr>
    <p:cSldViewPr>
      <p:cViewPr varScale="1">
        <p:scale>
          <a:sx n="163" d="100"/>
          <a:sy n="163" d="100"/>
        </p:scale>
        <p:origin x="940" y="1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64"/>
    </p:cViewPr>
  </p:sorterViewPr>
  <p:notesViewPr>
    <p:cSldViewPr>
      <p:cViewPr varScale="1">
        <p:scale>
          <a:sx n="107" d="100"/>
          <a:sy n="107" d="100"/>
        </p:scale>
        <p:origin x="-177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37D1B-640F-40DD-AC1E-17DE6F4A5DEE}" type="datetimeFigureOut">
              <a:rPr lang="ko-KR" altLang="en-US" smtClean="0"/>
              <a:pPr/>
              <a:t>2024-05-23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56CF1-9951-4424-B3C7-C51F72A3A11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369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156C9-D11F-451E-9ADC-AF9E3AB845E0}" type="datetimeFigureOut">
              <a:rPr lang="ko-KR" altLang="en-US" smtClean="0"/>
              <a:pPr/>
              <a:t>2024-05-23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2AC10-E66F-4F63-AB91-51BA5272E84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13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94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37BF804A-397B-4F3F-99DF-36A8FFBD5E4D}" type="datetimeFigureOut">
              <a:rPr kumimoji="0" lang="ko-KR" altLang="en-US" smtClean="0">
                <a:solidFill>
                  <a:prstClr val="black">
                    <a:tint val="7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6858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2024-05-23</a:t>
            </a:fld>
            <a:endParaRPr kumimoji="0" lang="ko-KR" altLang="en-US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0" lang="ko-KR" altLang="en-US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6ED56058-C64B-4BBB-A9CC-29748C203E36}" type="slidenum">
              <a:rPr kumimoji="0" lang="ko-KR" altLang="en-US" smtClean="0">
                <a:solidFill>
                  <a:prstClr val="black">
                    <a:tint val="7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6858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ko-KR" altLang="en-US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804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424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Book Antiqua" panose="02040602050305030304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1pPr>
      <a:lvl2pPr marL="742950" indent="-285750" algn="l" defTabSz="914400" rtl="0" eaLnBrk="1" latinLnBrk="1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9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tags" Target="../tags/tag12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1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13.png"/><Relationship Id="rId5" Type="http://schemas.openxmlformats.org/officeDocument/2006/relationships/tags" Target="../tags/tag14.xml"/><Relationship Id="rId10" Type="http://schemas.openxmlformats.org/officeDocument/2006/relationships/image" Target="../media/image12.png"/><Relationship Id="rId4" Type="http://schemas.openxmlformats.org/officeDocument/2006/relationships/tags" Target="../tags/tag13.xml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tags" Target="../tags/tag18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24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23.png"/><Relationship Id="rId5" Type="http://schemas.openxmlformats.org/officeDocument/2006/relationships/tags" Target="../tags/tag20.xml"/><Relationship Id="rId10" Type="http://schemas.openxmlformats.org/officeDocument/2006/relationships/image" Target="../media/image22.png"/><Relationship Id="rId4" Type="http://schemas.openxmlformats.org/officeDocument/2006/relationships/tags" Target="../tags/tag19.xml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24.xml"/><Relationship Id="rId7" Type="http://schemas.openxmlformats.org/officeDocument/2006/relationships/image" Target="../media/image27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5.xml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28.xml"/><Relationship Id="rId7" Type="http://schemas.openxmlformats.org/officeDocument/2006/relationships/image" Target="../media/image33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32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9.xml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tags" Target="../tags/tag32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40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39.png"/><Relationship Id="rId5" Type="http://schemas.openxmlformats.org/officeDocument/2006/relationships/tags" Target="../tags/tag34.xml"/><Relationship Id="rId10" Type="http://schemas.openxmlformats.org/officeDocument/2006/relationships/image" Target="../media/image38.png"/><Relationship Id="rId4" Type="http://schemas.openxmlformats.org/officeDocument/2006/relationships/tags" Target="../tags/tag33.xml"/><Relationship Id="rId9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45.png"/><Relationship Id="rId3" Type="http://schemas.openxmlformats.org/officeDocument/2006/relationships/tags" Target="../tags/tag38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44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image" Target="../media/image43.png"/><Relationship Id="rId5" Type="http://schemas.openxmlformats.org/officeDocument/2006/relationships/tags" Target="../tags/tag40.xml"/><Relationship Id="rId10" Type="http://schemas.openxmlformats.org/officeDocument/2006/relationships/image" Target="../media/image42.png"/><Relationship Id="rId4" Type="http://schemas.openxmlformats.org/officeDocument/2006/relationships/tags" Target="../tags/tag39.xml"/><Relationship Id="rId9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48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54.png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image" Target="../media/image53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52.png"/><Relationship Id="rId5" Type="http://schemas.openxmlformats.org/officeDocument/2006/relationships/tags" Target="../tags/tag49.xml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tags" Target="../tags/tag48.xml"/><Relationship Id="rId9" Type="http://schemas.openxmlformats.org/officeDocument/2006/relationships/image" Target="../media/image46.png"/><Relationship Id="rId1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tags" Target="../tags/tag54.xml"/><Relationship Id="rId21" Type="http://schemas.openxmlformats.org/officeDocument/2006/relationships/image" Target="../media/image71.png"/><Relationship Id="rId7" Type="http://schemas.openxmlformats.org/officeDocument/2006/relationships/tags" Target="../tags/tag58.xml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tags" Target="../tags/tag53.xml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6.xml"/><Relationship Id="rId15" Type="http://schemas.openxmlformats.org/officeDocument/2006/relationships/image" Target="../media/image65.png"/><Relationship Id="rId10" Type="http://schemas.openxmlformats.org/officeDocument/2006/relationships/tags" Target="../tags/tag61.xml"/><Relationship Id="rId19" Type="http://schemas.openxmlformats.org/officeDocument/2006/relationships/image" Target="../media/image69.pn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7259" y="2852936"/>
            <a:ext cx="4329481" cy="648074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Resampling Methods</a:t>
            </a:r>
          </a:p>
        </p:txBody>
      </p:sp>
    </p:spTree>
    <p:extLst>
      <p:ext uri="{BB962C8B-B14F-4D97-AF65-F5344CB8AC3E}">
        <p14:creationId xmlns:p14="http://schemas.microsoft.com/office/powerpoint/2010/main" val="2489486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그림 46" descr="\documentclass{article}&#10;\usepackage{amsmath}&#10;\pagestyle{empty}&#10;\begin{document}&#10;&#10;&#10;&#10;New data :  $D^* = \{(y_i^* , {\boldsymbol x}_i^* ) | i=1,2, \ldots, n \} &#10;$&#10;&#10;\end{document}" title="IguanaTex Bitmap Display">
            <a:extLst>
              <a:ext uri="{FF2B5EF4-FFF2-40B4-BE49-F238E27FC236}">
                <a16:creationId xmlns:a16="http://schemas.microsoft.com/office/drawing/2014/main" id="{F41BD009-C016-414C-9418-CA9D130C63E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693" y="3429000"/>
            <a:ext cx="4641524" cy="257523"/>
          </a:xfrm>
          <a:prstGeom prst="rect">
            <a:avLst/>
          </a:prstGeom>
        </p:spPr>
      </p:pic>
      <p:pic>
        <p:nvPicPr>
          <p:cNvPr id="45" name="그림 44" descr="\documentclass{article}&#10;\usepackage{amsmath}&#10;\pagestyle{empty}&#10;\begin{document}&#10;&#10;&#10;&#10;Data :  $D= \{(y_i , {\boldsymbol x}_i ) | i=1,2, \ldots, n \} &#10;$&#10;&#10;\end{document}" title="IguanaTex Bitmap Display">
            <a:extLst>
              <a:ext uri="{FF2B5EF4-FFF2-40B4-BE49-F238E27FC236}">
                <a16:creationId xmlns:a16="http://schemas.microsoft.com/office/drawing/2014/main" id="{A0BF3816-D66D-403A-948E-AFA4B63008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693" y="2432723"/>
            <a:ext cx="3936000" cy="25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9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Prediction Error and AIC</a:t>
            </a:r>
          </a:p>
        </p:txBody>
      </p:sp>
      <p:pic>
        <p:nvPicPr>
          <p:cNvPr id="8" name="그림 7" descr="\documentclass{article}&#10;\usepackage{amsmath}&#10;\usepackage[utf8]{inputenc}&#10;\usepackage{kotex}&#10;\pagestyle{empty}&#10;\newcommand\bs{\boldsymbol}&#10;\begin{document}&#10;&#10;$$&#10;SSE^*({\hat {\bs \mu}})  =  &#10;\sum_{i=1}^n (y_i^* - {\hat \mu}_i )^2 $$&#10;&#10;&#10;\end{document}" title="IguanaTex Bitmap Display">
            <a:extLst>
              <a:ext uri="{FF2B5EF4-FFF2-40B4-BE49-F238E27FC236}">
                <a16:creationId xmlns:a16="http://schemas.microsoft.com/office/drawing/2014/main" id="{5C47A4A9-AA1C-4648-BA46-95A7FBD8B2A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958" y="2537082"/>
            <a:ext cx="2805333" cy="693333"/>
          </a:xfrm>
          <a:prstGeom prst="rect">
            <a:avLst/>
          </a:prstGeom>
        </p:spPr>
      </p:pic>
      <p:pic>
        <p:nvPicPr>
          <p:cNvPr id="29" name="그림 28" descr="\documentclass{article}&#10;\usepackage{amsmath}&#10;\pagestyle{empty}&#10;\begin{document}&#10;&#10;&#10;$$&#10;-2 \log p(D^* | \hat{\boldsymbol \theta})&#10;~\approx~ -2 \log p(D | \hat{\boldsymbol \theta}) + 2 \, df({\boldsymbol \theta})~~=~~\mbox{AIC}&#10;$$&#10;&#10;\end{document}" title="IguanaTex Bitmap Display">
            <a:extLst>
              <a:ext uri="{FF2B5EF4-FFF2-40B4-BE49-F238E27FC236}">
                <a16:creationId xmlns:a16="http://schemas.microsoft.com/office/drawing/2014/main" id="{0E9624AB-B2B8-4DAE-B176-B6E384DBB85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958" y="4023570"/>
            <a:ext cx="5895622" cy="30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07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894A0C-E2DE-4ED8-B4CB-941458CBDBC9}"/>
              </a:ext>
            </a:extLst>
          </p:cNvPr>
          <p:cNvSpPr txBox="1"/>
          <p:nvPr/>
        </p:nvSpPr>
        <p:spPr>
          <a:xfrm>
            <a:off x="1547664" y="2780928"/>
            <a:ext cx="6264696" cy="292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400" dirty="0"/>
              <a:t>해의 최적화를 쉽게 한다</a:t>
            </a:r>
            <a:endParaRPr lang="en-US" altLang="ko-KR" sz="24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400" dirty="0"/>
              <a:t>실질적인 </a:t>
            </a:r>
            <a:r>
              <a:rPr lang="ko-KR" altLang="en-US" sz="2400" dirty="0" err="1"/>
              <a:t>모수의</a:t>
            </a:r>
            <a:r>
              <a:rPr lang="ko-KR" altLang="en-US" sz="2400" dirty="0"/>
              <a:t> 개수를 줄여준다</a:t>
            </a:r>
            <a:endParaRPr lang="en-US" altLang="ko-KR" sz="24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400" dirty="0"/>
              <a:t>모형을 단순화 한다</a:t>
            </a:r>
            <a:endParaRPr lang="en-US" altLang="ko-KR" sz="2400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4. </a:t>
            </a:r>
            <a:r>
              <a:rPr lang="ko-KR" altLang="en-US" sz="2400" dirty="0"/>
              <a:t>모형의 예측성을 높여준다</a:t>
            </a:r>
            <a:r>
              <a:rPr lang="en-US" altLang="ko-KR" sz="2400" dirty="0"/>
              <a:t>(</a:t>
            </a:r>
            <a:r>
              <a:rPr lang="en-US" altLang="ko-KR" sz="2400" b="1" dirty="0">
                <a:solidFill>
                  <a:srgbClr val="FF0000"/>
                </a:solidFill>
              </a:rPr>
              <a:t>?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B40ABE2-D171-4871-9BC0-DD9FA0A42B82}"/>
              </a:ext>
            </a:extLst>
          </p:cNvPr>
          <p:cNvCxnSpPr>
            <a:cxnSpLocks/>
          </p:cNvCxnSpPr>
          <p:nvPr/>
        </p:nvCxnSpPr>
        <p:spPr>
          <a:xfrm>
            <a:off x="2987824" y="5710384"/>
            <a:ext cx="9041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91279CB-B901-4355-B8DE-3E5A9DB096A8}"/>
              </a:ext>
            </a:extLst>
          </p:cNvPr>
          <p:cNvCxnSpPr>
            <a:cxnSpLocks/>
          </p:cNvCxnSpPr>
          <p:nvPr/>
        </p:nvCxnSpPr>
        <p:spPr>
          <a:xfrm>
            <a:off x="2987824" y="4941168"/>
            <a:ext cx="9041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\documentclass{article}&#10;\usepackage{amsmath}&#10;\pagestyle{empty}&#10;\begin{document}&#10;&#10;&#10;$$&#10;\mbox{Ridge}: ~~\qquad \sum_i (y_i -{\boldsymbol x}_i {\boldsymbol \beta})^2 + \lambda \sum_l |\beta_l|^2 $$&#10;&#10;\end{document}" title="IguanaTex Bitmap Display">
            <a:extLst>
              <a:ext uri="{FF2B5EF4-FFF2-40B4-BE49-F238E27FC236}">
                <a16:creationId xmlns:a16="http://schemas.microsoft.com/office/drawing/2014/main" id="{188C25FF-C151-4D36-977C-F658ED3C02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146239"/>
            <a:ext cx="4533335" cy="547045"/>
          </a:xfrm>
          <a:prstGeom prst="rect">
            <a:avLst/>
          </a:prstGeom>
        </p:spPr>
      </p:pic>
      <p:pic>
        <p:nvPicPr>
          <p:cNvPr id="8" name="그림 7" descr="\documentclass{article}&#10;\usepackage{amsmath}&#10;\pagestyle{empty}&#10;\begin{document}&#10;&#10;&#10;$$&#10;\mbox{LASSO}: \qquad \sum_i (y_i -{\boldsymbol x}_i {\boldsymbol \beta})^2 + \lambda \sum_l |\beta_l |&#10;$$&#10;&#10;\end{document}" title="IguanaTex Bitmap Display">
            <a:extLst>
              <a:ext uri="{FF2B5EF4-FFF2-40B4-BE49-F238E27FC236}">
                <a16:creationId xmlns:a16="http://schemas.microsoft.com/office/drawing/2014/main" id="{1165B866-8029-48AC-A504-FACCC793FDA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916832"/>
            <a:ext cx="4393146" cy="54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33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1AD3E5CA-D763-4B1A-8F04-B88B78C3AA3C}"/>
              </a:ext>
            </a:extLst>
          </p:cNvPr>
          <p:cNvSpPr/>
          <p:nvPr/>
        </p:nvSpPr>
        <p:spPr>
          <a:xfrm>
            <a:off x="6277432" y="2332132"/>
            <a:ext cx="288033" cy="306284"/>
          </a:xfrm>
          <a:prstGeom prst="ellipse">
            <a:avLst/>
          </a:prstGeom>
          <a:solidFill>
            <a:srgbClr val="FF000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A2FEB5B-F2AD-4D78-B57E-CAF4D119E9D7}"/>
              </a:ext>
            </a:extLst>
          </p:cNvPr>
          <p:cNvSpPr/>
          <p:nvPr/>
        </p:nvSpPr>
        <p:spPr>
          <a:xfrm>
            <a:off x="6204129" y="3623391"/>
            <a:ext cx="288033" cy="306284"/>
          </a:xfrm>
          <a:prstGeom prst="ellipse">
            <a:avLst/>
          </a:prstGeom>
          <a:solidFill>
            <a:srgbClr val="FF000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\documentclass{article}&#10;\usepackage{amsmath}&#10;\pagestyle{empty}&#10;\begin{document}&#10;&#10;&#10;$$&#10;\mbox{Ridge}: ~~\qquad -2 \, \log \, p(D| {\boldsymbol \beta}) + \lambda \sum_{l: |\beta_l|&gt;0 } |\beta_l|^2 $$&#10;&#10;\end{document}" title="IguanaTex Bitmap Display">
            <a:extLst>
              <a:ext uri="{FF2B5EF4-FFF2-40B4-BE49-F238E27FC236}">
                <a16:creationId xmlns:a16="http://schemas.microsoft.com/office/drawing/2014/main" id="{5B98FC0E-8CD4-4050-A05D-FBA071A87E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420888"/>
            <a:ext cx="4911239" cy="598854"/>
          </a:xfrm>
          <a:prstGeom prst="rect">
            <a:avLst/>
          </a:prstGeom>
        </p:spPr>
      </p:pic>
      <p:pic>
        <p:nvPicPr>
          <p:cNvPr id="4" name="그림 3" descr="\documentclass{article}&#10;\usepackage{amsmath}&#10;\pagestyle{empty}&#10;\begin{document}&#10;&#10;&#10;$$&#10;\mbox{LASSO}: \qquad -2 \, \log \, p(D| {\boldsymbol \beta}) + \lambda \sum_{l: |\beta_l|&gt;0 } |\beta_l |^1&#10;$$&#10;&#10;\end{document}" title="IguanaTex Bitmap Display">
            <a:extLst>
              <a:ext uri="{FF2B5EF4-FFF2-40B4-BE49-F238E27FC236}">
                <a16:creationId xmlns:a16="http://schemas.microsoft.com/office/drawing/2014/main" id="{A0F847FA-CC31-40D0-B2CA-0CFD199DAF7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23" y="3694242"/>
            <a:ext cx="4813716" cy="59885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D74F7F5-923B-466C-9DF4-DC20A7B0737E}"/>
              </a:ext>
            </a:extLst>
          </p:cNvPr>
          <p:cNvSpPr txBox="1"/>
          <p:nvPr/>
        </p:nvSpPr>
        <p:spPr>
          <a:xfrm>
            <a:off x="755576" y="624653"/>
            <a:ext cx="5256584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How to find the best</a:t>
            </a:r>
            <a:r>
              <a:rPr lang="ko-KR" altLang="en-US" sz="2800" dirty="0"/>
              <a:t> </a:t>
            </a:r>
            <a:r>
              <a:rPr lang="en-US" altLang="ko-KR" sz="2800" dirty="0"/>
              <a:t>lambda</a:t>
            </a:r>
            <a:r>
              <a:rPr lang="ko-KR" altLang="en-US" sz="2800" dirty="0"/>
              <a:t> </a:t>
            </a:r>
            <a:r>
              <a:rPr lang="en-US" altLang="ko-KR" sz="2800" dirty="0"/>
              <a:t>?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B8D543D-21CF-4DD9-8E91-50823BA1CC45}"/>
              </a:ext>
            </a:extLst>
          </p:cNvPr>
          <p:cNvSpPr/>
          <p:nvPr/>
        </p:nvSpPr>
        <p:spPr>
          <a:xfrm>
            <a:off x="5004047" y="2420888"/>
            <a:ext cx="288033" cy="306284"/>
          </a:xfrm>
          <a:prstGeom prst="ellipse">
            <a:avLst/>
          </a:prstGeom>
          <a:solidFill>
            <a:srgbClr val="00B05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6BBFDC7-970C-40CB-83E4-D0F78327FD9A}"/>
              </a:ext>
            </a:extLst>
          </p:cNvPr>
          <p:cNvSpPr/>
          <p:nvPr/>
        </p:nvSpPr>
        <p:spPr>
          <a:xfrm>
            <a:off x="4932040" y="3690623"/>
            <a:ext cx="288033" cy="306284"/>
          </a:xfrm>
          <a:prstGeom prst="ellipse">
            <a:avLst/>
          </a:prstGeom>
          <a:solidFill>
            <a:srgbClr val="00B05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592DD0A-F6AB-471E-AEAA-01FCB203F2AA}"/>
              </a:ext>
            </a:extLst>
          </p:cNvPr>
          <p:cNvSpPr/>
          <p:nvPr/>
        </p:nvSpPr>
        <p:spPr>
          <a:xfrm>
            <a:off x="6204635" y="4884864"/>
            <a:ext cx="288033" cy="306284"/>
          </a:xfrm>
          <a:prstGeom prst="ellipse">
            <a:avLst/>
          </a:prstGeom>
          <a:solidFill>
            <a:srgbClr val="FF000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 descr="\documentclass{article}&#10;\usepackage{amsmath}&#10;\pagestyle{empty}&#10;\begin{document}&#10;&#10;&#10;$$&#10;\mbox{AIC}: ~~~\qquad -2 \, \log \, p(D| {\boldsymbol \beta}) + \lambda \sum_{l: |\beta_l|&gt;0 } |\beta_l |^0&#10;$$&#10;&#10;\end{document}" title="IguanaTex Bitmap Display">
            <a:extLst>
              <a:ext uri="{FF2B5EF4-FFF2-40B4-BE49-F238E27FC236}">
                <a16:creationId xmlns:a16="http://schemas.microsoft.com/office/drawing/2014/main" id="{036FD154-FB8F-419E-8C3E-3CEE2BFEC4A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5" y="4967596"/>
            <a:ext cx="4825906" cy="598854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16C3A9EA-4F28-48F4-B895-546F16B72888}"/>
              </a:ext>
            </a:extLst>
          </p:cNvPr>
          <p:cNvSpPr/>
          <p:nvPr/>
        </p:nvSpPr>
        <p:spPr>
          <a:xfrm>
            <a:off x="4940290" y="4986971"/>
            <a:ext cx="288033" cy="306284"/>
          </a:xfrm>
          <a:prstGeom prst="ellipse">
            <a:avLst/>
          </a:prstGeom>
          <a:solidFill>
            <a:srgbClr val="00B05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3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타원 16">
            <a:extLst>
              <a:ext uri="{FF2B5EF4-FFF2-40B4-BE49-F238E27FC236}">
                <a16:creationId xmlns:a16="http://schemas.microsoft.com/office/drawing/2014/main" id="{57E1FE74-625D-40DD-9A6E-95EE50753D6F}"/>
              </a:ext>
            </a:extLst>
          </p:cNvPr>
          <p:cNvSpPr/>
          <p:nvPr/>
        </p:nvSpPr>
        <p:spPr>
          <a:xfrm>
            <a:off x="2401089" y="3537971"/>
            <a:ext cx="936104" cy="357772"/>
          </a:xfrm>
          <a:prstGeom prst="ellipse">
            <a:avLst/>
          </a:prstGeom>
          <a:solidFill>
            <a:srgbClr val="00B05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7F1D36F-4ADA-4C3F-BB7D-881F903A748C}"/>
              </a:ext>
            </a:extLst>
          </p:cNvPr>
          <p:cNvSpPr/>
          <p:nvPr/>
        </p:nvSpPr>
        <p:spPr>
          <a:xfrm>
            <a:off x="4979283" y="5066888"/>
            <a:ext cx="936104" cy="357772"/>
          </a:xfrm>
          <a:prstGeom prst="ellipse">
            <a:avLst/>
          </a:prstGeom>
          <a:solidFill>
            <a:srgbClr val="00B05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F786DF1-4568-4551-B06D-3FB36C03281E}"/>
              </a:ext>
            </a:extLst>
          </p:cNvPr>
          <p:cNvSpPr/>
          <p:nvPr/>
        </p:nvSpPr>
        <p:spPr>
          <a:xfrm>
            <a:off x="5502793" y="5714526"/>
            <a:ext cx="936104" cy="357772"/>
          </a:xfrm>
          <a:prstGeom prst="ellipse">
            <a:avLst/>
          </a:prstGeom>
          <a:solidFill>
            <a:srgbClr val="00B05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\documentclass{article}&#10;\usepackage{amsmath}&#10;\pagestyle{empty}&#10;\begin{document}&#10;&#10;&#10;$$&#10;\mbox{Ridge}: ~~\qquad -2 \, \log \, p(D| {\boldsymbol \beta}) + \lambda \sum_l |\beta_l|^2 $$&#10;&#10;\end{document}" title="IguanaTex Bitmap Display">
            <a:extLst>
              <a:ext uri="{FF2B5EF4-FFF2-40B4-BE49-F238E27FC236}">
                <a16:creationId xmlns:a16="http://schemas.microsoft.com/office/drawing/2014/main" id="{76A04904-3827-451C-B1D8-A4E1E02CEC3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044" y="1986572"/>
            <a:ext cx="4588191" cy="54704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D74F7F5-923B-466C-9DF4-DC20A7B0737E}"/>
              </a:ext>
            </a:extLst>
          </p:cNvPr>
          <p:cNvSpPr txBox="1"/>
          <p:nvPr/>
        </p:nvSpPr>
        <p:spPr>
          <a:xfrm>
            <a:off x="755576" y="624653"/>
            <a:ext cx="5256584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AIC/BIC for</a:t>
            </a:r>
            <a:r>
              <a:rPr lang="ko-KR" altLang="en-US" sz="2800" dirty="0"/>
              <a:t> </a:t>
            </a:r>
            <a:r>
              <a:rPr lang="en-US" altLang="ko-KR" sz="2800" dirty="0"/>
              <a:t>Ridge &amp; LASSO</a:t>
            </a:r>
          </a:p>
        </p:txBody>
      </p:sp>
      <p:pic>
        <p:nvPicPr>
          <p:cNvPr id="4" name="그림 3" descr="\documentclass{article}&#10;\usepackage{amsmath}&#10;\pagestyle{empty}&#10;\begin{document}&#10;&#10;&#10;$$&#10;\mbox{AIC}: \qquad \quad ~ -2 \, \log \, p(D| \hat{\boldsymbol \beta}) + 2 \cdot df( M_\lambda )&#10;$$&#10;&#10;\end{document}" title="IguanaTex Bitmap Display">
            <a:extLst>
              <a:ext uri="{FF2B5EF4-FFF2-40B4-BE49-F238E27FC236}">
                <a16:creationId xmlns:a16="http://schemas.microsoft.com/office/drawing/2014/main" id="{C09EBC50-FC07-4344-8F27-BAF3FEC4130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51" y="5073276"/>
            <a:ext cx="4635433" cy="306284"/>
          </a:xfrm>
          <a:prstGeom prst="rect">
            <a:avLst/>
          </a:prstGeom>
        </p:spPr>
      </p:pic>
      <p:pic>
        <p:nvPicPr>
          <p:cNvPr id="27" name="그림 26" descr="\documentclass{article}&#10;\usepackage{amsmath}&#10;\pagestyle{empty}&#10;\begin{document}&#10;&#10;&#10;$$&#10;df(M_\lambda) = tr( (X'X +\lambda I)^{-1} X'X ) &#10;$$&#10;&#10;\end{document}" title="IguanaTex Bitmap Display">
            <a:extLst>
              <a:ext uri="{FF2B5EF4-FFF2-40B4-BE49-F238E27FC236}">
                <a16:creationId xmlns:a16="http://schemas.microsoft.com/office/drawing/2014/main" id="{F327F7C7-E2DD-4555-B2C6-C59571F55A1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097" y="3562594"/>
            <a:ext cx="3643427" cy="286475"/>
          </a:xfrm>
          <a:prstGeom prst="rect">
            <a:avLst/>
          </a:prstGeom>
        </p:spPr>
      </p:pic>
      <p:pic>
        <p:nvPicPr>
          <p:cNvPr id="6" name="그림 5" descr="\documentclass{article}&#10;\usepackage{amsmath}&#10;\pagestyle{empty}&#10;\begin{document}&#10;&#10;&#10;$$&#10;\mbox{BIC}: \qquad \quad ~ -2 \, \log \, p(D| \hat{\boldsymbol \beta}) + \log(n) \cdot df( M_\lambda )&#10;$$&#10;&#10;\end{document}" title="IguanaTex Bitmap Display">
            <a:extLst>
              <a:ext uri="{FF2B5EF4-FFF2-40B4-BE49-F238E27FC236}">
                <a16:creationId xmlns:a16="http://schemas.microsoft.com/office/drawing/2014/main" id="{795DAB3A-BC96-4BC6-8A03-E7105E3CCD4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51" y="5734830"/>
            <a:ext cx="5174860" cy="306284"/>
          </a:xfrm>
          <a:prstGeom prst="rect">
            <a:avLst/>
          </a:prstGeom>
        </p:spPr>
      </p:pic>
      <p:pic>
        <p:nvPicPr>
          <p:cNvPr id="8" name="그림 7" descr="\documentclass{article}&#10;\usepackage{amsmath}&#10;\pagestyle{empty}&#10;\begin{document}&#10;&#10;&#10;$$&#10;\mbox{LASSO}: \qquad -2 \, \log \, p(D| {\boldsymbol \beta}) + \lambda \sum_l |\beta_l|^1 $$&#10;&#10;\end{document}" title="IguanaTex Bitmap Display">
            <a:extLst>
              <a:ext uri="{FF2B5EF4-FFF2-40B4-BE49-F238E27FC236}">
                <a16:creationId xmlns:a16="http://schemas.microsoft.com/office/drawing/2014/main" id="{83228489-12AB-4D59-B586-F1A5905337C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51" y="2741381"/>
            <a:ext cx="4490665" cy="547045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3E62BDB8-736D-470F-AC9D-EE09B02768E7}"/>
              </a:ext>
            </a:extLst>
          </p:cNvPr>
          <p:cNvSpPr/>
          <p:nvPr/>
        </p:nvSpPr>
        <p:spPr>
          <a:xfrm>
            <a:off x="2411760" y="4140703"/>
            <a:ext cx="936104" cy="357772"/>
          </a:xfrm>
          <a:prstGeom prst="ellipse">
            <a:avLst/>
          </a:prstGeom>
          <a:solidFill>
            <a:srgbClr val="00B05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\documentclass{article}&#10;\usepackage{amsmath}&#10;\pagestyle{empty}&#10;\begin{document}&#10;&#10;&#10;$$&#10;df(M_\lambda) = \mbox{the numer of nonzero elements of $\hat{\beta}_\lambda$s }&#10;$$&#10;&#10;\end{document}" title="IguanaTex Bitmap Display">
            <a:extLst>
              <a:ext uri="{FF2B5EF4-FFF2-40B4-BE49-F238E27FC236}">
                <a16:creationId xmlns:a16="http://schemas.microsoft.com/office/drawing/2014/main" id="{9D952F30-8C3B-48A0-B7C8-E8FD7C0C03D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4165325"/>
            <a:ext cx="5279996" cy="30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37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3C72D6F-2A18-4C07-B0EA-5DBF7262E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16632"/>
            <a:ext cx="4670616" cy="66528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1CC659-C439-4B8F-B091-6246F4486E16}"/>
              </a:ext>
            </a:extLst>
          </p:cNvPr>
          <p:cNvSpPr txBox="1"/>
          <p:nvPr/>
        </p:nvSpPr>
        <p:spPr>
          <a:xfrm>
            <a:off x="5475380" y="188640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1996, JRSS-B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0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7CA30C9-8C3F-46A1-B5EB-485900CD6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3" y="620688"/>
            <a:ext cx="3729107" cy="571980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9110123-3ED2-464A-A226-6B8B4B5D7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620688"/>
            <a:ext cx="3819389" cy="571980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7850B1-50D9-4D07-9410-DEB118E27CFA}"/>
              </a:ext>
            </a:extLst>
          </p:cNvPr>
          <p:cNvSpPr txBox="1"/>
          <p:nvPr/>
        </p:nvSpPr>
        <p:spPr>
          <a:xfrm>
            <a:off x="3190767" y="669977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2007, AS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B1C2E-F396-4435-812C-5C9DD6103E99}"/>
              </a:ext>
            </a:extLst>
          </p:cNvPr>
          <p:cNvSpPr txBox="1"/>
          <p:nvPr/>
        </p:nvSpPr>
        <p:spPr>
          <a:xfrm>
            <a:off x="7095245" y="702126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2012, AS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58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6ADDF8-F2E1-4490-9DBF-66C978579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548680"/>
            <a:ext cx="4274587" cy="583264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7075EB-7E37-4737-B843-53AA642912BA}"/>
              </a:ext>
            </a:extLst>
          </p:cNvPr>
          <p:cNvSpPr txBox="1"/>
          <p:nvPr/>
        </p:nvSpPr>
        <p:spPr>
          <a:xfrm>
            <a:off x="4932040" y="2060848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2002, JRSS-B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12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\documentclass{article}&#10;\usepackage{amsmath}&#10;\pagestyle{empty}&#10;\begin{document}&#10;&#10;&#10;$$&#10; -2 \, \log \, p(D| {\boldsymbol \beta}) \,\,- \frac{n}{2} \, \log(2 \pi \sigma^2 ) ~~=~~ \frac1{\sigma^2} \sum_i^n  (y_i - \mu_i )^2 ~~~\sim ~~~\chi^2(n)&#10;$$&#10;&#10;\end{document}" title="IguanaTex Bitmap Display">
            <a:extLst>
              <a:ext uri="{FF2B5EF4-FFF2-40B4-BE49-F238E27FC236}">
                <a16:creationId xmlns:a16="http://schemas.microsoft.com/office/drawing/2014/main" id="{2330B932-9F2E-4F8C-8494-A1FD2D3AB7B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980728"/>
            <a:ext cx="6533485" cy="624000"/>
          </a:xfrm>
          <a:prstGeom prst="rect">
            <a:avLst/>
          </a:prstGeom>
        </p:spPr>
      </p:pic>
      <p:pic>
        <p:nvPicPr>
          <p:cNvPr id="20" name="그림 19" descr="\documentclass{article}&#10;\usepackage{amsmath}&#10;\pagestyle{empty}&#10;\begin{document}&#10;&#10;&#10;$$&#10; -2 \, \log \, p(D| \hat{\boldsymbol \beta}) \,\,- \frac{n}{2} \, \log(2 \pi \sigma^2 ) ~~=~~ \frac1{\sigma^2} \sum_i^n  (y_i - \hat{\mu}_i )^2 ~~~\sim ~~~\chi^2(n-p-1)&#10;$$&#10;&#10;\end{document}" title="IguanaTex Bitmap Display">
            <a:extLst>
              <a:ext uri="{FF2B5EF4-FFF2-40B4-BE49-F238E27FC236}">
                <a16:creationId xmlns:a16="http://schemas.microsoft.com/office/drawing/2014/main" id="{202CC4DE-F6CA-4979-AEC3-6C1FA960B3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71" y="1988840"/>
            <a:ext cx="7317942" cy="624000"/>
          </a:xfrm>
          <a:prstGeom prst="rect">
            <a:avLst/>
          </a:prstGeom>
        </p:spPr>
      </p:pic>
      <p:pic>
        <p:nvPicPr>
          <p:cNvPr id="31" name="그림 30" descr="\documentclass{article}&#10;\usepackage{amsmath}&#10;\pagestyle{empty}&#10;\begin{document}&#10;&#10;&#10;$$&#10;D({\boldsymbol \beta}) ~= ~ \left \{ -2 \, \log \, p(D| {\boldsymbol \beta}) \right \} &#10;\,\,- \,\, &#10;\left \{ -2 \, \log \, p(D | {\boldsymbol y} ) \right \}&#10;$$&#10;&#10;\end{document}" title="IguanaTex Bitmap Display">
            <a:extLst>
              <a:ext uri="{FF2B5EF4-FFF2-40B4-BE49-F238E27FC236}">
                <a16:creationId xmlns:a16="http://schemas.microsoft.com/office/drawing/2014/main" id="{FF83A762-707A-4261-AC9C-79C45139D8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28" y="3610628"/>
            <a:ext cx="4757486" cy="229028"/>
          </a:xfrm>
          <a:prstGeom prst="rect">
            <a:avLst/>
          </a:prstGeom>
        </p:spPr>
      </p:pic>
      <p:pic>
        <p:nvPicPr>
          <p:cNvPr id="50" name="그림 49" descr="\documentclass{article}&#10;\usepackage{amsmath}&#10;\pagestyle{empty}&#10;\begin{document}&#10;&#10;&#10;$$&#10;df(M) ~=~ E[ D({\boldsymbol \beta}) ] ~-~&#10;E[ D(\hat{\boldsymbol \beta}) ] ~=~ (p+1)&#10;$$&#10;&#10;\end{document}" title="IguanaTex Bitmap Display">
            <a:extLst>
              <a:ext uri="{FF2B5EF4-FFF2-40B4-BE49-F238E27FC236}">
                <a16:creationId xmlns:a16="http://schemas.microsoft.com/office/drawing/2014/main" id="{DF525617-0267-495E-92B8-1A4D6D8A72E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28" y="4386605"/>
            <a:ext cx="4307657" cy="275657"/>
          </a:xfrm>
          <a:prstGeom prst="rect">
            <a:avLst/>
          </a:prstGeom>
        </p:spPr>
      </p:pic>
      <p:pic>
        <p:nvPicPr>
          <p:cNvPr id="48" name="그림 47" descr="\documentclass{article}&#10;\usepackage{amsmath,mathabx}&#10;\pagestyle{empty}&#10;\begin{document}&#10;&#10;&#10;$$&#10;df(M) ~\simeq~ \widebar{D({\boldsymbol \beta}) } ~-~&#10; D(\bar{\boldsymbol \beta}) ~=~p_D&#10;$$&#10;&#10;\end{document}" title="IguanaTex Bitmap Display">
            <a:extLst>
              <a:ext uri="{FF2B5EF4-FFF2-40B4-BE49-F238E27FC236}">
                <a16:creationId xmlns:a16="http://schemas.microsoft.com/office/drawing/2014/main" id="{30ACA5FD-9E68-483F-8A5C-93976C982E5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28" y="5169798"/>
            <a:ext cx="3288688" cy="268799"/>
          </a:xfrm>
          <a:prstGeom prst="rect">
            <a:avLst/>
          </a:prstGeom>
        </p:spPr>
      </p:pic>
      <p:pic>
        <p:nvPicPr>
          <p:cNvPr id="57" name="그림 56" descr="\documentclass{article}&#10;\usepackage{amsmath,mathabx}&#10;\pagestyle{empty}&#10;\begin{document}&#10;&#10;&#10;$$&#10;\mbox{ DIC }~~=~~ D( \bar{\boldsymbol \beta}) + 2 p_D&#10;$$&#10;&#10;\end{document}" title="IguanaTex Bitmap Display">
            <a:extLst>
              <a:ext uri="{FF2B5EF4-FFF2-40B4-BE49-F238E27FC236}">
                <a16:creationId xmlns:a16="http://schemas.microsoft.com/office/drawing/2014/main" id="{141F0FBF-8A95-4B77-9803-CA74B738A79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28" y="5946133"/>
            <a:ext cx="2276572" cy="252342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C954F3B8-AAE8-4868-807C-18EC7638C8F5}"/>
              </a:ext>
            </a:extLst>
          </p:cNvPr>
          <p:cNvSpPr txBox="1"/>
          <p:nvPr/>
        </p:nvSpPr>
        <p:spPr>
          <a:xfrm>
            <a:off x="6156176" y="3540476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deviance</a:t>
            </a:r>
            <a:r>
              <a:rPr lang="en-US" altLang="ko-KR" dirty="0"/>
              <a:t>,  </a:t>
            </a:r>
            <a:r>
              <a:rPr lang="ko-KR" altLang="en-US" dirty="0">
                <a:solidFill>
                  <a:srgbClr val="00B050"/>
                </a:solidFill>
              </a:rPr>
              <a:t>이탈도</a:t>
            </a:r>
          </a:p>
        </p:txBody>
      </p:sp>
    </p:spTree>
    <p:extLst>
      <p:ext uri="{BB962C8B-B14F-4D97-AF65-F5344CB8AC3E}">
        <p14:creationId xmlns:p14="http://schemas.microsoft.com/office/powerpoint/2010/main" val="1690494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9D08611-A841-4373-A2BF-BB5DB0A5F90E}"/>
              </a:ext>
            </a:extLst>
          </p:cNvPr>
          <p:cNvSpPr txBox="1"/>
          <p:nvPr/>
        </p:nvSpPr>
        <p:spPr>
          <a:xfrm>
            <a:off x="1043608" y="1628800"/>
            <a:ext cx="3626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Resampling Methods</a:t>
            </a:r>
            <a:endParaRPr lang="ko-KR" alt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7F510-4AF2-46BE-9A71-24BB75ACB3EE}"/>
              </a:ext>
            </a:extLst>
          </p:cNvPr>
          <p:cNvSpPr txBox="1"/>
          <p:nvPr/>
        </p:nvSpPr>
        <p:spPr>
          <a:xfrm>
            <a:off x="1619672" y="2409480"/>
            <a:ext cx="6264696" cy="292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Jackknife, PRESS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Cross Validation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</a:t>
            </a:r>
            <a:r>
              <a:rPr lang="en-US" altLang="ko-KR" sz="2400" b="1" dirty="0"/>
              <a:t>Bootstrap</a:t>
            </a:r>
            <a:endParaRPr lang="en-US" altLang="ko-KR" sz="24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Bagging</a:t>
            </a:r>
          </a:p>
        </p:txBody>
      </p:sp>
    </p:spTree>
    <p:extLst>
      <p:ext uri="{BB962C8B-B14F-4D97-AF65-F5344CB8AC3E}">
        <p14:creationId xmlns:p14="http://schemas.microsoft.com/office/powerpoint/2010/main" val="215702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Jackknife Estimator</a:t>
            </a:r>
          </a:p>
        </p:txBody>
      </p:sp>
      <p:pic>
        <p:nvPicPr>
          <p:cNvPr id="15" name="그림 14" descr="\documentclass{article}&#10;\usepackage{amsmath}&#10;\usepackage[utf8]{inputenc}&#10;\usepackage{kotex}&#10;\pagestyle{empty}&#10;\newcommand\bs{\boldsymbol}&#10;\begin{document}&#10;&#10;$$&#10;{\widehat{SSE}}^*({\hat {\bs \mu}})  =  &#10;\sum_{i=1}^n (y_i - {\hat \mu}_{i,(-i)} )^2 $$&#10;&#10;&#10;\end{document}" title="IguanaTex Bitmap Display">
            <a:extLst>
              <a:ext uri="{FF2B5EF4-FFF2-40B4-BE49-F238E27FC236}">
                <a16:creationId xmlns:a16="http://schemas.microsoft.com/office/drawing/2014/main" id="{927BEBE5-910D-48D2-A91E-CEC0047C39B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903" y="3531141"/>
            <a:ext cx="3212193" cy="693333"/>
          </a:xfrm>
          <a:prstGeom prst="rect">
            <a:avLst/>
          </a:prstGeom>
        </p:spPr>
      </p:pic>
      <p:pic>
        <p:nvPicPr>
          <p:cNvPr id="6" name="그림 5" descr="\documentclass{article}&#10;\usepackage{amsmath}&#10;\usepackage[utf8]{inputenc}&#10;\usepackage{kotex}&#10;\newcommand\bs{\boldsymbol}&#10;\pagestyle{empty}&#10;\begin{document}&#10;&#10;$$&#10;D_{(-i)} = \{ (y_j , {\bs x}_j ) \, |  \, j \not = i ,\,\, j =1, \ldots, n \}&#10;$$&#10;&#10;&#10;\end{document}" title="IguanaTex Bitmap Display">
            <a:extLst>
              <a:ext uri="{FF2B5EF4-FFF2-40B4-BE49-F238E27FC236}">
                <a16:creationId xmlns:a16="http://schemas.microsoft.com/office/drawing/2014/main" id="{10235EEF-21D5-4246-B5BA-7C75FD88E5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903" y="2517535"/>
            <a:ext cx="4176762" cy="280381"/>
          </a:xfrm>
          <a:prstGeom prst="rect">
            <a:avLst/>
          </a:prstGeom>
        </p:spPr>
      </p:pic>
      <p:pic>
        <p:nvPicPr>
          <p:cNvPr id="17" name="그림 16" descr="\documentclass{article}&#10;\usepackage{amsmath}&#10;\usepackage[utf8]{inputenc}&#10;\usepackage{kotex}&#10;\newcommand\bs{\boldsymbol}&#10;\pagestyle{empty}&#10;\begin{document}&#10;&#10;$$&#10;{\hat {\bs \mu}}_{(-i)} = {\hat {\bs \mu}}(D_{(-i)})&#10;$$&#10;&#10;&#10;\end{document}" title="IguanaTex Bitmap Display">
            <a:extLst>
              <a:ext uri="{FF2B5EF4-FFF2-40B4-BE49-F238E27FC236}">
                <a16:creationId xmlns:a16="http://schemas.microsoft.com/office/drawing/2014/main" id="{3B98A033-FCB5-4F81-9E15-67F503B71E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2500773"/>
            <a:ext cx="1868190" cy="297143"/>
          </a:xfrm>
          <a:prstGeom prst="rect">
            <a:avLst/>
          </a:prstGeom>
        </p:spPr>
      </p:pic>
      <p:pic>
        <p:nvPicPr>
          <p:cNvPr id="14" name="그림 13" descr="\documentclass{article}&#10;\usepackage{amsmath}&#10;\pagestyle{empty}&#10;\begin{document}&#10;&#10;&#10;$$&#10;\widehat{-2 \log p(D^* | \hat{\boldsymbol \theta})}&#10;~=~ \sum_{i=1}^n&#10;-2 \log \, p( y_i | \hat{\boldsymbol \theta}_{(-i)})&#10;$$&#10;&#10;\end{document}" title="IguanaTex Bitmap Display">
            <a:extLst>
              <a:ext uri="{FF2B5EF4-FFF2-40B4-BE49-F238E27FC236}">
                <a16:creationId xmlns:a16="http://schemas.microsoft.com/office/drawing/2014/main" id="{E21A5E2C-2B78-4305-AF8B-AF97E541956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903" y="4797152"/>
            <a:ext cx="4452573" cy="69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81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DFB531-E65E-4F9E-BA59-5E56941B3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18" y="548680"/>
            <a:ext cx="4330111" cy="57718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65CC445-C80C-402F-A193-E6DD265CD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117" y="548680"/>
            <a:ext cx="4058355" cy="2747118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FF68D2-1015-4C49-BBBB-1F111C247963}"/>
              </a:ext>
            </a:extLst>
          </p:cNvPr>
          <p:cNvSpPr txBox="1"/>
          <p:nvPr/>
        </p:nvSpPr>
        <p:spPr>
          <a:xfrm>
            <a:off x="3364649" y="579288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1949, AMS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F4A10-8ED5-4A63-AA8B-1E6956205B6E}"/>
              </a:ext>
            </a:extLst>
          </p:cNvPr>
          <p:cNvSpPr txBox="1"/>
          <p:nvPr/>
        </p:nvSpPr>
        <p:spPr>
          <a:xfrm>
            <a:off x="7478572" y="548680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1958, AMS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606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1E8E82-1214-4B99-81EF-E2B01B12A00E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m-folding</a:t>
            </a:r>
            <a:r>
              <a:rPr lang="ko-KR" altLang="en-US" sz="2800" dirty="0"/>
              <a:t> </a:t>
            </a:r>
            <a:r>
              <a:rPr lang="en-US" altLang="ko-KR" sz="2800" dirty="0"/>
              <a:t>cross validation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A0E80D7-9196-451D-A05C-7D24316C8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524687"/>
              </p:ext>
            </p:extLst>
          </p:nvPr>
        </p:nvGraphicFramePr>
        <p:xfrm>
          <a:off x="1187624" y="2852936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0694238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311281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844152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770047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91951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5826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C44C49F-7524-42FF-91E2-ECFE6391C3D5}"/>
              </a:ext>
            </a:extLst>
          </p:cNvPr>
          <p:cNvSpPr txBox="1"/>
          <p:nvPr/>
        </p:nvSpPr>
        <p:spPr>
          <a:xfrm>
            <a:off x="1043608" y="2060848"/>
            <a:ext cx="360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Training</a:t>
            </a:r>
            <a:r>
              <a:rPr lang="ko-KR" altLang="en-US" dirty="0"/>
              <a:t> </a:t>
            </a:r>
            <a:r>
              <a:rPr lang="en-US" altLang="ko-KR" dirty="0"/>
              <a:t>data &amp; Validation data :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948BFCA-BD1D-49E1-A433-82BDC2283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771147"/>
              </p:ext>
            </p:extLst>
          </p:nvPr>
        </p:nvGraphicFramePr>
        <p:xfrm>
          <a:off x="6064424" y="2857250"/>
          <a:ext cx="1219200" cy="3657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491951019"/>
                    </a:ext>
                  </a:extLst>
                </a:gridCol>
              </a:tblGrid>
              <a:tr h="2017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8264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5C5DA95-5FD4-4DDC-8DE1-E299CBAA8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932872"/>
              </p:ext>
            </p:extLst>
          </p:nvPr>
        </p:nvGraphicFramePr>
        <p:xfrm>
          <a:off x="1187586" y="3340985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0694238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311281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844152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770047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91951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58264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FE51E8B-D71A-4D8E-AD72-603B718CA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736204"/>
              </p:ext>
            </p:extLst>
          </p:nvPr>
        </p:nvGraphicFramePr>
        <p:xfrm>
          <a:off x="1183006" y="3855933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0694238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311281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844152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770047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91951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582641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B1403B0-21AB-40E8-B6FC-C48270469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9903"/>
              </p:ext>
            </p:extLst>
          </p:nvPr>
        </p:nvGraphicFramePr>
        <p:xfrm>
          <a:off x="1177535" y="4369009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0694238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311281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844152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770047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91951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58264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71B1DCE-84AC-429C-8E3E-0B7502ED3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779401"/>
              </p:ext>
            </p:extLst>
          </p:nvPr>
        </p:nvGraphicFramePr>
        <p:xfrm>
          <a:off x="1177535" y="4863953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0694238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3112818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844152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7700473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91951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582641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996E2593-0700-4FD1-ACF6-FBB53DAB643E}"/>
              </a:ext>
            </a:extLst>
          </p:cNvPr>
          <p:cNvGrpSpPr/>
          <p:nvPr/>
        </p:nvGrpSpPr>
        <p:grpSpPr>
          <a:xfrm>
            <a:off x="6054870" y="2893637"/>
            <a:ext cx="1224136" cy="276999"/>
            <a:chOff x="5940152" y="1299527"/>
            <a:chExt cx="1224136" cy="276999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C1B1D9F-DFDA-41EF-804A-D9C4ADEACDCB}"/>
                </a:ext>
              </a:extLst>
            </p:cNvPr>
            <p:cNvSpPr/>
            <p:nvPr/>
          </p:nvSpPr>
          <p:spPr>
            <a:xfrm>
              <a:off x="5970228" y="1355322"/>
              <a:ext cx="1194060" cy="1918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24152B7-D0D1-41FB-84CD-19CF28BDE87F}"/>
                </a:ext>
              </a:extLst>
            </p:cNvPr>
            <p:cNvSpPr/>
            <p:nvPr/>
          </p:nvSpPr>
          <p:spPr>
            <a:xfrm>
              <a:off x="5940152" y="1299527"/>
              <a:ext cx="12241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3300"/>
                  </a:solidFill>
                </a:rPr>
                <a:t>validation data</a:t>
              </a:r>
              <a:endParaRPr lang="ko-KR" altLang="en-US" sz="1200" dirty="0">
                <a:solidFill>
                  <a:srgbClr val="FF3300"/>
                </a:solidFill>
              </a:endParaRPr>
            </a:p>
          </p:txBody>
        </p:sp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7E2C781D-48F2-4C0C-AD6B-A801D9A01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429770"/>
              </p:ext>
            </p:extLst>
          </p:nvPr>
        </p:nvGraphicFramePr>
        <p:xfrm>
          <a:off x="4845947" y="3344925"/>
          <a:ext cx="1219200" cy="3657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491951019"/>
                    </a:ext>
                  </a:extLst>
                </a:gridCol>
              </a:tblGrid>
              <a:tr h="2017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82641"/>
                  </a:ext>
                </a:extLst>
              </a:tr>
            </a:tbl>
          </a:graphicData>
        </a:graphic>
      </p:graphicFrame>
      <p:grpSp>
        <p:nvGrpSpPr>
          <p:cNvPr id="28" name="그룹 27">
            <a:extLst>
              <a:ext uri="{FF2B5EF4-FFF2-40B4-BE49-F238E27FC236}">
                <a16:creationId xmlns:a16="http://schemas.microsoft.com/office/drawing/2014/main" id="{8F6D4F5C-8C4E-4CA3-976A-3A14973F704C}"/>
              </a:ext>
            </a:extLst>
          </p:cNvPr>
          <p:cNvGrpSpPr/>
          <p:nvPr/>
        </p:nvGrpSpPr>
        <p:grpSpPr>
          <a:xfrm>
            <a:off x="4836393" y="3381312"/>
            <a:ext cx="1224136" cy="276999"/>
            <a:chOff x="5940152" y="1299527"/>
            <a:chExt cx="1224136" cy="276999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46B9B67-F1CE-41FF-9BB4-E06C7F888956}"/>
                </a:ext>
              </a:extLst>
            </p:cNvPr>
            <p:cNvSpPr/>
            <p:nvPr/>
          </p:nvSpPr>
          <p:spPr>
            <a:xfrm>
              <a:off x="5970228" y="1355322"/>
              <a:ext cx="1194060" cy="1918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574A331-0F27-4AAB-8073-0FCDADA29AD5}"/>
                </a:ext>
              </a:extLst>
            </p:cNvPr>
            <p:cNvSpPr/>
            <p:nvPr/>
          </p:nvSpPr>
          <p:spPr>
            <a:xfrm>
              <a:off x="5940152" y="1299527"/>
              <a:ext cx="12241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3300"/>
                  </a:solidFill>
                </a:rPr>
                <a:t>validation data</a:t>
              </a:r>
              <a:endParaRPr lang="ko-KR" altLang="en-US" sz="1200" dirty="0">
                <a:solidFill>
                  <a:srgbClr val="FF3300"/>
                </a:solidFill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797E138F-DB7F-4E5E-B405-B5BA27267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947294"/>
              </p:ext>
            </p:extLst>
          </p:nvPr>
        </p:nvGraphicFramePr>
        <p:xfrm>
          <a:off x="3621404" y="3860673"/>
          <a:ext cx="1219200" cy="3657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491951019"/>
                    </a:ext>
                  </a:extLst>
                </a:gridCol>
              </a:tblGrid>
              <a:tr h="2017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82641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0232024D-9745-4B25-AFAA-63A7E8AAB4AE}"/>
              </a:ext>
            </a:extLst>
          </p:cNvPr>
          <p:cNvGrpSpPr/>
          <p:nvPr/>
        </p:nvGrpSpPr>
        <p:grpSpPr>
          <a:xfrm>
            <a:off x="3611850" y="3897060"/>
            <a:ext cx="1224136" cy="276999"/>
            <a:chOff x="5940152" y="1299527"/>
            <a:chExt cx="1224136" cy="276999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52BC97E-0C43-4B2F-AF6D-894BA124070E}"/>
                </a:ext>
              </a:extLst>
            </p:cNvPr>
            <p:cNvSpPr/>
            <p:nvPr/>
          </p:nvSpPr>
          <p:spPr>
            <a:xfrm>
              <a:off x="5970228" y="1355322"/>
              <a:ext cx="1194060" cy="1918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17EB14F-D381-4A7F-AB68-9411C66EC45B}"/>
                </a:ext>
              </a:extLst>
            </p:cNvPr>
            <p:cNvSpPr/>
            <p:nvPr/>
          </p:nvSpPr>
          <p:spPr>
            <a:xfrm>
              <a:off x="5940152" y="1299527"/>
              <a:ext cx="12241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3300"/>
                  </a:solidFill>
                </a:rPr>
                <a:t>validation data</a:t>
              </a:r>
              <a:endParaRPr lang="ko-KR" altLang="en-US" sz="1200" dirty="0">
                <a:solidFill>
                  <a:srgbClr val="FF3300"/>
                </a:solidFill>
              </a:endParaRPr>
            </a:p>
          </p:txBody>
        </p:sp>
      </p:grp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DC3D602-F33A-4171-AE02-D4D4AED84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459202"/>
              </p:ext>
            </p:extLst>
          </p:nvPr>
        </p:nvGraphicFramePr>
        <p:xfrm>
          <a:off x="2397586" y="4374089"/>
          <a:ext cx="1219200" cy="3657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491951019"/>
                    </a:ext>
                  </a:extLst>
                </a:gridCol>
              </a:tblGrid>
              <a:tr h="2017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82641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82801385-5121-46B5-BA5F-E85263FDC74A}"/>
              </a:ext>
            </a:extLst>
          </p:cNvPr>
          <p:cNvGrpSpPr/>
          <p:nvPr/>
        </p:nvGrpSpPr>
        <p:grpSpPr>
          <a:xfrm>
            <a:off x="2388032" y="4410476"/>
            <a:ext cx="1224136" cy="276999"/>
            <a:chOff x="5940152" y="1299527"/>
            <a:chExt cx="1224136" cy="276999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6A1290E-5121-4BED-85A8-3B052E8BDDB6}"/>
                </a:ext>
              </a:extLst>
            </p:cNvPr>
            <p:cNvSpPr/>
            <p:nvPr/>
          </p:nvSpPr>
          <p:spPr>
            <a:xfrm>
              <a:off x="5970228" y="1355322"/>
              <a:ext cx="1194060" cy="1918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FDB1FB9-5837-4029-B275-78177A64C314}"/>
                </a:ext>
              </a:extLst>
            </p:cNvPr>
            <p:cNvSpPr/>
            <p:nvPr/>
          </p:nvSpPr>
          <p:spPr>
            <a:xfrm>
              <a:off x="5940152" y="1299527"/>
              <a:ext cx="12241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3300"/>
                  </a:solidFill>
                </a:rPr>
                <a:t>validation data</a:t>
              </a:r>
              <a:endParaRPr lang="ko-KR" altLang="en-US" sz="1200" dirty="0">
                <a:solidFill>
                  <a:srgbClr val="FF3300"/>
                </a:solidFill>
              </a:endParaRPr>
            </a:p>
          </p:txBody>
        </p:sp>
      </p:grp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938FBBFB-9241-4859-B1D5-531E95155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656954"/>
              </p:ext>
            </p:extLst>
          </p:nvPr>
        </p:nvGraphicFramePr>
        <p:xfrm>
          <a:off x="1178029" y="4863953"/>
          <a:ext cx="1219200" cy="3657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491951019"/>
                    </a:ext>
                  </a:extLst>
                </a:gridCol>
              </a:tblGrid>
              <a:tr h="2017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82641"/>
                  </a:ext>
                </a:extLst>
              </a:tr>
            </a:tbl>
          </a:graphicData>
        </a:graphic>
      </p:graphicFrame>
      <p:grpSp>
        <p:nvGrpSpPr>
          <p:cNvPr id="43" name="그룹 42">
            <a:extLst>
              <a:ext uri="{FF2B5EF4-FFF2-40B4-BE49-F238E27FC236}">
                <a16:creationId xmlns:a16="http://schemas.microsoft.com/office/drawing/2014/main" id="{99E07C2E-6856-4ACA-B761-C8AF76646BCE}"/>
              </a:ext>
            </a:extLst>
          </p:cNvPr>
          <p:cNvGrpSpPr/>
          <p:nvPr/>
        </p:nvGrpSpPr>
        <p:grpSpPr>
          <a:xfrm>
            <a:off x="1168475" y="4900340"/>
            <a:ext cx="1224136" cy="276999"/>
            <a:chOff x="5940152" y="1299527"/>
            <a:chExt cx="1224136" cy="276999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998D7D8-F22B-4A56-A750-04F44952259B}"/>
                </a:ext>
              </a:extLst>
            </p:cNvPr>
            <p:cNvSpPr/>
            <p:nvPr/>
          </p:nvSpPr>
          <p:spPr>
            <a:xfrm>
              <a:off x="5970228" y="1355322"/>
              <a:ext cx="1194060" cy="1918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360FBFD9-6BF4-40C2-87DE-1013D89B0E1E}"/>
                </a:ext>
              </a:extLst>
            </p:cNvPr>
            <p:cNvSpPr/>
            <p:nvPr/>
          </p:nvSpPr>
          <p:spPr>
            <a:xfrm>
              <a:off x="5940152" y="1299527"/>
              <a:ext cx="12241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FF3300"/>
                  </a:solidFill>
                </a:rPr>
                <a:t>validation data</a:t>
              </a:r>
              <a:endParaRPr lang="ko-KR" altLang="en-US" sz="1200" dirty="0">
                <a:solidFill>
                  <a:srgbClr val="FF3300"/>
                </a:solidFill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CA7CCAD-EA19-4DF9-B16B-CDA5A52D5D88}"/>
              </a:ext>
            </a:extLst>
          </p:cNvPr>
          <p:cNvSpPr/>
          <p:nvPr/>
        </p:nvSpPr>
        <p:spPr>
          <a:xfrm>
            <a:off x="1475656" y="3423725"/>
            <a:ext cx="3168351" cy="1918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029A442-E2B9-4B74-ABF8-BECB9553044D}"/>
              </a:ext>
            </a:extLst>
          </p:cNvPr>
          <p:cNvSpPr/>
          <p:nvPr/>
        </p:nvSpPr>
        <p:spPr>
          <a:xfrm>
            <a:off x="1923747" y="3380034"/>
            <a:ext cx="1506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FF3300"/>
                </a:solidFill>
              </a:rPr>
              <a:t>fitting data</a:t>
            </a:r>
            <a:endParaRPr lang="ko-KR" altLang="en-US" sz="1200" dirty="0">
              <a:solidFill>
                <a:srgbClr val="FF33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A232FD6-E012-416D-85C5-03A3F88996A3}"/>
              </a:ext>
            </a:extLst>
          </p:cNvPr>
          <p:cNvSpPr/>
          <p:nvPr/>
        </p:nvSpPr>
        <p:spPr>
          <a:xfrm>
            <a:off x="1475656" y="2953749"/>
            <a:ext cx="4320480" cy="1918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8A92491-7206-41C5-B161-64385D2178AF}"/>
              </a:ext>
            </a:extLst>
          </p:cNvPr>
          <p:cNvSpPr/>
          <p:nvPr/>
        </p:nvSpPr>
        <p:spPr>
          <a:xfrm>
            <a:off x="1923747" y="2910058"/>
            <a:ext cx="1506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FF3300"/>
                </a:solidFill>
              </a:rPr>
              <a:t>fitting data</a:t>
            </a:r>
            <a:endParaRPr lang="ko-KR" altLang="en-US" sz="1200" dirty="0">
              <a:solidFill>
                <a:srgbClr val="FF330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609CF38-72E4-4921-BA81-68A24544544F}"/>
              </a:ext>
            </a:extLst>
          </p:cNvPr>
          <p:cNvSpPr/>
          <p:nvPr/>
        </p:nvSpPr>
        <p:spPr>
          <a:xfrm>
            <a:off x="1475656" y="3949056"/>
            <a:ext cx="1826434" cy="1918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DAE3131-3AAD-408A-9379-7EFA4B44D4D5}"/>
              </a:ext>
            </a:extLst>
          </p:cNvPr>
          <p:cNvSpPr/>
          <p:nvPr/>
        </p:nvSpPr>
        <p:spPr>
          <a:xfrm>
            <a:off x="1897080" y="3905365"/>
            <a:ext cx="1506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FF3300"/>
                </a:solidFill>
              </a:rPr>
              <a:t>fitting data</a:t>
            </a:r>
            <a:endParaRPr lang="ko-KR" altLang="en-US" sz="1200" dirty="0">
              <a:solidFill>
                <a:srgbClr val="FF3300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2F0E1EF-AEF4-40BE-B102-1B99524CEC9F}"/>
              </a:ext>
            </a:extLst>
          </p:cNvPr>
          <p:cNvSpPr/>
          <p:nvPr/>
        </p:nvSpPr>
        <p:spPr>
          <a:xfrm>
            <a:off x="5148063" y="3949056"/>
            <a:ext cx="1944217" cy="1918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0C4206B-075B-4F87-82D8-2DC832E1934D}"/>
              </a:ext>
            </a:extLst>
          </p:cNvPr>
          <p:cNvSpPr/>
          <p:nvPr/>
        </p:nvSpPr>
        <p:spPr>
          <a:xfrm>
            <a:off x="5331594" y="3905365"/>
            <a:ext cx="1506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FF3300"/>
                </a:solidFill>
              </a:rPr>
              <a:t>fitting data</a:t>
            </a:r>
            <a:endParaRPr lang="ko-KR" altLang="en-US" sz="1200" dirty="0">
              <a:solidFill>
                <a:srgbClr val="FF3300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4D5A2AB-21DF-493A-A486-4BAFAF8B7A70}"/>
              </a:ext>
            </a:extLst>
          </p:cNvPr>
          <p:cNvSpPr/>
          <p:nvPr/>
        </p:nvSpPr>
        <p:spPr>
          <a:xfrm>
            <a:off x="3923927" y="4454167"/>
            <a:ext cx="3156711" cy="1918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7934BC9-AE0A-4E06-B83E-5E01A4D480A8}"/>
              </a:ext>
            </a:extLst>
          </p:cNvPr>
          <p:cNvSpPr/>
          <p:nvPr/>
        </p:nvSpPr>
        <p:spPr>
          <a:xfrm>
            <a:off x="5331594" y="4410476"/>
            <a:ext cx="1506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FF3300"/>
                </a:solidFill>
              </a:rPr>
              <a:t>fitting data</a:t>
            </a:r>
            <a:endParaRPr lang="ko-KR" altLang="en-US" sz="1200" dirty="0">
              <a:solidFill>
                <a:srgbClr val="FF33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69464B3-B065-4FD8-B088-7F96D584B0E3}"/>
              </a:ext>
            </a:extLst>
          </p:cNvPr>
          <p:cNvSpPr/>
          <p:nvPr/>
        </p:nvSpPr>
        <p:spPr>
          <a:xfrm>
            <a:off x="2627785" y="4957595"/>
            <a:ext cx="4464496" cy="1918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D844DA5-42EB-4E57-94DC-52C829EB0755}"/>
              </a:ext>
            </a:extLst>
          </p:cNvPr>
          <p:cNvSpPr/>
          <p:nvPr/>
        </p:nvSpPr>
        <p:spPr>
          <a:xfrm>
            <a:off x="5311072" y="4913904"/>
            <a:ext cx="1506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FF3300"/>
                </a:solidFill>
              </a:rPr>
              <a:t>fitting data</a:t>
            </a:r>
            <a:endParaRPr lang="ko-KR" altLang="en-US" sz="1200" dirty="0">
              <a:solidFill>
                <a:srgbClr val="FF330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A15F24D-6A34-4C0A-8271-1C1C41FBE695}"/>
              </a:ext>
            </a:extLst>
          </p:cNvPr>
          <p:cNvSpPr/>
          <p:nvPr/>
        </p:nvSpPr>
        <p:spPr>
          <a:xfrm>
            <a:off x="1475656" y="4454167"/>
            <a:ext cx="761198" cy="1918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57C7591-CA77-4792-9E27-52905D9206D9}"/>
              </a:ext>
            </a:extLst>
          </p:cNvPr>
          <p:cNvSpPr/>
          <p:nvPr/>
        </p:nvSpPr>
        <p:spPr>
          <a:xfrm>
            <a:off x="6318059" y="3430483"/>
            <a:ext cx="761198" cy="1918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249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\documentclass{article}&#10;\usepackage{amsmath}&#10;\usepackage[utf8]{inputenc}&#10;\usepackage{kotex}&#10;\pagestyle{empty}&#10;\newcommand\bs{\boldsymbol}&#10;\begin{document}&#10;&#10;$$&#10;{\widehat{SSE}}^*({\hat {\bs \mu}})  =  &#10;\sum_{j=1}^m \sum_{i \in V_j } (y_i - {\hat \mu}_i (T_j ) )^2 $$&#10;&#10;&#10;\end{document}" title="IguanaTex Bitmap Display">
            <a:extLst>
              <a:ext uri="{FF2B5EF4-FFF2-40B4-BE49-F238E27FC236}">
                <a16:creationId xmlns:a16="http://schemas.microsoft.com/office/drawing/2014/main" id="{3767FF4E-2B25-490C-8A73-3C5CDBD218F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780" y="3933056"/>
            <a:ext cx="3680004" cy="74666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360752E-07A7-4E42-B3A7-6DE8591F512A}"/>
              </a:ext>
            </a:extLst>
          </p:cNvPr>
          <p:cNvSpPr txBox="1"/>
          <p:nvPr/>
        </p:nvSpPr>
        <p:spPr>
          <a:xfrm>
            <a:off x="755576" y="620688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m-</a:t>
            </a:r>
            <a:r>
              <a:rPr lang="en-US" altLang="ko-KR" sz="2800" dirty="0" err="1"/>
              <a:t>folfing</a:t>
            </a:r>
            <a:r>
              <a:rPr lang="en-US" altLang="ko-KR" sz="2800" dirty="0"/>
              <a:t> CV Estimator</a:t>
            </a:r>
          </a:p>
        </p:txBody>
      </p:sp>
      <p:pic>
        <p:nvPicPr>
          <p:cNvPr id="53" name="그림 52" descr="\documentclass{article}&#10;\usepackage{amsmath}&#10;\newcommand\bs{\boldsymbol}&#10;\pagestyle{empty}&#10;\begin{document}&#10;&#10;&#10;$$&#10;\widehat{-2 \, \log \, p(D^* | \hat{\boldsymbol \theta})}&#10;~=~ \sum_{j=1}^m \sum_{i \in V_j } -2 \,\log \, p( y_i | {\hat {\bs \theta}} (T_j ) )$$&#10;&#10;\end{document}" title="IguanaTex Bitmap Display">
            <a:extLst>
              <a:ext uri="{FF2B5EF4-FFF2-40B4-BE49-F238E27FC236}">
                <a16:creationId xmlns:a16="http://schemas.microsoft.com/office/drawing/2014/main" id="{CBE8C524-0BCD-44AB-A104-4235079D4A0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780" y="5229200"/>
            <a:ext cx="5092572" cy="746663"/>
          </a:xfrm>
          <a:prstGeom prst="rect">
            <a:avLst/>
          </a:prstGeom>
        </p:spPr>
      </p:pic>
      <p:pic>
        <p:nvPicPr>
          <p:cNvPr id="54" name="그림 53" descr="\documentclass{article}&#10;\usepackage{amsmath}&#10;\usepackage[utf8]{inputenc}&#10;\usepackage{kotex}&#10;\newcommand\bs{\boldsymbol}&#10;\pagestyle{empty}&#10;\begin{document}&#10;&#10;$V_j$ : validation index set &#10;&#10;&#10;\end{document}" title="IguanaTex Bitmap Display">
            <a:extLst>
              <a:ext uri="{FF2B5EF4-FFF2-40B4-BE49-F238E27FC236}">
                <a16:creationId xmlns:a16="http://schemas.microsoft.com/office/drawing/2014/main" id="{B2AD7EA8-4DF9-48C8-808E-265893EB613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780" y="2911086"/>
            <a:ext cx="2631619" cy="249905"/>
          </a:xfrm>
          <a:prstGeom prst="rect">
            <a:avLst/>
          </a:prstGeom>
        </p:spPr>
      </p:pic>
      <p:pic>
        <p:nvPicPr>
          <p:cNvPr id="55" name="그림 54" descr="\documentclass{article}&#10;\usepackage{amsmath}&#10;\usepackage[utf8]{inputenc}&#10;\usepackage{kotex}&#10;\newcommand\bs{\boldsymbol}&#10;\pagestyle{empty}&#10;\begin{document}&#10;&#10;$T_j$ : training index set &#10;&#10;&#10;\end{document}" title="IguanaTex Bitmap Display">
            <a:extLst>
              <a:ext uri="{FF2B5EF4-FFF2-40B4-BE49-F238E27FC236}">
                <a16:creationId xmlns:a16="http://schemas.microsoft.com/office/drawing/2014/main" id="{D67755C4-3648-4CDE-BD80-CD6870490FA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780" y="2145584"/>
            <a:ext cx="2424381" cy="24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64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364A961-5EB4-4468-9FD7-939F0E8F6809}"/>
              </a:ext>
            </a:extLst>
          </p:cNvPr>
          <p:cNvSpPr txBox="1"/>
          <p:nvPr/>
        </p:nvSpPr>
        <p:spPr>
          <a:xfrm>
            <a:off x="755576" y="476672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Bootstrap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FBDC1A0-F611-43A7-9865-B438A7D01F08}"/>
              </a:ext>
            </a:extLst>
          </p:cNvPr>
          <p:cNvGrpSpPr/>
          <p:nvPr/>
        </p:nvGrpSpPr>
        <p:grpSpPr>
          <a:xfrm>
            <a:off x="1187624" y="2723356"/>
            <a:ext cx="1261147" cy="1844814"/>
            <a:chOff x="1187624" y="2723356"/>
            <a:chExt cx="1261147" cy="1844814"/>
          </a:xfrm>
        </p:grpSpPr>
        <p:pic>
          <p:nvPicPr>
            <p:cNvPr id="7" name="그림 6" descr="\documentclass{article}&#10;\usepackage{amsmath}&#10;\pagestyle{empty}&#10;\begin{document}&#10;&#10;&#10;&#10;$D$&#10;&#10;\end{document}" title="IguanaTex Bitmap Display">
              <a:extLst>
                <a:ext uri="{FF2B5EF4-FFF2-40B4-BE49-F238E27FC236}">
                  <a16:creationId xmlns:a16="http://schemas.microsoft.com/office/drawing/2014/main" id="{C5FD8C7B-2158-47F5-A040-B8A3074FBE7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4028" y="2723356"/>
              <a:ext cx="234057" cy="206628"/>
            </a:xfrm>
            <a:prstGeom prst="rect">
              <a:avLst/>
            </a:prstGeom>
          </p:spPr>
        </p:pic>
        <p:pic>
          <p:nvPicPr>
            <p:cNvPr id="5" name="그림 4" descr="\documentclass{article}&#10;\usepackage{amsmath}&#10;\pagestyle{empty}&#10;\begin{document}&#10;&#10;&#10;$P&#10;$&#10;&#10;\end{document}" title="IguanaTex Bitmap Display">
              <a:extLst>
                <a:ext uri="{FF2B5EF4-FFF2-40B4-BE49-F238E27FC236}">
                  <a16:creationId xmlns:a16="http://schemas.microsoft.com/office/drawing/2014/main" id="{8A0F13D2-9A1E-4D6F-82DF-79973647462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624" y="3521624"/>
              <a:ext cx="219429" cy="206628"/>
            </a:xfrm>
            <a:prstGeom prst="rect">
              <a:avLst/>
            </a:prstGeom>
          </p:spPr>
        </p:pic>
        <p:pic>
          <p:nvPicPr>
            <p:cNvPr id="10" name="그림 9" descr="\documentclass{article}&#10;\usepackage{amsmath}&#10;\pagestyle{empty}&#10;\begin{document}&#10;&#10;&#10;&#10;$D^*$&#10;&#10;\end{document}" title="IguanaTex Bitmap Display">
              <a:extLst>
                <a:ext uri="{FF2B5EF4-FFF2-40B4-BE49-F238E27FC236}">
                  <a16:creationId xmlns:a16="http://schemas.microsoft.com/office/drawing/2014/main" id="{4DD6F8BD-8FA5-4E3D-B75B-02A99F3EDE2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4028" y="4359713"/>
              <a:ext cx="354743" cy="208457"/>
            </a:xfrm>
            <a:prstGeom prst="rect">
              <a:avLst/>
            </a:prstGeom>
          </p:spPr>
        </p:pic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FD8A9816-0E4F-4023-AAD3-6B816507C5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7664" y="3061731"/>
              <a:ext cx="432048" cy="4283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E88DDB08-C0C5-4587-B93A-8DA7646867D8}"/>
                </a:ext>
              </a:extLst>
            </p:cNvPr>
            <p:cNvCxnSpPr>
              <a:cxnSpLocks/>
            </p:cNvCxnSpPr>
            <p:nvPr/>
          </p:nvCxnSpPr>
          <p:spPr>
            <a:xfrm>
              <a:off x="1547664" y="3861048"/>
              <a:ext cx="432048" cy="432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205F223-CD83-4349-AF41-22BA9939145D}"/>
              </a:ext>
            </a:extLst>
          </p:cNvPr>
          <p:cNvGrpSpPr/>
          <p:nvPr/>
        </p:nvGrpSpPr>
        <p:grpSpPr>
          <a:xfrm>
            <a:off x="4337943" y="2662350"/>
            <a:ext cx="3652154" cy="1922755"/>
            <a:chOff x="4337943" y="2662350"/>
            <a:chExt cx="3652154" cy="1922755"/>
          </a:xfrm>
        </p:grpSpPr>
        <p:pic>
          <p:nvPicPr>
            <p:cNvPr id="19" name="그림 18" descr="\documentclass{article}&#10;\usepackage{amsmath}&#10;\pagestyle{empty}&#10;\begin{document}&#10;&#10;&#10;&#10;$D$&#10;&#10;\end{document}" title="IguanaTex Bitmap Display">
              <a:extLst>
                <a:ext uri="{FF2B5EF4-FFF2-40B4-BE49-F238E27FC236}">
                  <a16:creationId xmlns:a16="http://schemas.microsoft.com/office/drawing/2014/main" id="{730575C9-52FA-4BCA-8BA5-D058F1416581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7943" y="3521624"/>
              <a:ext cx="234057" cy="206628"/>
            </a:xfrm>
            <a:prstGeom prst="rect">
              <a:avLst/>
            </a:prstGeom>
          </p:spPr>
        </p:pic>
        <p:pic>
          <p:nvPicPr>
            <p:cNvPr id="27" name="그림 26" descr="\documentclass{article}&#10;\usepackage{amsmath}&#10;\pagestyle{empty}&#10;\begin{document}&#10;&#10;&#10;&#10;$\tilde{D}_{b}, \quad b=1,2,\ldots,B&#10;$&#10;&#10;\end{document}" title="IguanaTex Bitmap Display">
              <a:extLst>
                <a:ext uri="{FF2B5EF4-FFF2-40B4-BE49-F238E27FC236}">
                  <a16:creationId xmlns:a16="http://schemas.microsoft.com/office/drawing/2014/main" id="{623BCF4A-89F2-4F01-B4E6-41B6BA5E4FF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0873" y="2662350"/>
              <a:ext cx="2678853" cy="338285"/>
            </a:xfrm>
            <a:prstGeom prst="rect">
              <a:avLst/>
            </a:prstGeom>
          </p:spPr>
        </p:pic>
        <p:pic>
          <p:nvPicPr>
            <p:cNvPr id="30" name="그림 29" descr="\documentclass{article}&#10;\usepackage{amsmath}&#10;\pagestyle{empty}&#10;\begin{document}&#10;&#10;&#10;&#10;$\tilde{D}_{b}^*, \quad b=1,2,\ldots,B&#10;$&#10;&#10;\end{document}" title="IguanaTex Bitmap Display">
              <a:extLst>
                <a:ext uri="{FF2B5EF4-FFF2-40B4-BE49-F238E27FC236}">
                  <a16:creationId xmlns:a16="http://schemas.microsoft.com/office/drawing/2014/main" id="{36750C11-AB87-4485-AB37-D5C74328087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3817" y="4217563"/>
              <a:ext cx="2706280" cy="367542"/>
            </a:xfrm>
            <a:prstGeom prst="rect">
              <a:avLst/>
            </a:prstGeom>
          </p:spPr>
        </p:pic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9CEF0728-D775-4AF1-A441-95E76A911C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6476" y="3000635"/>
              <a:ext cx="432048" cy="4283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FE915D18-A153-4890-A0A1-3F807D96BBD9}"/>
                </a:ext>
              </a:extLst>
            </p:cNvPr>
            <p:cNvCxnSpPr>
              <a:cxnSpLocks/>
            </p:cNvCxnSpPr>
            <p:nvPr/>
          </p:nvCxnSpPr>
          <p:spPr>
            <a:xfrm>
              <a:off x="4676476" y="3796462"/>
              <a:ext cx="432048" cy="432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4867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364A961-5EB4-4468-9FD7-939F0E8F6809}"/>
              </a:ext>
            </a:extLst>
          </p:cNvPr>
          <p:cNvSpPr txBox="1"/>
          <p:nvPr/>
        </p:nvSpPr>
        <p:spPr>
          <a:xfrm>
            <a:off x="755576" y="476672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Bootstrap Sample</a:t>
            </a:r>
          </a:p>
        </p:txBody>
      </p:sp>
      <p:pic>
        <p:nvPicPr>
          <p:cNvPr id="24" name="그림 23" descr="\documentclass{article}&#10;\usepackage{amsmath}&#10;\pagestyle{empty}&#10;\begin{document}&#10;&#10;&#10;&#10;Data :  $D= \{(y_i , {\boldsymbol x}_i ) | i=1,2, \ldots, n \} &#10;$&#10;&#10;\end{document}" title="IguanaTex Bitmap Display">
            <a:extLst>
              <a:ext uri="{FF2B5EF4-FFF2-40B4-BE49-F238E27FC236}">
                <a16:creationId xmlns:a16="http://schemas.microsoft.com/office/drawing/2014/main" id="{62B4348A-7359-493F-8BD1-AE644FBE583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932780"/>
            <a:ext cx="3936000" cy="254475"/>
          </a:xfrm>
          <a:prstGeom prst="rect">
            <a:avLst/>
          </a:prstGeom>
        </p:spPr>
      </p:pic>
      <p:pic>
        <p:nvPicPr>
          <p:cNvPr id="36" name="그림 35" descr="\documentclass{article}&#10;\usepackage{amsmath}&#10;\pagestyle{empty}&#10;\begin{document}&#10;&#10;&#10;&#10;${\tilde D}_b= \{( {\tilde y}_{bi} , {\tilde {\boldsymbol x}}_{bi} ) | i=1,2, \ldots, n \} &#10;$&#10;&#10;\end{document}" title="IguanaTex Bitmap Display">
            <a:extLst>
              <a:ext uri="{FF2B5EF4-FFF2-40B4-BE49-F238E27FC236}">
                <a16:creationId xmlns:a16="http://schemas.microsoft.com/office/drawing/2014/main" id="{C8F16D8A-5401-4669-AE3E-A9AED154F2E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417483"/>
            <a:ext cx="3395048" cy="297142"/>
          </a:xfrm>
          <a:prstGeom prst="rect">
            <a:avLst/>
          </a:prstGeom>
        </p:spPr>
      </p:pic>
      <p:pic>
        <p:nvPicPr>
          <p:cNvPr id="6" name="그림 5" descr="\documentclass{article}&#10;\usepackage{amsmath}&#10;\pagestyle{empty}&#10;\begin{document}&#10;&#10;&#10;&#10;Boostrap Data : &#10;&#10;\end{document}" title="IguanaTex Bitmap Display">
            <a:extLst>
              <a:ext uri="{FF2B5EF4-FFF2-40B4-BE49-F238E27FC236}">
                <a16:creationId xmlns:a16="http://schemas.microsoft.com/office/drawing/2014/main" id="{9E03C498-D13C-421A-94DD-29930E6A73A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833049"/>
            <a:ext cx="1758476" cy="220951"/>
          </a:xfrm>
          <a:prstGeom prst="rect">
            <a:avLst/>
          </a:prstGeom>
        </p:spPr>
      </p:pic>
      <p:pic>
        <p:nvPicPr>
          <p:cNvPr id="38" name="그림 37" descr="\documentclass{article}&#10;\usepackage{amsmath}&#10;\pagestyle{empty}&#10;\begin{document}&#10;&#10;&#10;&#10;${\tilde D}_b^*= \{( {\tilde y}_{bi}^* , {\tilde {\boldsymbol x}}_{bi}^* ) | i=1,2, \ldots, n \} &#10;$&#10;&#10;\end{document}" title="IguanaTex Bitmap Display">
            <a:extLst>
              <a:ext uri="{FF2B5EF4-FFF2-40B4-BE49-F238E27FC236}">
                <a16:creationId xmlns:a16="http://schemas.microsoft.com/office/drawing/2014/main" id="{66D4B165-CC22-4AA3-B7A3-DC9FD3F53AF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109" y="4058186"/>
            <a:ext cx="3416381" cy="306285"/>
          </a:xfrm>
          <a:prstGeom prst="rect">
            <a:avLst/>
          </a:prstGeom>
        </p:spPr>
      </p:pic>
      <p:pic>
        <p:nvPicPr>
          <p:cNvPr id="40" name="그림 39" descr="\documentclass{article}&#10;\usepackage{amsmath}&#10;\pagestyle{empty}&#10;\begin{document}&#10;&#10;&#10;&#10;$\{({\tilde y}_{bi} , {\tilde {\boldsymbol x}}_{bi} )\} &#10;$, and $\{({\tilde y}_{bi}^* , {\tilde {\boldsymbol x}}_{bi}^* )\}$ &#10;are random samples from $D$ &#10;&#10;\end{document}" title="IguanaTex Bitmap Display">
            <a:extLst>
              <a:ext uri="{FF2B5EF4-FFF2-40B4-BE49-F238E27FC236}">
                <a16:creationId xmlns:a16="http://schemas.microsoft.com/office/drawing/2014/main" id="{801F3D02-E9DE-4D05-967C-370D61B0665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864526"/>
            <a:ext cx="6209525" cy="265142"/>
          </a:xfrm>
          <a:prstGeom prst="rect">
            <a:avLst/>
          </a:prstGeom>
        </p:spPr>
      </p:pic>
      <p:pic>
        <p:nvPicPr>
          <p:cNvPr id="34" name="그림 33" descr="\documentclass{article}&#10;\usepackage{amsmath}&#10;\pagestyle{empty}&#10;\begin{document}&#10;&#10;&#10;(sampling with replacement)&#10;&#10;\end{document}" title="IguanaTex Bitmap Display">
            <a:extLst>
              <a:ext uri="{FF2B5EF4-FFF2-40B4-BE49-F238E27FC236}">
                <a16:creationId xmlns:a16="http://schemas.microsoft.com/office/drawing/2014/main" id="{5B0BBB3A-228D-4969-A1DE-3EBB38BBA37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5553364"/>
            <a:ext cx="3122287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84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364A961-5EB4-4468-9FD7-939F0E8F6809}"/>
              </a:ext>
            </a:extLst>
          </p:cNvPr>
          <p:cNvSpPr txBox="1"/>
          <p:nvPr/>
        </p:nvSpPr>
        <p:spPr>
          <a:xfrm>
            <a:off x="755576" y="476672"/>
            <a:ext cx="6624736" cy="81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800" dirty="0"/>
              <a:t>Bootstrap Estimator</a:t>
            </a:r>
          </a:p>
        </p:txBody>
      </p:sp>
      <p:pic>
        <p:nvPicPr>
          <p:cNvPr id="7" name="그림 6" descr="\documentclass{article}&#10;\usepackage{amsmath}&#10;\newcommand\bs{\boldsymbol}&#10;\pagestyle{empty}&#10;\begin{document}&#10;&#10;&#10;$$&#10;{\widehat{SSE}}^*({\hat {\bs \mu}}) =&#10;\frac1{B} \sum_b^B  \sum_i^n ( {\tilde y}_{b i}^* - {\tilde {\boldsymbol x}}_{bi}^* \, \tilde{\boldsymbol \beta}_b)^2$$&#10;&#10;\end{document}" title="IguanaTex Bitmap Display">
            <a:extLst>
              <a:ext uri="{FF2B5EF4-FFF2-40B4-BE49-F238E27FC236}">
                <a16:creationId xmlns:a16="http://schemas.microsoft.com/office/drawing/2014/main" id="{475FBC1D-CF83-4855-8007-510C973A09E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276872"/>
            <a:ext cx="3990855" cy="743615"/>
          </a:xfrm>
          <a:prstGeom prst="rect">
            <a:avLst/>
          </a:prstGeom>
        </p:spPr>
      </p:pic>
      <p:pic>
        <p:nvPicPr>
          <p:cNvPr id="5" name="그림 4" descr="\documentclass{article}&#10;\usepackage{amsmath}&#10;\pagestyle{empty}&#10;\begin{document}&#10;&#10;&#10;$&#10;\tilde{\boldsymbol \beta}_b ~=~\hat{\boldsymbol \beta}(\tilde{D}_{b})&#10;$ &#10;&#10;\end{document}" title="IguanaTex Bitmap Display">
            <a:extLst>
              <a:ext uri="{FF2B5EF4-FFF2-40B4-BE49-F238E27FC236}">
                <a16:creationId xmlns:a16="http://schemas.microsoft.com/office/drawing/2014/main" id="{34CC2292-407D-490C-B6A2-9C64A024A6F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9" y="2495537"/>
            <a:ext cx="1438475" cy="306284"/>
          </a:xfrm>
          <a:prstGeom prst="rect">
            <a:avLst/>
          </a:prstGeom>
        </p:spPr>
      </p:pic>
      <p:pic>
        <p:nvPicPr>
          <p:cNvPr id="12" name="그림 11" descr="\documentclass{article}&#10;\usepackage{amsmath}&#10;\newcommand\bs{\boldsymbol} &#10;\pagestyle{empty}&#10;\begin{document}&#10;&#10;&#10;$$&#10;\widehat{-2 \, \log \, p(\, D^* \, | \, \hat{\bs \theta} \, )} ~~ = ~~ &#10;\frac1{B} \sum_b^B  \sum_i^n  (-2) \log \, p( {\tilde y}_{b i}^* |   \tilde{\boldsymbol \theta}_{b} )$$&#10;&#10;\end{document}" title="IguanaTex Bitmap Display">
            <a:extLst>
              <a:ext uri="{FF2B5EF4-FFF2-40B4-BE49-F238E27FC236}">
                <a16:creationId xmlns:a16="http://schemas.microsoft.com/office/drawing/2014/main" id="{C767631F-A2B5-4D26-8CF3-F87FC4625AA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497" y="3717032"/>
            <a:ext cx="5490281" cy="7436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39B907-49F5-4BC8-9B90-9206BF882B92}"/>
              </a:ext>
            </a:extLst>
          </p:cNvPr>
          <p:cNvSpPr txBox="1"/>
          <p:nvPr/>
        </p:nvSpPr>
        <p:spPr>
          <a:xfrm>
            <a:off x="4108706" y="4886672"/>
            <a:ext cx="3147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  <a:latin typeface="+mn-ea"/>
              </a:rPr>
              <a:t>Cross Entropy for Classification </a:t>
            </a:r>
            <a:endParaRPr lang="ko-KR" altLang="en-US" sz="1600" dirty="0">
              <a:solidFill>
                <a:srgbClr val="C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3384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5FC27EC-2B09-40AC-8732-773CAF2EA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88640"/>
            <a:ext cx="4248472" cy="643974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96687C-2ADE-4A89-859C-56FF7AC31253}"/>
              </a:ext>
            </a:extLst>
          </p:cNvPr>
          <p:cNvSpPr txBox="1"/>
          <p:nvPr/>
        </p:nvSpPr>
        <p:spPr>
          <a:xfrm>
            <a:off x="3309716" y="22486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1979, AS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DE111C-022F-4AE7-9364-A718AA794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8640"/>
            <a:ext cx="4214612" cy="64397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E1AC17-E4A4-4B11-90B9-68243872A5FF}"/>
              </a:ext>
            </a:extLst>
          </p:cNvPr>
          <p:cNvSpPr txBox="1"/>
          <p:nvPr/>
        </p:nvSpPr>
        <p:spPr>
          <a:xfrm>
            <a:off x="7524328" y="246027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1988, AS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067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\documentclass{article}&#10;\usepackage{amsmath}&#10;\newcommand\bs{\boldsymbol}&#10;\pagestyle{empty}&#10;\begin{document}&#10;&#10;&#10;$$&#10;{\widehat{SSE}}^*({\hat {\bs \mu}}) =&#10;\frac1{B} \sum_b^B  \sum_i^n ( {\tilde y}_{b i}^* - {\tilde {\boldsymbol x}}_{bi}^* \, \tilde{\boldsymbol \beta}_b)^2$$&#10;&#10;\end{document}" title="IguanaTex Bitmap Display">
            <a:extLst>
              <a:ext uri="{FF2B5EF4-FFF2-40B4-BE49-F238E27FC236}">
                <a16:creationId xmlns:a16="http://schemas.microsoft.com/office/drawing/2014/main" id="{3829D5B5-15B4-4187-8828-4112B514AC3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24" y="1230863"/>
            <a:ext cx="3990855" cy="743615"/>
          </a:xfrm>
          <a:prstGeom prst="rect">
            <a:avLst/>
          </a:prstGeom>
        </p:spPr>
      </p:pic>
      <p:pic>
        <p:nvPicPr>
          <p:cNvPr id="20" name="그림 19" descr="\documentclass{article}&#10;\usepackage{amsmath}&#10;\pagestyle{empty}&#10;\begin{document}&#10;&#10;&#10;$&#10;\tilde{\boldsymbol \beta}_+ ~=~\hat{\boldsymbol \beta}(\tilde{D}_{+})&#10;$ &#10;&#10;\end{document}" title="IguanaTex Bitmap Display">
            <a:extLst>
              <a:ext uri="{FF2B5EF4-FFF2-40B4-BE49-F238E27FC236}">
                <a16:creationId xmlns:a16="http://schemas.microsoft.com/office/drawing/2014/main" id="{31B62F46-18EC-4BF8-A644-F1F12A13B5E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841" y="4293096"/>
            <a:ext cx="1571047" cy="324569"/>
          </a:xfrm>
          <a:prstGeom prst="rect">
            <a:avLst/>
          </a:prstGeom>
        </p:spPr>
      </p:pic>
      <p:pic>
        <p:nvPicPr>
          <p:cNvPr id="13" name="그림 12" descr="\documentclass{article}&#10;\usepackage{amsmath}&#10;\pagestyle{empty}&#10;\begin{document}&#10;&#10;&#10;&#10;${\tilde D}_+  ~=~ \{ {\tilde D}_b \,| \, b=1, 2, \ldots, B \}&#10;$&#10;&#10;\end{document}" title="IguanaTex Bitmap Display">
            <a:extLst>
              <a:ext uri="{FF2B5EF4-FFF2-40B4-BE49-F238E27FC236}">
                <a16:creationId xmlns:a16="http://schemas.microsoft.com/office/drawing/2014/main" id="{5B26347D-1179-4F5B-BA24-9B409C8D78D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077" y="2516455"/>
            <a:ext cx="3152762" cy="297142"/>
          </a:xfrm>
          <a:prstGeom prst="rect">
            <a:avLst/>
          </a:prstGeom>
        </p:spPr>
      </p:pic>
      <p:pic>
        <p:nvPicPr>
          <p:cNvPr id="15" name="그림 14" descr="\documentclass{article}&#10;\usepackage{amsmath}&#10;\pagestyle{empty}&#10;\begin{document}&#10;&#10;&#10;&#10;${\tilde D}_+^*&#10;~=~ \{\, {\tilde D}_b^* \, | \, b=1, 2, \ldots, B &#10;\}&#10;$&#10;&#10;\end{document}" title="IguanaTex Bitmap Display">
            <a:extLst>
              <a:ext uri="{FF2B5EF4-FFF2-40B4-BE49-F238E27FC236}">
                <a16:creationId xmlns:a16="http://schemas.microsoft.com/office/drawing/2014/main" id="{5A4FF50C-98E5-49C5-81BA-41BE52037CF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475" y="3295501"/>
            <a:ext cx="3216762" cy="316952"/>
          </a:xfrm>
          <a:prstGeom prst="rect">
            <a:avLst/>
          </a:prstGeom>
        </p:spPr>
      </p:pic>
      <p:pic>
        <p:nvPicPr>
          <p:cNvPr id="25" name="그림 24" descr="\documentclass{article}&#10;\usepackage{amsmath}&#10;\pagestyle{empty}&#10;\begin{document}&#10;&#10;&#10;$&#10;\tilde{\boldsymbol \beta}_+ ~=~&#10;\frac1{B}&#10;\sum_b \tilde{\boldsymbol \beta}_b&#10;$ &#10;&#10;\end{document}" title="IguanaTex Bitmap Display">
            <a:extLst>
              <a:ext uri="{FF2B5EF4-FFF2-40B4-BE49-F238E27FC236}">
                <a16:creationId xmlns:a16="http://schemas.microsoft.com/office/drawing/2014/main" id="{D1ECDDD5-96D6-40F8-B352-96935AC7DEE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4283323"/>
            <a:ext cx="1781333" cy="323045"/>
          </a:xfrm>
          <a:prstGeom prst="rect">
            <a:avLst/>
          </a:prstGeom>
        </p:spPr>
      </p:pic>
      <p:pic>
        <p:nvPicPr>
          <p:cNvPr id="6" name="그림 5" descr="\documentclass{article}&#10;\usepackage{amsmath}&#10;\pagestyle{empty}&#10;\begin{document}&#10;&#10;&#10;$&#10;\tilde{\boldsymbol y}_+ = &#10;\hat{\boldsymbol y}(\tilde{D}_{+})$ &#10;&#10;\end{document}" title="IguanaTex Bitmap Display">
            <a:extLst>
              <a:ext uri="{FF2B5EF4-FFF2-40B4-BE49-F238E27FC236}">
                <a16:creationId xmlns:a16="http://schemas.microsoft.com/office/drawing/2014/main" id="{E0296E13-0CDC-4370-B766-C773191741A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841" y="5144502"/>
            <a:ext cx="1363809" cy="315426"/>
          </a:xfrm>
          <a:prstGeom prst="rect">
            <a:avLst/>
          </a:prstGeom>
        </p:spPr>
      </p:pic>
      <p:pic>
        <p:nvPicPr>
          <p:cNvPr id="8" name="그림 7" descr="\documentclass{article}&#10;\usepackage{amsmath}&#10;\pagestyle{empty}&#10;\begin{document}&#10;&#10;&#10;$&#10;\tilde{\boldsymbol y}_+&#10;= \frac1{B}&#10;\sum_b \hat{\boldsymbol y}_b&#10;$ &#10;&#10;\end{document}" title="IguanaTex Bitmap Display">
            <a:extLst>
              <a:ext uri="{FF2B5EF4-FFF2-40B4-BE49-F238E27FC236}">
                <a16:creationId xmlns:a16="http://schemas.microsoft.com/office/drawing/2014/main" id="{4938A5C8-B505-4161-A8F8-AF9AA479388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417" y="5142216"/>
            <a:ext cx="1574095" cy="30476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F40F03C-59D6-47B5-9EE2-BE081C26A025}"/>
              </a:ext>
            </a:extLst>
          </p:cNvPr>
          <p:cNvSpPr txBox="1"/>
          <p:nvPr/>
        </p:nvSpPr>
        <p:spPr>
          <a:xfrm>
            <a:off x="4677893" y="5627137"/>
            <a:ext cx="2819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7030A0"/>
                </a:solidFill>
                <a:latin typeface="+mn-ea"/>
              </a:rPr>
              <a:t>aggregating bootstrap predictor</a:t>
            </a:r>
            <a:endParaRPr lang="ko-KR" altLang="en-US" sz="1400" dirty="0">
              <a:solidFill>
                <a:srgbClr val="7030A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0212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9D08611-A841-4373-A2BF-BB5DB0A5F90E}"/>
              </a:ext>
            </a:extLst>
          </p:cNvPr>
          <p:cNvSpPr txBox="1"/>
          <p:nvPr/>
        </p:nvSpPr>
        <p:spPr>
          <a:xfrm>
            <a:off x="1043608" y="1628800"/>
            <a:ext cx="2109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Bagging  ??</a:t>
            </a:r>
            <a:endParaRPr lang="ko-KR" alt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7F510-4AF2-46BE-9A71-24BB75ACB3EE}"/>
              </a:ext>
            </a:extLst>
          </p:cNvPr>
          <p:cNvSpPr txBox="1"/>
          <p:nvPr/>
        </p:nvSpPr>
        <p:spPr>
          <a:xfrm>
            <a:off x="1619672" y="2409480"/>
            <a:ext cx="6264696" cy="1452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Is it different ?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What is better ?</a:t>
            </a:r>
          </a:p>
        </p:txBody>
      </p:sp>
    </p:spTree>
    <p:extLst>
      <p:ext uri="{BB962C8B-B14F-4D97-AF65-F5344CB8AC3E}">
        <p14:creationId xmlns:p14="http://schemas.microsoft.com/office/powerpoint/2010/main" val="1651056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C50C5392-C1C5-4B1E-B28F-5D2DFFE068D6}"/>
              </a:ext>
            </a:extLst>
          </p:cNvPr>
          <p:cNvGrpSpPr/>
          <p:nvPr/>
        </p:nvGrpSpPr>
        <p:grpSpPr>
          <a:xfrm>
            <a:off x="1768033" y="1124744"/>
            <a:ext cx="4854135" cy="4791636"/>
            <a:chOff x="1979712" y="1130260"/>
            <a:chExt cx="4854135" cy="479163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599D0E1-C2AB-4AD9-BED0-1941961D5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1268760"/>
              <a:ext cx="4854135" cy="4653136"/>
            </a:xfrm>
            <a:prstGeom prst="rect">
              <a:avLst/>
            </a:prstGeom>
          </p:spPr>
        </p:pic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FC7F701E-42F4-4C58-94BF-1B523538AEED}"/>
                </a:ext>
              </a:extLst>
            </p:cNvPr>
            <p:cNvSpPr/>
            <p:nvPr/>
          </p:nvSpPr>
          <p:spPr>
            <a:xfrm>
              <a:off x="6430044" y="4990269"/>
              <a:ext cx="288032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96C7F2-1FE3-4DF3-901D-91E4B2CE6177}"/>
                </a:ext>
              </a:extLst>
            </p:cNvPr>
            <p:cNvSpPr txBox="1"/>
            <p:nvPr/>
          </p:nvSpPr>
          <p:spPr>
            <a:xfrm>
              <a:off x="2590256" y="1130260"/>
              <a:ext cx="18165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without influential data</a:t>
              </a:r>
              <a:endParaRPr lang="ko-KR" altLang="en-US" sz="12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3794B7-0847-45FE-AFEC-0486C744DD00}"/>
                </a:ext>
              </a:extLst>
            </p:cNvPr>
            <p:cNvSpPr txBox="1"/>
            <p:nvPr/>
          </p:nvSpPr>
          <p:spPr>
            <a:xfrm>
              <a:off x="4867445" y="3704124"/>
              <a:ext cx="15808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with influential data</a:t>
              </a:r>
              <a:endParaRPr lang="ko-KR" altLang="en-US" sz="12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0127AC-5956-4C0E-A201-EAFE800F74A2}"/>
                </a:ext>
              </a:extLst>
            </p:cNvPr>
            <p:cNvSpPr txBox="1"/>
            <p:nvPr/>
          </p:nvSpPr>
          <p:spPr>
            <a:xfrm>
              <a:off x="4930823" y="1918679"/>
              <a:ext cx="18372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bagging regression line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0310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C864D54-B65C-435D-98EF-28D362397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37276"/>
            <a:ext cx="4176463" cy="638344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7D955A-524B-4E8F-8F34-9431F69E177B}"/>
              </a:ext>
            </a:extLst>
          </p:cNvPr>
          <p:cNvSpPr txBox="1"/>
          <p:nvPr/>
        </p:nvSpPr>
        <p:spPr>
          <a:xfrm>
            <a:off x="5148064" y="88534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1996, ML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791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4D91D1-0E1A-4D36-9512-4BB4F2608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16193"/>
            <a:ext cx="4280385" cy="6425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50B027-43B3-4544-B870-A0DB1D9A2653}"/>
              </a:ext>
            </a:extLst>
          </p:cNvPr>
          <p:cNvSpPr txBox="1"/>
          <p:nvPr/>
        </p:nvSpPr>
        <p:spPr>
          <a:xfrm>
            <a:off x="5724128" y="2937690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1984</a:t>
            </a:r>
            <a:endParaRPr lang="ko-KR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548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9D08611-A841-4373-A2BF-BB5DB0A5F90E}"/>
              </a:ext>
            </a:extLst>
          </p:cNvPr>
          <p:cNvSpPr txBox="1"/>
          <p:nvPr/>
        </p:nvSpPr>
        <p:spPr>
          <a:xfrm>
            <a:off x="1043608" y="1628800"/>
            <a:ext cx="481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Bagging ( L. </a:t>
            </a:r>
            <a:r>
              <a:rPr lang="en-US" altLang="ko-KR" sz="2800" dirty="0" err="1"/>
              <a:t>Breiman</a:t>
            </a:r>
            <a:r>
              <a:rPr lang="en-US" altLang="ko-KR" sz="2800" dirty="0"/>
              <a:t>, 1996 )</a:t>
            </a:r>
            <a:endParaRPr lang="ko-KR" alt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7F510-4AF2-46BE-9A71-24BB75ACB3EE}"/>
              </a:ext>
            </a:extLst>
          </p:cNvPr>
          <p:cNvSpPr txBox="1"/>
          <p:nvPr/>
        </p:nvSpPr>
        <p:spPr>
          <a:xfrm>
            <a:off x="1619672" y="2409480"/>
            <a:ext cx="6264696" cy="292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</a:t>
            </a:r>
            <a:r>
              <a:rPr lang="ko-KR" altLang="en-US" sz="2400" b="1" dirty="0"/>
              <a:t>예측성</a:t>
            </a:r>
            <a:r>
              <a:rPr lang="ko-KR" altLang="en-US" sz="2400" dirty="0"/>
              <a:t>을 높인다</a:t>
            </a:r>
            <a:r>
              <a:rPr lang="en-US" altLang="ko-KR" sz="2400" dirty="0"/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</a:t>
            </a:r>
            <a:r>
              <a:rPr lang="ko-KR" altLang="en-US" sz="2400" b="1" dirty="0"/>
              <a:t>과적합에 대한 저항성</a:t>
            </a:r>
            <a:r>
              <a:rPr lang="ko-KR" altLang="en-US" sz="2400" dirty="0"/>
              <a:t>을 부여한다</a:t>
            </a:r>
            <a:endParaRPr lang="en-US" altLang="ko-KR" sz="2400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Reducing instability of predictor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400" dirty="0"/>
              <a:t> 벌칙항을 부과한 것과 같은 효과를 준다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166929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7CF67-F831-40D4-AA99-7761DC155168}"/>
              </a:ext>
            </a:extLst>
          </p:cNvPr>
          <p:cNvSpPr txBox="1"/>
          <p:nvPr/>
        </p:nvSpPr>
        <p:spPr>
          <a:xfrm>
            <a:off x="971600" y="1988840"/>
            <a:ext cx="581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- Bagging : </a:t>
            </a:r>
            <a:r>
              <a:rPr lang="en-US" altLang="ko-KR" sz="2800" b="1" dirty="0" err="1"/>
              <a:t>Boostrap</a:t>
            </a:r>
            <a:r>
              <a:rPr lang="en-US" altLang="ko-KR" sz="2800" dirty="0"/>
              <a:t> Aggregating</a:t>
            </a:r>
            <a:endParaRPr lang="ko-KR" alt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D08611-A841-4373-A2BF-BB5DB0A5F90E}"/>
              </a:ext>
            </a:extLst>
          </p:cNvPr>
          <p:cNvSpPr txBox="1"/>
          <p:nvPr/>
        </p:nvSpPr>
        <p:spPr>
          <a:xfrm>
            <a:off x="971600" y="3429000"/>
            <a:ext cx="7565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- Boosting : Integrating </a:t>
            </a:r>
            <a:r>
              <a:rPr lang="en-US" altLang="ko-KR" sz="2800" b="1" dirty="0"/>
              <a:t>Multiple Predictors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11352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DB38EE-C58F-4848-BA83-7481E74BB39C}"/>
              </a:ext>
            </a:extLst>
          </p:cNvPr>
          <p:cNvSpPr txBox="1"/>
          <p:nvPr/>
        </p:nvSpPr>
        <p:spPr>
          <a:xfrm>
            <a:off x="1331640" y="1556792"/>
            <a:ext cx="6696744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Why multiple predictors :</a:t>
            </a:r>
          </a:p>
          <a:p>
            <a:pPr marL="800100" lvl="1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many predictor variables</a:t>
            </a:r>
          </a:p>
          <a:p>
            <a:pPr marL="800100" lvl="1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</a:t>
            </a:r>
            <a:r>
              <a:rPr lang="en-US" altLang="ko-KR" sz="2400" dirty="0" err="1"/>
              <a:t>boostrap</a:t>
            </a:r>
            <a:r>
              <a:rPr lang="en-US" altLang="ko-KR" sz="2400" dirty="0"/>
              <a:t> predictors</a:t>
            </a:r>
          </a:p>
        </p:txBody>
      </p:sp>
    </p:spTree>
    <p:extLst>
      <p:ext uri="{BB962C8B-B14F-4D97-AF65-F5344CB8AC3E}">
        <p14:creationId xmlns:p14="http://schemas.microsoft.com/office/powerpoint/2010/main" val="21112614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9D08611-A841-4373-A2BF-BB5DB0A5F90E}"/>
              </a:ext>
            </a:extLst>
          </p:cNvPr>
          <p:cNvSpPr txBox="1"/>
          <p:nvPr/>
        </p:nvSpPr>
        <p:spPr>
          <a:xfrm>
            <a:off x="1331640" y="1484784"/>
            <a:ext cx="1616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Boosting</a:t>
            </a:r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DB38EE-C58F-4848-BA83-7481E74BB39C}"/>
              </a:ext>
            </a:extLst>
          </p:cNvPr>
          <p:cNvSpPr txBox="1"/>
          <p:nvPr/>
        </p:nvSpPr>
        <p:spPr>
          <a:xfrm>
            <a:off x="1619672" y="2409480"/>
            <a:ext cx="6696744" cy="2190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(Ada)Boosting (Freund &amp; </a:t>
            </a:r>
            <a:r>
              <a:rPr lang="en-US" altLang="ko-KR" sz="2400" dirty="0" err="1"/>
              <a:t>Schapire</a:t>
            </a:r>
            <a:r>
              <a:rPr lang="en-US" altLang="ko-KR" sz="2400" dirty="0"/>
              <a:t>, 1995)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z="2400" dirty="0"/>
              <a:t> Additive Logistic Regression ( HTF, 2000 )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400" dirty="0"/>
              <a:t> </a:t>
            </a:r>
            <a:r>
              <a:rPr lang="en-US" altLang="ko-KR" sz="2400" dirty="0"/>
              <a:t>GBM (J. Friedman,  2001)</a:t>
            </a:r>
          </a:p>
        </p:txBody>
      </p:sp>
    </p:spTree>
    <p:extLst>
      <p:ext uri="{BB962C8B-B14F-4D97-AF65-F5344CB8AC3E}">
        <p14:creationId xmlns:p14="http://schemas.microsoft.com/office/powerpoint/2010/main" val="3022804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DC9B4D68-F0D5-499B-A733-F90E845465C8}"/>
              </a:ext>
            </a:extLst>
          </p:cNvPr>
          <p:cNvGrpSpPr/>
          <p:nvPr/>
        </p:nvGrpSpPr>
        <p:grpSpPr>
          <a:xfrm>
            <a:off x="1547664" y="0"/>
            <a:ext cx="6048672" cy="6858000"/>
            <a:chOff x="1547664" y="0"/>
            <a:chExt cx="6048672" cy="685800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60A1B66F-B20D-4399-B36D-5A1FCB829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5365" y="0"/>
              <a:ext cx="6033269" cy="6858000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07845DD-0620-4620-AAC9-52EC90DD1392}"/>
                </a:ext>
              </a:extLst>
            </p:cNvPr>
            <p:cNvSpPr/>
            <p:nvPr/>
          </p:nvSpPr>
          <p:spPr>
            <a:xfrm>
              <a:off x="1547664" y="0"/>
              <a:ext cx="6048672" cy="685800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5992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C76664E-E9C9-4B1E-A09A-1E491FAD2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16632"/>
            <a:ext cx="4332137" cy="6637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DD299B-7A7B-4864-92FF-C963B079A388}"/>
              </a:ext>
            </a:extLst>
          </p:cNvPr>
          <p:cNvSpPr txBox="1"/>
          <p:nvPr/>
        </p:nvSpPr>
        <p:spPr>
          <a:xfrm>
            <a:off x="3094601" y="987035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FF00"/>
                </a:solidFill>
              </a:rPr>
              <a:t>2001</a:t>
            </a:r>
            <a:endParaRPr lang="ko-KR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190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9D08611-A841-4373-A2BF-BB5DB0A5F90E}"/>
              </a:ext>
            </a:extLst>
          </p:cNvPr>
          <p:cNvSpPr txBox="1"/>
          <p:nvPr/>
        </p:nvSpPr>
        <p:spPr>
          <a:xfrm>
            <a:off x="980401" y="892434"/>
            <a:ext cx="4144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GBM, </a:t>
            </a:r>
            <a:r>
              <a:rPr lang="en-US" altLang="ko-KR" dirty="0"/>
              <a:t>Gradient Boosting Machines</a:t>
            </a:r>
            <a:endParaRPr lang="ko-KR" altLang="en-US" sz="2800" dirty="0"/>
          </a:p>
        </p:txBody>
      </p:sp>
      <p:pic>
        <p:nvPicPr>
          <p:cNvPr id="37" name="그림 36" descr="\documentclass{article}&#10;\usepackage{amsmath}&#10;\pagestyle{empty}&#10;\begin{document}&#10;&#10;&#10;&#10;$$&#10;d~=~ d({\boldsymbol y} ,\hat{{\boldsymbol y}} ) &#10;$$&#10;&#10;\end{document}" title="IguanaTex Bitmap Display">
            <a:extLst>
              <a:ext uri="{FF2B5EF4-FFF2-40B4-BE49-F238E27FC236}">
                <a16:creationId xmlns:a16="http://schemas.microsoft.com/office/drawing/2014/main" id="{193E5138-4A31-4ADB-BCFE-2F1D4F09A37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523549"/>
            <a:ext cx="1360763" cy="254475"/>
          </a:xfrm>
          <a:prstGeom prst="rect">
            <a:avLst/>
          </a:prstGeom>
        </p:spPr>
      </p:pic>
      <p:pic>
        <p:nvPicPr>
          <p:cNvPr id="34" name="그림 33" descr="\documentclass{article}&#10;\usepackage{amsmath}&#10;\pagestyle{empty}&#10;\begin{document}&#10;&#10;&#10;&#10;$$&#10;{\boldsymbol r}~=~&#10;\frac{\partial d}{\partial \hat{\boldsymbol y} }&#10;$$&#10;&#10;\end{document}" title="IguanaTex Bitmap Display">
            <a:extLst>
              <a:ext uri="{FF2B5EF4-FFF2-40B4-BE49-F238E27FC236}">
                <a16:creationId xmlns:a16="http://schemas.microsoft.com/office/drawing/2014/main" id="{815BFBAD-C4C1-4B2D-A076-E97DF2B5A7E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904" y="2382115"/>
            <a:ext cx="978286" cy="577522"/>
          </a:xfrm>
          <a:prstGeom prst="rect">
            <a:avLst/>
          </a:prstGeom>
        </p:spPr>
      </p:pic>
      <p:pic>
        <p:nvPicPr>
          <p:cNvPr id="73" name="그림 72" descr="\documentclass{article}&#10;\usepackage{amsmath}&#10;\pagestyle{empty}&#10;\begin{document}&#10;&#10;&#10;&#10;$&#10;\hat{\boldsymbol y}^{(r+1) }~=~ \hat{\boldsymbol y}^{(r) } \, \, + \,\rho_* \,\hat{{\boldsymbol r}}_{b_r}&#10;$&#10;&#10;\end{document}" title="IguanaTex Bitmap Display">
            <a:extLst>
              <a:ext uri="{FF2B5EF4-FFF2-40B4-BE49-F238E27FC236}">
                <a16:creationId xmlns:a16="http://schemas.microsoft.com/office/drawing/2014/main" id="{0D7C1323-C580-4E9F-A628-026DE014B7C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570" y="5023268"/>
            <a:ext cx="2649904" cy="313904"/>
          </a:xfrm>
          <a:prstGeom prst="rect">
            <a:avLst/>
          </a:prstGeom>
        </p:spPr>
      </p:pic>
      <p:pic>
        <p:nvPicPr>
          <p:cNvPr id="35" name="그림 34" descr="\documentclass{article}&#10;\usepackage{amsmath}&#10;\pagestyle{empty}&#10;\begin{document}&#10;&#10;&#10;&#10;$&#10;r= 1, 2, \ldots &#10;$&#10;&#10;\end{document}" title="IguanaTex Bitmap Display">
            <a:extLst>
              <a:ext uri="{FF2B5EF4-FFF2-40B4-BE49-F238E27FC236}">
                <a16:creationId xmlns:a16="http://schemas.microsoft.com/office/drawing/2014/main" id="{0272B2AC-C678-40A7-A2D8-835F1CC35D8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570" y="5749186"/>
            <a:ext cx="1203809" cy="216380"/>
          </a:xfrm>
          <a:prstGeom prst="rect">
            <a:avLst/>
          </a:prstGeom>
        </p:spPr>
      </p:pic>
      <p:pic>
        <p:nvPicPr>
          <p:cNvPr id="7" name="그림 6" descr="\documentclass{article}&#10;\usepackage{amsmath}&#10;\pagestyle{empty}&#10;\begin{document}&#10;&#10;&#10;&#10;$$&#10;\hat{{\boldsymbol y}}_b ~=~ H_b ( {\boldsymbol y} )&#10;$$&#10;&#10;\end{document}" title="IguanaTex Bitmap Display">
            <a:extLst>
              <a:ext uri="{FF2B5EF4-FFF2-40B4-BE49-F238E27FC236}">
                <a16:creationId xmlns:a16="http://schemas.microsoft.com/office/drawing/2014/main" id="{31DF4B2E-3C76-4FBA-923A-A366A4F8B16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783" y="1848093"/>
            <a:ext cx="1400382" cy="254475"/>
          </a:xfrm>
          <a:prstGeom prst="rect">
            <a:avLst/>
          </a:prstGeom>
        </p:spPr>
      </p:pic>
      <p:pic>
        <p:nvPicPr>
          <p:cNvPr id="41" name="그림 40" descr="\documentclass{article}&#10;\usepackage{amsmath}&#10;\pagestyle{empty}&#10;\begin{document}&#10;&#10;&#10;&#10;$&#10;b= 1, 2, \ldots &#10;$&#10;&#10;\end{document}" title="IguanaTex Bitmap Display">
            <a:extLst>
              <a:ext uri="{FF2B5EF4-FFF2-40B4-BE49-F238E27FC236}">
                <a16:creationId xmlns:a16="http://schemas.microsoft.com/office/drawing/2014/main" id="{B6407646-770F-4739-8FB2-365BB62CA55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999" y="1876096"/>
            <a:ext cx="1187047" cy="223999"/>
          </a:xfrm>
          <a:prstGeom prst="rect">
            <a:avLst/>
          </a:prstGeom>
        </p:spPr>
      </p:pic>
      <p:pic>
        <p:nvPicPr>
          <p:cNvPr id="55" name="그림 54" descr="\documentclass{article}&#10;\usepackage{amsmath}&#10;\pagestyle{empty}&#10;\begin{document}&#10;&#10;&#10;&#10;$$&#10;\hat{\boldsymbol r}_{b_r}&#10;~=~ H_{b_r}  \, ( {\boldsymbol r} )&#10;$$&#10;&#10;\end{document}" title="IguanaTex Bitmap Display">
            <a:extLst>
              <a:ext uri="{FF2B5EF4-FFF2-40B4-BE49-F238E27FC236}">
                <a16:creationId xmlns:a16="http://schemas.microsoft.com/office/drawing/2014/main" id="{71272962-B60D-458B-A751-55BE5FC5090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329959"/>
            <a:ext cx="1612190" cy="254476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D062BC9-A1A6-48C1-9057-AE0F31203A1C}"/>
              </a:ext>
            </a:extLst>
          </p:cNvPr>
          <p:cNvCxnSpPr>
            <a:cxnSpLocks/>
          </p:cNvCxnSpPr>
          <p:nvPr/>
        </p:nvCxnSpPr>
        <p:spPr>
          <a:xfrm>
            <a:off x="2347546" y="4668332"/>
            <a:ext cx="829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305D72F-EE9B-4C28-926E-06D87C20E659}"/>
              </a:ext>
            </a:extLst>
          </p:cNvPr>
          <p:cNvCxnSpPr>
            <a:cxnSpLocks/>
          </p:cNvCxnSpPr>
          <p:nvPr/>
        </p:nvCxnSpPr>
        <p:spPr>
          <a:xfrm>
            <a:off x="1475656" y="5384095"/>
            <a:ext cx="267481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C2065D1-E016-4F44-B00E-3B128EB40431}"/>
              </a:ext>
            </a:extLst>
          </p:cNvPr>
          <p:cNvSpPr txBox="1"/>
          <p:nvPr/>
        </p:nvSpPr>
        <p:spPr>
          <a:xfrm>
            <a:off x="4926175" y="1778375"/>
            <a:ext cx="2111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70C0"/>
                </a:solidFill>
              </a:rPr>
              <a:t>adaptable predictors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pic>
        <p:nvPicPr>
          <p:cNvPr id="25" name="그림 24" descr="\documentclass{article}&#10;\usepackage{amsmath}&#10;\pagestyle{empty}&#10;\begin{document}&#10;&#10;&#10;&#10;$$&#10;\mbox{(eg)}~~~&#10;d~=~\sum_i (y_i  - \hat{y}_i )^2 &#10;$$&#10;&#10;\end{document}" title="IguanaTex Bitmap Display">
            <a:extLst>
              <a:ext uri="{FF2B5EF4-FFF2-40B4-BE49-F238E27FC236}">
                <a16:creationId xmlns:a16="http://schemas.microsoft.com/office/drawing/2014/main" id="{FC2CE0A8-69C2-4419-A3DC-89BEA546B0D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08" y="3333816"/>
            <a:ext cx="2721527" cy="540950"/>
          </a:xfrm>
          <a:prstGeom prst="rect">
            <a:avLst/>
          </a:prstGeom>
        </p:spPr>
      </p:pic>
      <p:pic>
        <p:nvPicPr>
          <p:cNvPr id="31" name="그림 30" descr="\documentclass{article}&#10;\usepackage{amsmath}&#10;\pagestyle{empty}&#10;\begin{document}&#10;&#10;&#10;&#10;$$&#10;{\boldsymbol r}~=~ -2 \, ( {\boldsymbol y} - \hat{\boldsymbol y} )&#10;$$&#10;&#10;\end{document}" title="IguanaTex Bitmap Display">
            <a:extLst>
              <a:ext uri="{FF2B5EF4-FFF2-40B4-BE49-F238E27FC236}">
                <a16:creationId xmlns:a16="http://schemas.microsoft.com/office/drawing/2014/main" id="{7AB18D52-449C-406F-8344-6263C1B308A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867" y="3408717"/>
            <a:ext cx="1916952" cy="25447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33F2DB2-F928-43B3-82EA-E1F47D20E1A4}"/>
              </a:ext>
            </a:extLst>
          </p:cNvPr>
          <p:cNvSpPr txBox="1"/>
          <p:nvPr/>
        </p:nvSpPr>
        <p:spPr>
          <a:xfrm>
            <a:off x="4926175" y="2465373"/>
            <a:ext cx="2571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</a:rPr>
              <a:t>gradient</a:t>
            </a:r>
            <a:r>
              <a:rPr lang="en-US" altLang="ko-KR" sz="1600" dirty="0"/>
              <a:t>,</a:t>
            </a:r>
            <a:r>
              <a:rPr lang="en-US" altLang="ko-KR" sz="1600" dirty="0">
                <a:solidFill>
                  <a:srgbClr val="C00000"/>
                </a:solidFill>
              </a:rPr>
              <a:t> </a:t>
            </a:r>
            <a:r>
              <a:rPr lang="en-US" altLang="ko-KR" sz="1600" dirty="0">
                <a:solidFill>
                  <a:srgbClr val="7030A0"/>
                </a:solidFill>
              </a:rPr>
              <a:t>pseudo-residual</a:t>
            </a:r>
            <a:endParaRPr lang="ko-KR" altLang="en-US" sz="1600" dirty="0">
              <a:solidFill>
                <a:srgbClr val="7030A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C83608-F515-4B52-816C-34818331BA2D}"/>
              </a:ext>
            </a:extLst>
          </p:cNvPr>
          <p:cNvSpPr txBox="1"/>
          <p:nvPr/>
        </p:nvSpPr>
        <p:spPr>
          <a:xfrm>
            <a:off x="3357061" y="3995461"/>
            <a:ext cx="5089598" cy="7833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70C0"/>
                </a:solidFill>
              </a:rPr>
              <a:t>- set predictor to gradient, with each base predictor.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70C0"/>
                </a:solidFill>
              </a:rPr>
              <a:t>- use OLS to set adaptable predictors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pic>
        <p:nvPicPr>
          <p:cNvPr id="67" name="그림 66" descr="\documentclass{article}&#10;\usepackage{amsmath}&#10;\pagestyle{empty}&#10;\begin{document}&#10;&#10;&#10;&#10;$$&#10;\rho_* ~=~ \mbox{arg\,min}_{\rho} \,\, d({\boldsymbol y} ,\hat{{\boldsymbol y}}^{(r)} + \rho \, \hat{\boldsymbol r}_{b_r} ) &#10;$$&#10;&#10;\end{document}" title="IguanaTex Bitmap Display">
            <a:extLst>
              <a:ext uri="{FF2B5EF4-FFF2-40B4-BE49-F238E27FC236}">
                <a16:creationId xmlns:a16="http://schemas.microsoft.com/office/drawing/2014/main" id="{52F004C0-8623-4A2A-A6D0-2A8C156F630F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011121"/>
            <a:ext cx="3594668" cy="350474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C5708EC5-4880-43C2-9967-BFBC241AB113}"/>
              </a:ext>
            </a:extLst>
          </p:cNvPr>
          <p:cNvSpPr txBox="1"/>
          <p:nvPr/>
        </p:nvSpPr>
        <p:spPr>
          <a:xfrm>
            <a:off x="2987824" y="5665556"/>
            <a:ext cx="5973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7030A0"/>
                </a:solidFill>
              </a:rPr>
              <a:t>iteratively add, optimally scale adjusted predicted gradient.  </a:t>
            </a:r>
            <a:endParaRPr lang="ko-KR" alt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4079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C738F11-8DFA-4A9A-8C50-1E0BC0CA6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628800"/>
            <a:ext cx="7239583" cy="312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18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0E8C1BE-FE54-444D-AB06-5E6018AC3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16632"/>
            <a:ext cx="4392488" cy="664303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3F4544-C8BB-4541-B576-396ACF3A3B85}"/>
              </a:ext>
            </a:extLst>
          </p:cNvPr>
          <p:cNvSpPr txBox="1"/>
          <p:nvPr/>
        </p:nvSpPr>
        <p:spPr>
          <a:xfrm>
            <a:off x="5652120" y="1053790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2001, AS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864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7510" y="3023326"/>
            <a:ext cx="6531340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40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&gt;&gt;&gt; quit()   # Thank you !</a:t>
            </a:r>
            <a:endParaRPr kumimoji="0" lang="ko-KR" altLang="en-US" sz="405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856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.7342"/>
  <p:tag name="ORIGINALWIDTH" val="2284.215"/>
  <p:tag name="LATEXADDIN" val="\documentclass{article}&#10;\usepackage{amsmath}&#10;\pagestyle{empty}&#10;\begin{document}&#10;&#10;&#10;&#10;New data :  $D^* = \{(y_i^* , {\boldsymbol x}_i^* ) | i=1,2, \ldots, n \} &#10;$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937.008"/>
  <p:tag name="LATEXADDIN" val="\documentclass{article}&#10;\usepackage{amsmath}&#10;\pagestyle{empty}&#10;\begin{document}&#10;&#10;&#10;&#10;Data :  $D= \{(y_i , {\boldsymbol x}_i ) | i=1,2, \ldots, n \} &#10;$&#10;&#10;\end{document}"/>
  <p:tag name="IGUANATEXSIZE" val="20"/>
  <p:tag name="IGUANATEXCURSOR" val="14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380.577"/>
  <p:tag name="LATEXADDIN" val="\documentclass{article}&#10;\usepackage{amsmath}&#10;\usepackage[utf8]{inputenc}&#10;\usepackage{kotex}&#10;\pagestyle{empty}&#10;\newcommand\bs{\boldsymbol}&#10;\begin{document}&#10;&#10;$$&#10;SSE^*({\hat {\bs \mu}})  =  &#10;\sum_{i=1}^n (y_i^* - {\hat \mu}_i )^2 $$&#10;&#10;&#10;\end{document}"/>
  <p:tag name="IGUANATEXSIZE" val="20"/>
  <p:tag name="IGUANATEXCURSOR" val="22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901.387"/>
  <p:tag name="LATEXADDIN" val="\documentclass{article}&#10;\usepackage{amsmath}&#10;\pagestyle{empty}&#10;\begin{document}&#10;&#10;&#10;$$&#10;-2 \log p(D^* | \hat{\boldsymbol \theta})&#10;~\approx~ -2 \log p(D | \hat{\boldsymbol \theta}) + 2 \, df({\boldsymbol \theta})~~=~~\mbox{AIC}&#10;$$&#10;&#10;\end{document}"/>
  <p:tag name="IGUANATEXSIZE" val="20"/>
  <p:tag name="IGUANATEXCURSOR" val="22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9.2164"/>
  <p:tag name="ORIGINALWIDTH" val="2230.971"/>
  <p:tag name="LATEXADDIN" val="\documentclass{article}&#10;\usepackage{amsmath}&#10;\pagestyle{empty}&#10;\begin{document}&#10;&#10;&#10;$$&#10;\mbox{Ridge}: ~~\qquad \sum_i (y_i -{\boldsymbol x}_i {\boldsymbol \beta})^2 + \lambda \sum_l |\beta_l|^2 $$&#10;&#10;\end{document}"/>
  <p:tag name="IGUANATEXSIZE" val="20"/>
  <p:tag name="IGUANATEXCURSOR" val="18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9.2164"/>
  <p:tag name="ORIGINALWIDTH" val="2161.98"/>
  <p:tag name="LATEXADDIN" val="\documentclass{article}&#10;\usepackage{amsmath}&#10;\pagestyle{empty}&#10;\begin{document}&#10;&#10;&#10;$$&#10;\mbox{LASSO}: \qquad \sum_i (y_i -{\boldsymbol x}_i {\boldsymbol \beta})^2 + \lambda \sum_l |\beta_l |&#10;$$&#10;&#10;\end{document}"/>
  <p:tag name="IGUANATEXSIZE" val="20"/>
  <p:tag name="IGUANATEXCURSOR" val="16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2416.948"/>
  <p:tag name="LATEXADDIN" val="\documentclass{article}&#10;\usepackage{amsmath}&#10;\pagestyle{empty}&#10;\begin{document}&#10;&#10;&#10;$$&#10;\mbox{Ridge}: ~~\qquad -2 \, \log \, p(D| {\boldsymbol \beta}) + \lambda \sum_{l: |\beta_l|&gt;0 } |\beta_l|^2 $$&#10;&#10;\end{document}"/>
  <p:tag name="IGUANATEXSIZE" val="20"/>
  <p:tag name="IGUANATEXCURSOR" val="17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2368.954"/>
  <p:tag name="LATEXADDIN" val="\documentclass{article}&#10;\usepackage{amsmath}&#10;\pagestyle{empty}&#10;\begin{document}&#10;&#10;&#10;$$&#10;\mbox{LASSO}: \qquad -2 \, \log \, p(D| {\boldsymbol \beta}) + \lambda \sum_{l: |\beta_l|&gt;0 } |\beta_l |^1&#10;$$&#10;&#10;\end{document}"/>
  <p:tag name="IGUANATEXSIZE" val="20"/>
  <p:tag name="IGUANATEXCURSOR" val="14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2374.953"/>
  <p:tag name="LATEXADDIN" val="\documentclass{article}&#10;\usepackage{amsmath}&#10;\pagestyle{empty}&#10;\begin{document}&#10;&#10;&#10;$$&#10;\mbox{AIC}: ~~~\qquad -2 \, \log \, p(D| {\boldsymbol \beta}) + \lambda \sum_{l: |\beta_l|&gt;0 } |\beta_l |^0&#10;$$&#10;&#10;\end{document}"/>
  <p:tag name="IGUANATEXSIZE" val="20"/>
  <p:tag name="IGUANATEXCURSOR" val="10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9.2164"/>
  <p:tag name="ORIGINALWIDTH" val="2257.968"/>
  <p:tag name="LATEXADDIN" val="\documentclass{article}&#10;\usepackage{amsmath}&#10;\pagestyle{empty}&#10;\begin{document}&#10;&#10;&#10;$$&#10;\mbox{Ridge}: ~~\qquad -2 \, \log \, p(D| {\boldsymbol \beta}) + \lambda \sum_l |\beta_l|^2 $$&#10;&#10;\end{document}"/>
  <p:tag name="IGUANATEXSIZE" val="20"/>
  <p:tag name="IGUANATEXCURSOR" val="16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281.215"/>
  <p:tag name="LATEXADDIN" val="\documentclass{article}&#10;\usepackage{amsmath}&#10;\pagestyle{empty}&#10;\begin{document}&#10;&#10;&#10;$$&#10;\mbox{AIC}: \qquad \quad ~ -2 \, \log \, p(D| \hat{\boldsymbol \beta}) + 2 \cdot df( M_\lambda )&#10;$$&#10;&#10;\end{document}"/>
  <p:tag name="IGUANATEXSIZE" val="20"/>
  <p:tag name="IGUANATEXCURSOR" val="13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1793.026"/>
  <p:tag name="LATEXADDIN" val="\documentclass{article}&#10;\usepackage{amsmath}&#10;\pagestyle{empty}&#10;\begin{document}&#10;&#10;&#10;$$&#10;df(M_\lambda) = tr( (X'X +\lambda I)^{-1} X'X ) &#10;$$&#10;&#10;\end{document}"/>
  <p:tag name="IGUANATEXSIZE" val="20"/>
  <p:tag name="IGUANATEXCURSOR" val="9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546.682"/>
  <p:tag name="LATEXADDIN" val="\documentclass{article}&#10;\usepackage{amsmath}&#10;\pagestyle{empty}&#10;\begin{document}&#10;&#10;&#10;$$&#10;\mbox{BIC}: \qquad \quad ~ -2 \, \log \, p(D| \hat{\boldsymbol \beta}) + \log(n) \cdot df( M_\lambda )&#10;$$&#10;&#10;\end{document}"/>
  <p:tag name="IGUANATEXSIZE" val="20"/>
  <p:tag name="IGUANATEXCURSOR" val="13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9.2164"/>
  <p:tag name="ORIGINALWIDTH" val="2209.974"/>
  <p:tag name="LATEXADDIN" val="\documentclass{article}&#10;\usepackage{amsmath}&#10;\pagestyle{empty}&#10;\begin{document}&#10;&#10;&#10;$$&#10;\mbox{LASSO}: \qquad -2 \, \log \, p(D| {\boldsymbol \beta}) + \lambda \sum_l |\beta_l|^1 $$&#10;&#10;\end{document}"/>
  <p:tag name="IGUANATEXSIZE" val="20"/>
  <p:tag name="IGUANATEXCURSOR" val="9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598.425"/>
  <p:tag name="LATEXADDIN" val="\documentclass{article}&#10;\usepackage{amsmath}&#10;\pagestyle{empty}&#10;\begin{document}&#10;&#10;&#10;$$&#10;df(M_\lambda) = \mbox{the numer of nonzero elements of $\hat{\beta}_\lambda$s }&#10;$$&#10;&#10;\end{document}"/>
  <p:tag name="IGUANATEXSIZE" val="20"/>
  <p:tag name="IGUANATEXCURSOR" val="16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3572.553"/>
  <p:tag name="LATEXADDIN" val="\documentclass{article}&#10;\usepackage{amsmath}&#10;\pagestyle{empty}&#10;\begin{document}&#10;&#10;&#10;$$&#10; -2 \, \log \, p(D| {\boldsymbol \beta}) \,\,- \frac{n}{2} \, \log(2 \pi \sigma^2 ) ~~=~~ \frac1{\sigma^2} \sum_i^n  (y_i - \mu_i )^2 ~~~\sim ~~~\chi^2(n)&#10;$$&#10;&#10;\end{document}"/>
  <p:tag name="IGUANATEXSIZE" val="18"/>
  <p:tag name="IGUANATEXCURSOR" val="22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4001.5"/>
  <p:tag name="LATEXADDIN" val="\documentclass{article}&#10;\usepackage{amsmath}&#10;\pagestyle{empty}&#10;\begin{document}&#10;&#10;&#10;$$&#10; -2 \, \log \, p(D| \hat{\boldsymbol \beta}) \,\,- \frac{n}{2} \, \log(2 \pi \sigma^2 ) ~~=~~ \frac1{\sigma^2} \sum_i^n  (y_i - \hat{\mu}_i )^2 ~~~\sim ~~~\chi^2(n-p-1)&#10;$$&#10;&#10;\end{document}"/>
  <p:tag name="IGUANATEXSIZE" val="18"/>
  <p:tag name="IGUANATEXCURSOR" val="25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601.425"/>
  <p:tag name="LATEXADDIN" val="\documentclass{article}&#10;\usepackage{amsmath}&#10;\pagestyle{empty}&#10;\begin{document}&#10;&#10;&#10;$$&#10;D({\boldsymbol \beta}) ~= ~ \left \{ -2 \, \log \, p(D| {\boldsymbol \beta}) \right \} &#10;\,\,- \,\, &#10;\left \{ -2 \, \log \, p(D | {\boldsymbol y} ) \right \}&#10;$$&#10;&#10;\end{document}"/>
  <p:tag name="IGUANATEXSIZE" val="18"/>
  <p:tag name="IGUANATEXCURSOR" val="24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2355.455"/>
  <p:tag name="LATEXADDIN" val="\documentclass{article}&#10;\usepackage{amsmath}&#10;\pagestyle{empty}&#10;\begin{document}&#10;&#10;&#10;$$&#10;df(M) ~=~ E[ D({\boldsymbol \beta}) ] ~-~&#10;E[ D(\hat{\boldsymbol \beta}) ] ~=~ (p+1)&#10;$$&#10;&#10;\end{document}"/>
  <p:tag name="IGUANATEXSIZE" val="18"/>
  <p:tag name="IGUANATEXCURSOR" val="16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9817"/>
  <p:tag name="ORIGINALWIDTH" val="1798.275"/>
  <p:tag name="LATEXADDIN" val="\documentclass{article}&#10;\usepackage{amsmath,mathabx}&#10;\pagestyle{empty}&#10;\begin{document}&#10;&#10;&#10;$$&#10;df(M) ~\simeq~ \widebar{D({\boldsymbol \beta}) } ~-~&#10; D(\bar{\boldsymbol \beta}) ~=~p_D&#10;$$&#10;&#10;\end{document}"/>
  <p:tag name="IGUANATEXSIZE" val="18"/>
  <p:tag name="IGUANATEXCURSOR" val="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1244.844"/>
  <p:tag name="LATEXADDIN" val="\documentclass{article}&#10;\usepackage{amsmath,mathabx}&#10;\pagestyle{empty}&#10;\begin{document}&#10;&#10;&#10;$$&#10;\mbox{ DIC }~~=~~ D( \bar{\boldsymbol \beta}) + 2 p_D&#10;$$&#10;&#10;\end{document}"/>
  <p:tag name="IGUANATEXSIZE" val="18"/>
  <p:tag name="IGUANATEXCURSOR" val="11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580.802"/>
  <p:tag name="LATEXADDIN" val="\documentclass{article}&#10;\usepackage{amsmath}&#10;\usepackage[utf8]{inputenc}&#10;\usepackage{kotex}&#10;\pagestyle{empty}&#10;\newcommand\bs{\boldsymbol}&#10;\begin{document}&#10;&#10;$$&#10;{\widehat{SSE}}^*({\hat {\bs \mu}})  =  &#10;\sum_{i=1}^n (y_i - {\hat \mu}_{i,(-i)} )^2 $$&#10;&#10;&#10;\end{document}"/>
  <p:tag name="IGUANATEXSIZE" val="20"/>
  <p:tag name="IGUANATEXCURSOR" val="17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.9828"/>
  <p:tag name="ORIGINALWIDTH" val="2055.493"/>
  <p:tag name="LATEXADDIN" val="\documentclass{article}&#10;\usepackage{amsmath}&#10;\usepackage[utf8]{inputenc}&#10;\usepackage{kotex}&#10;\newcommand\bs{\boldsymbol}&#10;\pagestyle{empty}&#10;\begin{document}&#10;&#10;$$&#10;D_{(-i)} = \{ (y_j , {\bs x}_j ) \, |  \, j \not = i ,\,\, j =1, \ldots, n \}&#10;$$&#10;&#10;&#10;\end{document}"/>
  <p:tag name="IGUANATEXSIZE" val="20"/>
  <p:tag name="IGUANATEXCURSOR" val="21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2317"/>
  <p:tag name="ORIGINALWIDTH" val="919.385"/>
  <p:tag name="LATEXADDIN" val="\documentclass{article}&#10;\usepackage{amsmath}&#10;\usepackage[utf8]{inputenc}&#10;\usepackage{kotex}&#10;\newcommand\bs{\boldsymbol}&#10;\pagestyle{empty}&#10;\begin{document}&#10;&#10;$$&#10;{\hat {\bs \mu}}_{(-i)} = {\hat {\bs \mu}}(D_{(-i)})&#10;$$&#10;&#10;&#10;\end{document}"/>
  <p:tag name="IGUANATEXSIZE" val="20"/>
  <p:tag name="IGUANATEXCURSOR" val="2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191.226"/>
  <p:tag name="LATEXADDIN" val="\documentclass{article}&#10;\usepackage{amsmath}&#10;\pagestyle{empty}&#10;\begin{document}&#10;&#10;&#10;$$&#10;\widehat{-2 \log p(D^* | \hat{\boldsymbol \theta})}&#10;~=~ \sum_{i=1}^n&#10;-2 \log \, p( y_i | \hat{\boldsymbol \theta}_{(-i)})&#10;$$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7.4541"/>
  <p:tag name="ORIGINALWIDTH" val="1811.024"/>
  <p:tag name="LATEXADDIN" val="\documentclass{article}&#10;\usepackage{amsmath}&#10;\usepackage[utf8]{inputenc}&#10;\usepackage{kotex}&#10;\pagestyle{empty}&#10;\newcommand\bs{\boldsymbol}&#10;\begin{document}&#10;&#10;$$&#10;{\widehat{SSE}}^*({\hat {\bs \mu}})  =  &#10;\sum_{j=1}^m \sum_{i \in V_j } (y_i - {\hat \mu}_i (T_j ) )^2 $$&#10;&#10;&#10;\end{document}"/>
  <p:tag name="IGUANATEXSIZE" val="20"/>
  <p:tag name="IGUANATEXCURSOR" val="25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7.4541"/>
  <p:tag name="ORIGINALWIDTH" val="2506.187"/>
  <p:tag name="LATEXADDIN" val="\documentclass{article}&#10;\usepackage{amsmath}&#10;\newcommand\bs{\boldsymbol}&#10;\pagestyle{empty}&#10;\begin{document}&#10;&#10;&#10;$$&#10;\widehat{-2 \, \log \, p(D^* | \hat{\boldsymbol \theta})}&#10;~=~ \sum_{j=1}^m \sum_{i \in V_j } -2 \,\log \, p( y_i | {\hat {\bs \theta}} (T_j ) )$$&#10;&#10;\end{document}"/>
  <p:tag name="IGUANATEXSIZE" val="20"/>
  <p:tag name="IGUANATEXCURSOR" val="24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.9846"/>
  <p:tag name="ORIGINALWIDTH" val="1295.088"/>
  <p:tag name="LATEXADDIN" val="\documentclass{article}&#10;\usepackage{amsmath}&#10;\usepackage[utf8]{inputenc}&#10;\usepackage{kotex}&#10;\newcommand\bs{\boldsymbol}&#10;\pagestyle{empty}&#10;\begin{document}&#10;&#10;$V_j$ : validation index set &#10;&#10;&#10;\end{document}"/>
  <p:tag name="IGUANATEXSIZE" val="20"/>
  <p:tag name="IGUANATEXCURSOR" val="16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.9846"/>
  <p:tag name="ORIGINALWIDTH" val="1193.101"/>
  <p:tag name="LATEXADDIN" val="\documentclass{article}&#10;\usepackage{amsmath}&#10;\usepackage[utf8]{inputenc}&#10;\usepackage{kotex}&#10;\newcommand\bs{\boldsymbol}&#10;\pagestyle{empty}&#10;\begin{document}&#10;&#10;$T_j$ : training index set &#10;&#10;&#10;\end{document}"/>
  <p:tag name="IGUANATEXSIZE" val="20"/>
  <p:tag name="IGUANATEXCURSOR" val="17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95.98803"/>
  <p:tag name="LATEXADDIN" val="\documentclass{article}&#10;\usepackage{amsmath}&#10;\pagestyle{empty}&#10;\begin{document}&#10;&#10;&#10;&#10;$D$&#10;&#10;\end{document}"/>
  <p:tag name="IGUANATEXSIZE" val="24"/>
  <p:tag name="IGUANATEXCURSOR" val="8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.7327"/>
  <p:tag name="ORIGINALWIDTH" val="1098.613"/>
  <p:tag name="LATEXADDIN" val="\documentclass{article}&#10;\usepackage{amsmath}&#10;\pagestyle{empty}&#10;\begin{document}&#10;&#10;&#10;&#10;$\tilde{D}_{b}, \quad b=1,2,\ldots,B&#10;$&#10;&#10;\end{document}"/>
  <p:tag name="IGUANATEXSIZE" val="24"/>
  <p:tag name="IGUANATEXCURSOR" val="10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1109.861"/>
  <p:tag name="LATEXADDIN" val="\documentclass{article}&#10;\usepackage{amsmath}&#10;\pagestyle{empty}&#10;\begin{document}&#10;&#10;&#10;&#10;$\tilde{D}_{b}^*, \quad b=1,2,\ldots,B&#10;$&#10;&#10;\end{document}"/>
  <p:tag name="IGUANATEXSIZE" val="24"/>
  <p:tag name="IGUANATEXCURSOR" val="10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95.98803"/>
  <p:tag name="LATEXADDIN" val="\documentclass{article}&#10;\usepackage{amsmath}&#10;\pagestyle{empty}&#10;\begin{document}&#10;&#10;&#10;&#10;$D$&#10;&#10;\end{document}"/>
  <p:tag name="IGUANATEXSIZE" val="24"/>
  <p:tag name="IGUANATEXCURSOR" val="8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&#10;$P&#10;$&#10;&#10;\end{document}"/>
  <p:tag name="IGUANATEXSIZE" val="24"/>
  <p:tag name="IGUANATEXCURSOR" val="8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145.4818"/>
  <p:tag name="LATEXADDIN" val="\documentclass{article}&#10;\usepackage{amsmath}&#10;\pagestyle{empty}&#10;\begin{document}&#10;&#10;&#10;&#10;$D^*$&#10;&#10;\end{document}"/>
  <p:tag name="IGUANATEXSIZE" val="24"/>
  <p:tag name="IGUANATEXCURSOR" val="8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937.008"/>
  <p:tag name="LATEXADDIN" val="\documentclass{article}&#10;\usepackage{amsmath}&#10;\pagestyle{empty}&#10;\begin{document}&#10;&#10;&#10;&#10;Data :  $D= \{(y_i , {\boldsymbol x}_i ) | i=1,2, \ldots, n \} &#10;$&#10;&#10;\end{document}"/>
  <p:tag name="IGUANATEXSIZE" val="20"/>
  <p:tag name="IGUANATEXCURSOR" val="14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2317"/>
  <p:tag name="ORIGINALWIDTH" val="1670.791"/>
  <p:tag name="LATEXADDIN" val="\documentclass{article}&#10;\usepackage{amsmath}&#10;\pagestyle{empty}&#10;\begin{document}&#10;&#10;&#10;&#10;${\tilde D}_b= \{( {\tilde y}_{bi} , {\tilde {\boldsymbol x}}_{bi} ) | i=1,2, \ldots, n \} &#10;$&#10;&#10;\end{document}"/>
  <p:tag name="IGUANATEXSIZE" val="20"/>
  <p:tag name="IGUANATEXCURSOR" val="14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8.7364"/>
  <p:tag name="ORIGINALWIDTH" val="865.3918"/>
  <p:tag name="LATEXADDIN" val="\documentclass{article}&#10;\usepackage{amsmath}&#10;\pagestyle{empty}&#10;\begin{document}&#10;&#10;&#10;&#10;Boostrap Data : &#10;&#10;\end{document}"/>
  <p:tag name="IGUANATEXSIZE" val="20"/>
  <p:tag name="IGUANATEXCURSOR" val="10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1681.29"/>
  <p:tag name="LATEXADDIN" val="\documentclass{article}&#10;\usepackage{amsmath}&#10;\pagestyle{empty}&#10;\begin{document}&#10;&#10;&#10;&#10;${\tilde D}_b^*= \{( {\tilde y}_{bi}^* , {\tilde {\boldsymbol x}}_{bi}^* ) | i=1,2, \ldots, n \} &#10;$&#10;&#10;\end{document}"/>
  <p:tag name="IGUANATEXSIZE" val="20"/>
  <p:tag name="IGUANATEXCURSOR" val="15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055.868"/>
  <p:tag name="LATEXADDIN" val="\documentclass{article}&#10;\usepackage{amsmath}&#10;\pagestyle{empty}&#10;\begin{document}&#10;&#10;&#10;&#10;$\{({\tilde y}_{bi} , {\tilde {\boldsymbol x}}_{bi} )\} &#10;$, and $\{({\tilde y}_{bi}^* , {\tilde {\boldsymbol x}}_{bi}^* )\}$ &#10;are random samples from $D$ 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536.558"/>
  <p:tag name="LATEXADDIN" val="\documentclass{article}&#10;\usepackage{amsmath}&#10;\pagestyle{empty}&#10;\begin{document}&#10;&#10;&#10;(sampling with replacement)&#10;&#10;\end{document}"/>
  <p:tag name="IGUANATEXSIZE" val="20"/>
  <p:tag name="IGUANATEXCURSOR" val="11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5.9543"/>
  <p:tag name="ORIGINALWIDTH" val="1964.004"/>
  <p:tag name="LATEXADDIN" val="\documentclass{article}&#10;\usepackage{amsmath}&#10;\newcommand\bs{\boldsymbol}&#10;\pagestyle{empty}&#10;\begin{document}&#10;&#10;&#10;$$&#10;{\widehat{SSE}}^*({\hat {\bs \mu}}) =&#10;\frac1{B} \sum_b^B  \sum_i^n ( {\tilde y}_{b i}^* - {\tilde {\boldsymbol x}}_{bi}^* \, \tilde{\boldsymbol \beta}_b)^2$$&#10;&#10;\end{document}"/>
  <p:tag name="IGUANATEXSIZE" val="20"/>
  <p:tag name="IGUANATEXCURSOR" val="23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.7312"/>
  <p:tag name="ORIGINALWIDTH" val="707.9115"/>
  <p:tag name="LATEXADDIN" val="\documentclass{article}&#10;\usepackage{amsmath}&#10;\pagestyle{empty}&#10;\begin{document}&#10;&#10;&#10;$&#10;\tilde{\boldsymbol \beta}_b ~=~\hat{\boldsymbol \beta}(\tilde{D}_{b})&#10;$ &#10;&#10;\end{document}"/>
  <p:tag name="IGUANATEXSIZE" val="20"/>
  <p:tag name="IGUANATEXCURSOR" val="9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5.9543"/>
  <p:tag name="ORIGINALWIDTH" val="2701.912"/>
  <p:tag name="LATEXADDIN" val="\documentclass{article}&#10;\usepackage{amsmath}&#10;\newcommand\bs{\boldsymbol} &#10;\pagestyle{empty}&#10;\begin{document}&#10;&#10;&#10;$$&#10;\widehat{-2 \, \log \, p(\, D^* \, | \, \hat{\bs \theta} \, )} ~~ = ~~ &#10;\frac1{B} \sum_b^B  \sum_i^n  (-2) \log \, p( {\tilde y}_{b i}^* |   \tilde{\boldsymbol \theta}_{b} )$$&#10;&#10;\end{document}"/>
  <p:tag name="IGUANATEXSIZE" val="20"/>
  <p:tag name="IGUANATEXCURSOR" val="17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5.9543"/>
  <p:tag name="ORIGINALWIDTH" val="1964.004"/>
  <p:tag name="LATEXADDIN" val="\documentclass{article}&#10;\usepackage{amsmath}&#10;\newcommand\bs{\boldsymbol}&#10;\pagestyle{empty}&#10;\begin{document}&#10;&#10;&#10;$$&#10;{\widehat{SSE}}^*({\hat {\bs \mu}}) =&#10;\frac1{B} \sum_b^B  \sum_i^n ( {\tilde y}_{b i}^* - {\tilde {\boldsymbol x}}_{bi}^* \, \tilde{\boldsymbol \beta}_b)^2$$&#10;&#10;\end{document}"/>
  <p:tag name="IGUANATEXSIZE" val="20"/>
  <p:tag name="IGUANATEXCURSOR" val="23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9.73"/>
  <p:tag name="ORIGINALWIDTH" val="773.1534"/>
  <p:tag name="LATEXADDIN" val="\documentclass{article}&#10;\usepackage{amsmath}&#10;\pagestyle{empty}&#10;\begin{document}&#10;&#10;&#10;$&#10;\tilde{\boldsymbol \beta}_+ ~=~\hat{\boldsymbol \beta}(\tilde{D}_{+})&#10;$ &#10;&#10;\end{document}"/>
  <p:tag name="IGUANATEXSIZE" val="20"/>
  <p:tag name="IGUANATEXCURSOR" val="1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.2317"/>
  <p:tag name="ORIGINALWIDTH" val="1551.556"/>
  <p:tag name="LATEXADDIN" val="\documentclass{article}&#10;\usepackage{amsmath}&#10;\pagestyle{empty}&#10;\begin{document}&#10;&#10;&#10;&#10;${\tilde D}_+  ~=~ \{ {\tilde D}_b \,| \, b=1, 2, \ldots, B \}&#10;$&#10;&#10;\end{document}"/>
  <p:tag name="IGUANATEXSIZE" val="20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9805"/>
  <p:tag name="ORIGINALWIDTH" val="1583.052"/>
  <p:tag name="LATEXADDIN" val="\documentclass{article}&#10;\usepackage{amsmath}&#10;\pagestyle{empty}&#10;\begin{document}&#10;&#10;&#10;&#10;${\tilde D}_+^*&#10;~=~ \{\, {\tilde D}_b^* \, | \, b=1, 2, \ldots, B &#10;\}&#10;$&#10;&#10;\end{document}"/>
  <p:tag name="IGUANATEXSIZE" val="20"/>
  <p:tag name="IGUANATEXCURSOR" val="14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8.9802"/>
  <p:tag name="ORIGINALWIDTH" val="876.6404"/>
  <p:tag name="LATEXADDIN" val="\documentclass{article}&#10;\usepackage{amsmath}&#10;\pagestyle{empty}&#10;\begin{document}&#10;&#10;&#10;$&#10;\tilde{\boldsymbol \beta}_+ ~=~&#10;\frac1{B}&#10;\sum_b \tilde{\boldsymbol \beta}_b&#10;$ &#10;&#10;\end{document}"/>
  <p:tag name="IGUANATEXSIZE" val="20"/>
  <p:tag name="IGUANATEXCURSOR" val="13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2306"/>
  <p:tag name="ORIGINALWIDTH" val="671.1661"/>
  <p:tag name="LATEXADDIN" val="\documentclass{article}&#10;\usepackage{amsmath}&#10;\pagestyle{empty}&#10;\begin{document}&#10;&#10;&#10;$&#10;\tilde{\boldsymbol y}_+ = &#10;\hat{\boldsymbol y}(\tilde{D}_{+})$ &#10;&#10;\end{document}"/>
  <p:tag name="IGUANATEXSIZE" val="20"/>
  <p:tag name="IGUANATEXCURSOR" val="14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774.6531"/>
  <p:tag name="LATEXADDIN" val="\documentclass{article}&#10;\usepackage{amsmath}&#10;\pagestyle{empty}&#10;\begin{document}&#10;&#10;&#10;$&#10;\tilde{\boldsymbol y}_+&#10;= \frac1{B}&#10;\sum_b \hat{\boldsymbol y}_b&#10;$ &#10;&#10;\end{document}"/>
  <p:tag name="IGUANATEXSIZE" val="20"/>
  <p:tag name="IGUANATEXCURSOR" val="10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669.6663"/>
  <p:tag name="LATEXADDIN" val="\documentclass{article}&#10;\usepackage{amsmath}&#10;\pagestyle{empty}&#10;\begin{document}&#10;&#10;&#10;&#10;$$&#10;d~=~ d({\boldsymbol y} ,\hat{{\boldsymbol y}} ) &#10;$$&#10;&#10;\end{document}"/>
  <p:tag name="IGUANATEXSIZE" val="20"/>
  <p:tag name="IGUANATEXCURSOR" val="13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4.2145"/>
  <p:tag name="ORIGINALWIDTH" val="481.4398"/>
  <p:tag name="LATEXADDIN" val="\documentclass{article}&#10;\usepackage{amsmath}&#10;\pagestyle{empty}&#10;\begin{document}&#10;&#10;&#10;&#10;$$&#10;{\boldsymbol r}~=~&#10;\frac{\partial d}{\partial \hat{\boldsymbol y} }&#10;$$&#10;&#10;\end{document}"/>
  <p:tag name="IGUANATEXSIZE" val="20"/>
  <p:tag name="IGUANATEXCURSOR" val="15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4807"/>
  <p:tag name="ORIGINALWIDTH" val="1304.087"/>
  <p:tag name="LATEXADDIN" val="\documentclass{article}&#10;\usepackage{amsmath}&#10;\pagestyle{empty}&#10;\begin{document}&#10;&#10;&#10;&#10;$&#10;\hat{\boldsymbol y}^{(r+1) }~=~ \hat{\boldsymbol y}^{(r) } \, \, + \,\rho_* \,\hat{{\boldsymbol r}}_{b_r}&#10;$&#10;&#10;\end{document}"/>
  <p:tag name="IGUANATEXSIZE" val="20"/>
  <p:tag name="IGUANATEXCURSOR" val="19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.4867"/>
  <p:tag name="ORIGINALWIDTH" val="592.4259"/>
  <p:tag name="LATEXADDIN" val="\documentclass{article}&#10;\usepackage{amsmath}&#10;\pagestyle{empty}&#10;\begin{document}&#10;&#10;&#10;&#10;$&#10;r= 1, 2, \ldots &#10;$&#10;&#10;\end{document}"/>
  <p:tag name="IGUANATEXSIZE" val="20"/>
  <p:tag name="IGUANATEXCURSOR" val="10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689.1639"/>
  <p:tag name="LATEXADDIN" val="\documentclass{article}&#10;\usepackage{amsmath}&#10;\pagestyle{empty}&#10;\begin{document}&#10;&#10;&#10;&#10;$$&#10;\hat{{\boldsymbol y}}_b ~=~ H_b ( {\boldsymbol y} )&#10;$$&#10;&#10;\end{document}"/>
  <p:tag name="IGUANATEXSIZE" val="20"/>
  <p:tag name="IGUANATEXCURSOR" val="13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584.177"/>
  <p:tag name="LATEXADDIN" val="\documentclass{article}&#10;\usepackage{amsmath}&#10;\pagestyle{empty}&#10;\begin{document}&#10;&#10;&#10;&#10;$&#10;b= 1, 2, \ldots &#10;$&#10;&#10;\end{document}"/>
  <p:tag name="IGUANATEXSIZE" val="20"/>
  <p:tag name="IGUANATEXCURSOR" val="8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93.4008"/>
  <p:tag name="LATEXADDIN" val="\documentclass{article}&#10;\usepackage{amsmath}&#10;\pagestyle{empty}&#10;\begin{document}&#10;&#10;&#10;&#10;$$&#10;\hat{\boldsymbol r}_{b_r}&#10;~=~ H_{b_r}  \, ( {\boldsymbol r} )&#10;$$&#10;&#10;\end{document}"/>
  <p:tag name="IGUANATEXSIZE" val="20"/>
  <p:tag name="IGUANATEXCURSOR" val="11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1339.333"/>
  <p:tag name="LATEXADDIN" val="\documentclass{article}&#10;\usepackage{amsmath}&#10;\pagestyle{empty}&#10;\begin{document}&#10;&#10;&#10;&#10;$$&#10;\mbox{(eg)}~~~&#10;d~=~\sum_i (y_i  - \hat{y}_i )^2 &#10;$$&#10;&#10;\end{document}"/>
  <p:tag name="IGUANATEXSIZE" val="20"/>
  <p:tag name="IGUANATEXCURSOR" val="10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43.382"/>
  <p:tag name="LATEXADDIN" val="\documentclass{article}&#10;\usepackage{amsmath}&#10;\pagestyle{empty}&#10;\begin{document}&#10;&#10;&#10;&#10;$$&#10;{\boldsymbol r}~=~ -2 \, ( {\boldsymbol y} - \hat{\boldsymbol y} )&#10;$$&#10;&#10;\end{document}"/>
  <p:tag name="IGUANATEXSIZE" val="20"/>
  <p:tag name="IGUANATEXCURSOR" val="10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2.4784"/>
  <p:tag name="ORIGINALWIDTH" val="1769.029"/>
  <p:tag name="LATEXADDIN" val="\documentclass{article}&#10;\usepackage{amsmath}&#10;\pagestyle{empty}&#10;\begin{document}&#10;&#10;&#10;&#10;$$&#10;\rho_* ~=~ \mbox{arg\,min}_{\rho} \,\, d({\boldsymbol y} ,\hat{{\boldsymbol y}}^{(r)} + \rho \, \hat{\boldsymbol r}_{b_r} ) &#10;$$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23644</TotalTime>
  <Words>280</Words>
  <Application>Microsoft Office PowerPoint</Application>
  <PresentationFormat>화면 슬라이드 쇼(4:3)</PresentationFormat>
  <Paragraphs>73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맑은 고딕</vt:lpstr>
      <vt:lpstr>Arial</vt:lpstr>
      <vt:lpstr>Book Antiqua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YD Lee</dc:creator>
  <cp:lastModifiedBy>YLee</cp:lastModifiedBy>
  <cp:revision>494</cp:revision>
  <dcterms:created xsi:type="dcterms:W3CDTF">2016-08-03T06:26:54Z</dcterms:created>
  <dcterms:modified xsi:type="dcterms:W3CDTF">2024-05-23T00:41:25Z</dcterms:modified>
</cp:coreProperties>
</file>