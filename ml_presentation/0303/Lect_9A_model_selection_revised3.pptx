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87" r:id="rId2"/>
    <p:sldId id="849" r:id="rId3"/>
    <p:sldId id="902" r:id="rId4"/>
    <p:sldId id="972" r:id="rId5"/>
    <p:sldId id="941" r:id="rId6"/>
    <p:sldId id="978" r:id="rId7"/>
    <p:sldId id="943" r:id="rId8"/>
    <p:sldId id="944" r:id="rId9"/>
    <p:sldId id="975" r:id="rId10"/>
    <p:sldId id="977" r:id="rId11"/>
    <p:sldId id="400" r:id="rId12"/>
    <p:sldId id="406" r:id="rId13"/>
    <p:sldId id="942" r:id="rId14"/>
    <p:sldId id="945" r:id="rId15"/>
    <p:sldId id="946" r:id="rId16"/>
    <p:sldId id="971" r:id="rId17"/>
    <p:sldId id="895" r:id="rId18"/>
    <p:sldId id="950" r:id="rId19"/>
    <p:sldId id="498" r:id="rId20"/>
    <p:sldId id="911" r:id="rId21"/>
    <p:sldId id="948" r:id="rId22"/>
    <p:sldId id="499" r:id="rId23"/>
    <p:sldId id="947" r:id="rId24"/>
    <p:sldId id="959" r:id="rId25"/>
    <p:sldId id="970" r:id="rId26"/>
    <p:sldId id="981" r:id="rId27"/>
    <p:sldId id="958" r:id="rId28"/>
    <p:sldId id="954" r:id="rId29"/>
    <p:sldId id="916" r:id="rId30"/>
    <p:sldId id="957" r:id="rId31"/>
    <p:sldId id="956" r:id="rId32"/>
    <p:sldId id="940" r:id="rId33"/>
    <p:sldId id="982" r:id="rId34"/>
    <p:sldId id="955" r:id="rId35"/>
    <p:sldId id="967" r:id="rId36"/>
    <p:sldId id="938" r:id="rId37"/>
    <p:sldId id="384" r:id="rId38"/>
    <p:sldId id="980" r:id="rId39"/>
    <p:sldId id="949" r:id="rId40"/>
    <p:sldId id="953" r:id="rId41"/>
    <p:sldId id="951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2" autoAdjust="0"/>
    <p:restoredTop sz="97267" autoAdjust="0"/>
  </p:normalViewPr>
  <p:slideViewPr>
    <p:cSldViewPr>
      <p:cViewPr varScale="1">
        <p:scale>
          <a:sx n="112" d="100"/>
          <a:sy n="112" d="100"/>
        </p:scale>
        <p:origin x="64" y="7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64"/>
    </p:cViewPr>
  </p:sorterViewPr>
  <p:notesViewPr>
    <p:cSldViewPr>
      <p:cViewPr varScale="1">
        <p:scale>
          <a:sx n="107" d="100"/>
          <a:sy n="107" d="100"/>
        </p:scale>
        <p:origin x="-17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37D1B-640F-40DD-AC1E-17DE6F4A5DEE}" type="datetimeFigureOut">
              <a:rPr lang="ko-KR" altLang="en-US" smtClean="0"/>
              <a:pPr/>
              <a:t>2024-10-30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56CF1-9951-4424-B3C7-C51F72A3A11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36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156C9-D11F-451E-9ADC-AF9E3AB845E0}" type="datetimeFigureOut">
              <a:rPr lang="ko-KR" altLang="en-US" smtClean="0"/>
              <a:pPr/>
              <a:t>2024-10-30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2AC10-E66F-4F63-AB91-51BA5272E8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13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62AC10-E66F-4F63-AB91-51BA5272E84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0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6324" name="날짜 개체 틀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6325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D48B9C-373F-4932-8CA5-B9093724044F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98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94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37BF804A-397B-4F3F-99DF-36A8FFBD5E4D}" type="datetimeFigureOut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6858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2024-10-30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ED56058-C64B-4BBB-A9CC-29748C203E36}" type="slidenum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6858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0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42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Book Antiqua" panose="0204060205030503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1pPr>
      <a:lvl2pPr marL="74295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tags" Target="../tags/tag5.xml"/><Relationship Id="rId21" Type="http://schemas.openxmlformats.org/officeDocument/2006/relationships/image" Target="../media/image12.png"/><Relationship Id="rId7" Type="http://schemas.openxmlformats.org/officeDocument/2006/relationships/tags" Target="../tags/tag9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8.png"/><Relationship Id="rId2" Type="http://schemas.openxmlformats.org/officeDocument/2006/relationships/tags" Target="../tags/tag4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10" Type="http://schemas.openxmlformats.org/officeDocument/2006/relationships/tags" Target="../tags/tag12.xml"/><Relationship Id="rId19" Type="http://schemas.openxmlformats.org/officeDocument/2006/relationships/image" Target="../media/image10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1.xml"/><Relationship Id="rId7" Type="http://schemas.openxmlformats.org/officeDocument/2006/relationships/image" Target="../media/image16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tags" Target="../tags/tag24.xml"/><Relationship Id="rId16" Type="http://schemas.openxmlformats.org/officeDocument/2006/relationships/image" Target="../media/image27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2.png"/><Relationship Id="rId5" Type="http://schemas.openxmlformats.org/officeDocument/2006/relationships/tags" Target="../tags/tag27.xml"/><Relationship Id="rId15" Type="http://schemas.openxmlformats.org/officeDocument/2006/relationships/image" Target="../media/image26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0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tags" Target="../tags/tag33.xml"/><Relationship Id="rId16" Type="http://schemas.openxmlformats.org/officeDocument/2006/relationships/image" Target="../media/image36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31.png"/><Relationship Id="rId5" Type="http://schemas.openxmlformats.org/officeDocument/2006/relationships/tags" Target="../tags/tag36.xml"/><Relationship Id="rId15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39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44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49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image" Target="../media/image52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7" Type="http://schemas.openxmlformats.org/officeDocument/2006/relationships/image" Target="../media/image54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tags" Target="../tags/tag59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59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image" Target="../media/image58.png"/><Relationship Id="rId5" Type="http://schemas.openxmlformats.org/officeDocument/2006/relationships/tags" Target="../tags/tag61.xml"/><Relationship Id="rId10" Type="http://schemas.openxmlformats.org/officeDocument/2006/relationships/image" Target="../media/image57.png"/><Relationship Id="rId4" Type="http://schemas.openxmlformats.org/officeDocument/2006/relationships/tags" Target="../tags/tag60.xml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67.xml"/><Relationship Id="rId7" Type="http://schemas.openxmlformats.org/officeDocument/2006/relationships/image" Target="../media/image64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67.png"/><Relationship Id="rId4" Type="http://schemas.openxmlformats.org/officeDocument/2006/relationships/tags" Target="../tags/tag68.xml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tags" Target="../tags/tag71.xml"/><Relationship Id="rId7" Type="http://schemas.openxmlformats.org/officeDocument/2006/relationships/image" Target="../media/image68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72.png"/><Relationship Id="rId5" Type="http://schemas.openxmlformats.org/officeDocument/2006/relationships/tags" Target="../tags/tag73.xml"/><Relationship Id="rId10" Type="http://schemas.openxmlformats.org/officeDocument/2006/relationships/image" Target="../media/image71.png"/><Relationship Id="rId4" Type="http://schemas.openxmlformats.org/officeDocument/2006/relationships/tags" Target="../tags/tag72.xml"/><Relationship Id="rId9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5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tags" Target="../tags/tag79.xml"/><Relationship Id="rId7" Type="http://schemas.openxmlformats.org/officeDocument/2006/relationships/image" Target="../media/image77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76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7" Type="http://schemas.openxmlformats.org/officeDocument/2006/relationships/image" Target="../media/image8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tags" Target="../tags/tag89.xml"/><Relationship Id="rId7" Type="http://schemas.openxmlformats.org/officeDocument/2006/relationships/image" Target="../media/image57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88.png"/><Relationship Id="rId5" Type="http://schemas.openxmlformats.org/officeDocument/2006/relationships/tags" Target="../tags/tag91.xml"/><Relationship Id="rId10" Type="http://schemas.openxmlformats.org/officeDocument/2006/relationships/image" Target="../media/image87.png"/><Relationship Id="rId4" Type="http://schemas.openxmlformats.org/officeDocument/2006/relationships/tags" Target="../tags/tag90.xml"/><Relationship Id="rId9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tags" Target="../tags/tag97.xml"/><Relationship Id="rId7" Type="http://schemas.openxmlformats.org/officeDocument/2006/relationships/image" Target="../media/image93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9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8.xml"/><Relationship Id="rId9" Type="http://schemas.openxmlformats.org/officeDocument/2006/relationships/image" Target="../media/image9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tags" Target="../tags/tag101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97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../media/image96.png"/><Relationship Id="rId5" Type="http://schemas.openxmlformats.org/officeDocument/2006/relationships/tags" Target="../tags/tag103.xml"/><Relationship Id="rId10" Type="http://schemas.openxmlformats.org/officeDocument/2006/relationships/image" Target="../media/image94.png"/><Relationship Id="rId4" Type="http://schemas.openxmlformats.org/officeDocument/2006/relationships/tags" Target="../tags/tag102.xml"/><Relationship Id="rId9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3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image" Target="../media/image102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101.png"/><Relationship Id="rId5" Type="http://schemas.openxmlformats.org/officeDocument/2006/relationships/tags" Target="../tags/tag110.xml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tags" Target="../tags/tag109.xml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107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100.png"/><Relationship Id="rId17" Type="http://schemas.openxmlformats.org/officeDocument/2006/relationships/image" Target="../media/image111.png"/><Relationship Id="rId2" Type="http://schemas.openxmlformats.org/officeDocument/2006/relationships/tags" Target="../tags/tag114.xml"/><Relationship Id="rId16" Type="http://schemas.openxmlformats.org/officeDocument/2006/relationships/image" Target="../media/image110.pn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106.png"/><Relationship Id="rId5" Type="http://schemas.openxmlformats.org/officeDocument/2006/relationships/tags" Target="../tags/tag117.xml"/><Relationship Id="rId15" Type="http://schemas.openxmlformats.org/officeDocument/2006/relationships/image" Target="../media/image109.png"/><Relationship Id="rId10" Type="http://schemas.openxmlformats.org/officeDocument/2006/relationships/image" Target="../media/image99.png"/><Relationship Id="rId4" Type="http://schemas.openxmlformats.org/officeDocument/2006/relationships/tags" Target="../tags/tag116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0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7" Type="http://schemas.openxmlformats.org/officeDocument/2006/relationships/image" Target="../media/image114.pn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tags" Target="../tags/tag126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19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118.png"/><Relationship Id="rId5" Type="http://schemas.openxmlformats.org/officeDocument/2006/relationships/tags" Target="../tags/tag128.xml"/><Relationship Id="rId10" Type="http://schemas.openxmlformats.org/officeDocument/2006/relationships/image" Target="../media/image117.png"/><Relationship Id="rId4" Type="http://schemas.openxmlformats.org/officeDocument/2006/relationships/tags" Target="../tags/tag127.xml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6815" y="2924944"/>
            <a:ext cx="3330370" cy="648074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418516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91ACC6-04FF-49E9-A9A1-B794460AD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0"/>
            <a:ext cx="501700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40">
            <a:extLst>
              <a:ext uri="{FF2B5EF4-FFF2-40B4-BE49-F238E27FC236}">
                <a16:creationId xmlns:a16="http://schemas.microsoft.com/office/drawing/2014/main" id="{F4E0E856-2ACE-451E-A41D-3AD62079C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3395" y="2564904"/>
            <a:ext cx="34372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400" dirty="0">
                <a:solidFill>
                  <a:srgbClr val="C00000"/>
                </a:solidFill>
                <a:latin typeface="Book Antiqua" pitchFamily="18" charset="0"/>
              </a:rPr>
              <a:t>참고</a:t>
            </a:r>
            <a:r>
              <a:rPr lang="en-US" altLang="ko-KR" sz="2400" dirty="0">
                <a:solidFill>
                  <a:srgbClr val="C00000"/>
                </a:solidFill>
                <a:latin typeface="Book Antiqua" pitchFamily="18" charset="0"/>
              </a:rPr>
              <a:t>:  RDA pp. </a:t>
            </a:r>
            <a:r>
              <a:rPr lang="en-US" altLang="ko-KR" sz="2400" b="1" dirty="0">
                <a:solidFill>
                  <a:srgbClr val="C00000"/>
                </a:solidFill>
                <a:latin typeface="Book Antiqua" pitchFamily="18" charset="0"/>
              </a:rPr>
              <a:t>240 -242</a:t>
            </a:r>
          </a:p>
        </p:txBody>
      </p:sp>
    </p:spTree>
    <p:extLst>
      <p:ext uri="{BB962C8B-B14F-4D97-AF65-F5344CB8AC3E}">
        <p14:creationId xmlns:p14="http://schemas.microsoft.com/office/powerpoint/2010/main" val="97572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 descr="\documentclass{article}&#10;\usepackage{amsmath}&#10;\pagestyle{empty}&#10;\begin{document}&#10;&#10;&#10;&#10;New data :  $D^* = \{(y_i^* , {\boldsymbol x}_i^*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F41BD009-C016-414C-9418-CA9D130C63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93" y="3429000"/>
            <a:ext cx="4641524" cy="257523"/>
          </a:xfrm>
          <a:prstGeom prst="rect">
            <a:avLst/>
          </a:prstGeom>
        </p:spPr>
      </p:pic>
      <p:pic>
        <p:nvPicPr>
          <p:cNvPr id="45" name="그림 44" descr="\documentclass{article}&#10;\usepackage{amsmath}&#10;\pagestyle{empty}&#10;\begin{document}&#10;&#10;&#10;&#10;Data :  $D= \{(y_i , {\boldsymbol x}_i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A0BF3816-D66D-403A-948E-AFA4B63008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93" y="2432723"/>
            <a:ext cx="3936000" cy="2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7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BE2A756D-D58F-4536-8E9E-9C0CF57E22E0}"/>
              </a:ext>
            </a:extLst>
          </p:cNvPr>
          <p:cNvSpPr/>
          <p:nvPr/>
        </p:nvSpPr>
        <p:spPr>
          <a:xfrm rot="16200000">
            <a:off x="2771800" y="453015"/>
            <a:ext cx="288032" cy="30243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\documentclass{article}&#10;\usepackage{amsmath}&#10;\pagestyle{empty}&#10;\begin{document}&#10;&#10;&#10;$$&#10;\hat{\boldsymbol \beta}&#10;$$&#10;&#10;\end{document}" title="IguanaTex Bitmap Display">
            <a:extLst>
              <a:ext uri="{FF2B5EF4-FFF2-40B4-BE49-F238E27FC236}">
                <a16:creationId xmlns:a16="http://schemas.microsoft.com/office/drawing/2014/main" id="{30B1173E-DC33-4BD6-9D71-A22D5119DB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292" y="2214407"/>
            <a:ext cx="163048" cy="291046"/>
          </a:xfrm>
          <a:prstGeom prst="rect">
            <a:avLst/>
          </a:prstGeom>
        </p:spPr>
      </p:pic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02FE48AF-02C3-4A18-A63A-C31905349940}"/>
              </a:ext>
            </a:extLst>
          </p:cNvPr>
          <p:cNvSpPr/>
          <p:nvPr/>
        </p:nvSpPr>
        <p:spPr>
          <a:xfrm rot="16200000">
            <a:off x="2771800" y="1412822"/>
            <a:ext cx="288032" cy="30243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\documentclass{article}&#10;\usepackage{amsmath}&#10;\pagestyle{empty}&#10;\begin{document}&#10;&#10;&#10;$$&#10;\hat{y} = \hat{\mu} = {\boldsymbol x} \hat{\boldsymbol \beta}&#10;$$&#10;&#10;\end{document}" title="IguanaTex Bitmap Display">
            <a:extLst>
              <a:ext uri="{FF2B5EF4-FFF2-40B4-BE49-F238E27FC236}">
                <a16:creationId xmlns:a16="http://schemas.microsoft.com/office/drawing/2014/main" id="{D17AD848-717A-410B-84F6-31AFD2D9C68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529" y="3213023"/>
            <a:ext cx="1287622" cy="297142"/>
          </a:xfrm>
          <a:prstGeom prst="rect">
            <a:avLst/>
          </a:prstGeom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88E3BE8-6C50-4BED-A633-2666C88AD98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03648" y="1309114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393463761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7897445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73345951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95852413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01475795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13553440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66305555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20621563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72657085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14392210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67336977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89321968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54187217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9758355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4183085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70692272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23975521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28101595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16306628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20761480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90515864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18217032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411869298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459510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C0C0C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66726"/>
                  </a:ext>
                </a:extLst>
              </a:tr>
            </a:tbl>
          </a:graphicData>
        </a:graphic>
      </p:graphicFrame>
      <p:pic>
        <p:nvPicPr>
          <p:cNvPr id="32" name="그림 31" descr="\documentclass{article}&#10;\usepackage{amsmath}&#10;\pagestyle{empty}&#10;\begin{document}&#10;&#10;&#10;$$&#10;y&#10;$$&#10;&#10;\end{document}" title="IguanaTex Bitmap Display">
            <a:extLst>
              <a:ext uri="{FF2B5EF4-FFF2-40B4-BE49-F238E27FC236}">
                <a16:creationId xmlns:a16="http://schemas.microsoft.com/office/drawing/2014/main" id="{A11F2752-7CF3-4C04-BB2E-A3922B5BF0A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87" y="1018922"/>
            <a:ext cx="118857" cy="163047"/>
          </a:xfrm>
          <a:prstGeom prst="rect">
            <a:avLst/>
          </a:prstGeom>
        </p:spPr>
      </p:pic>
      <p:pic>
        <p:nvPicPr>
          <p:cNvPr id="35" name="그림 34" descr="\documentclass{article}&#10;\usepackage{amsmath}&#10;\pagestyle{empty}&#10;\begin{document}&#10;&#10;&#10;$$&#10;y^*&#10;$$&#10;&#10;\end{document}" title="IguanaTex Bitmap Display">
            <a:extLst>
              <a:ext uri="{FF2B5EF4-FFF2-40B4-BE49-F238E27FC236}">
                <a16:creationId xmlns:a16="http://schemas.microsoft.com/office/drawing/2014/main" id="{91B77B58-C1CA-4DC8-9A6F-B6923D62378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168" y="980826"/>
            <a:ext cx="214857" cy="239237"/>
          </a:xfrm>
          <a:prstGeom prst="rect">
            <a:avLst/>
          </a:prstGeom>
        </p:spPr>
      </p:pic>
      <p:pic>
        <p:nvPicPr>
          <p:cNvPr id="60" name="그림 59" descr="\documentclass{article}&#10;\usepackage{amsmath}&#10;\pagestyle{empty}&#10;\begin{document}&#10;&#10;&#10;$$&#10;\sum_i^n ( y_i - \hat{y}_i )^2&#10;$$&#10;&#10;\end{document}" title="IguanaTex Bitmap Display">
            <a:extLst>
              <a:ext uri="{FF2B5EF4-FFF2-40B4-BE49-F238E27FC236}">
                <a16:creationId xmlns:a16="http://schemas.microsoft.com/office/drawing/2014/main" id="{6F2CBECA-0F21-4B52-98C8-02A974430FE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581128"/>
            <a:ext cx="1363813" cy="693331"/>
          </a:xfrm>
          <a:prstGeom prst="rect">
            <a:avLst/>
          </a:prstGeom>
        </p:spPr>
      </p:pic>
      <p:pic>
        <p:nvPicPr>
          <p:cNvPr id="17" name="그림 16" descr="\documentclass{article}&#10;\usepackage{amsmath}&#10;\pagestyle{empty}&#10;\begin{document}&#10;&#10;&#10;$$&#10;\sum_i^n ( y_i^* - \hat{y}_i^* )^2&#10;$$&#10;&#10;\end{document}" title="IguanaTex Bitmap Display">
            <a:extLst>
              <a:ext uri="{FF2B5EF4-FFF2-40B4-BE49-F238E27FC236}">
                <a16:creationId xmlns:a16="http://schemas.microsoft.com/office/drawing/2014/main" id="{BD3EEB67-7727-4FFE-807F-ED8ACEBD0D8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844" y="5483399"/>
            <a:ext cx="1446099" cy="693331"/>
          </a:xfrm>
          <a:prstGeom prst="rect">
            <a:avLst/>
          </a:prstGeom>
        </p:spPr>
      </p:pic>
      <p:pic>
        <p:nvPicPr>
          <p:cNvPr id="69" name="그림 68" descr="\documentclass{article}&#10;\usepackage{amsmath}&#10;\pagestyle{empty}&#10;\begin{document}&#10;&#10;&#10;$$&#10;\stackrel{?}{\approx}&#10;$$&#10;&#10;\end{document}" title="IguanaTex Bitmap Display">
            <a:extLst>
              <a:ext uri="{FF2B5EF4-FFF2-40B4-BE49-F238E27FC236}">
                <a16:creationId xmlns:a16="http://schemas.microsoft.com/office/drawing/2014/main" id="{9D90E9C3-ACED-4C7B-AC97-0466FD77970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645473"/>
            <a:ext cx="202972" cy="340114"/>
          </a:xfrm>
          <a:prstGeom prst="rect">
            <a:avLst/>
          </a:prstGeom>
        </p:spPr>
      </p:pic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532C1120-C7BC-4E9B-9546-C1C72A1F0B28}"/>
              </a:ext>
            </a:extLst>
          </p:cNvPr>
          <p:cNvSpPr/>
          <p:nvPr/>
        </p:nvSpPr>
        <p:spPr>
          <a:xfrm rot="16200000">
            <a:off x="5843464" y="1412822"/>
            <a:ext cx="288032" cy="30243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\documentclass{article}&#10;\usepackage{amsmath}&#10;\pagestyle{empty}&#10;\begin{document}&#10;&#10;&#10;$$&#10;\hat{y}^* = \hat{\mu}^* = {\boldsymbol x}^* \hat{\boldsymbol \beta}^*&#10;$$&#10;&#10;\end{document}" title="IguanaTex Bitmap Display">
            <a:extLst>
              <a:ext uri="{FF2B5EF4-FFF2-40B4-BE49-F238E27FC236}">
                <a16:creationId xmlns:a16="http://schemas.microsoft.com/office/drawing/2014/main" id="{C9BA0EDD-8F91-4DFF-A518-6B1BA25AE1C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9" y="3666591"/>
            <a:ext cx="1732575" cy="316951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2F191AA-4C65-41B4-BF69-C50AA2D137BE}"/>
              </a:ext>
            </a:extLst>
          </p:cNvPr>
          <p:cNvCxnSpPr>
            <a:cxnSpLocks/>
          </p:cNvCxnSpPr>
          <p:nvPr/>
        </p:nvCxnSpPr>
        <p:spPr>
          <a:xfrm>
            <a:off x="3131840" y="2348926"/>
            <a:ext cx="3240360" cy="8424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F3FB1B5D-02C2-4445-82D5-600D06AE3ECC}"/>
              </a:ext>
            </a:extLst>
          </p:cNvPr>
          <p:cNvSpPr/>
          <p:nvPr/>
        </p:nvSpPr>
        <p:spPr>
          <a:xfrm rot="16200000">
            <a:off x="5837362" y="458302"/>
            <a:ext cx="288032" cy="30243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\documentclass{article}&#10;\usepackage{amsmath}&#10;\pagestyle{empty}&#10;\begin{document}&#10;&#10;&#10;$$&#10;\hat{\boldsymbol \beta}^*&#10;$$&#10;&#10;\end{document}" title="IguanaTex Bitmap Display">
            <a:extLst>
              <a:ext uri="{FF2B5EF4-FFF2-40B4-BE49-F238E27FC236}">
                <a16:creationId xmlns:a16="http://schemas.microsoft.com/office/drawing/2014/main" id="{815F8C7E-94F2-45BC-B505-E034F72A619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54" y="2219694"/>
            <a:ext cx="260572" cy="310855"/>
          </a:xfrm>
          <a:prstGeom prst="rect">
            <a:avLst/>
          </a:prstGeom>
        </p:spPr>
      </p:pic>
      <p:pic>
        <p:nvPicPr>
          <p:cNvPr id="28" name="그림 27" descr="\documentclass{article}&#10;\usepackage{amsmath}&#10;\pagestyle{empty}&#10;\begin{document}&#10;&#10;&#10;$$&#10;\hat{y} = \hat{\mu} = {\boldsymbol x}^* \hat{\boldsymbol \beta}&#10;$$&#10;&#10;\end{document}" title="IguanaTex Bitmap Display">
            <a:extLst>
              <a:ext uri="{FF2B5EF4-FFF2-40B4-BE49-F238E27FC236}">
                <a16:creationId xmlns:a16="http://schemas.microsoft.com/office/drawing/2014/main" id="{6480A0CF-ABDC-4DA2-BB42-370BCBD4B68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896" y="3218446"/>
            <a:ext cx="1403431" cy="297142"/>
          </a:xfrm>
          <a:prstGeom prst="rect">
            <a:avLst/>
          </a:prstGeom>
        </p:spPr>
      </p:pic>
      <p:pic>
        <p:nvPicPr>
          <p:cNvPr id="33" name="그림 32" descr="\documentclass{article}&#10;\usepackage{amsmath}&#10;\pagestyle{empty}&#10;\begin{document}&#10;&#10;&#10;$$&#10;\sum_i^n ( y_i^* - \hat{y}_i )^2&#10;$$&#10;&#10;\end{document}" title="IguanaTex Bitmap Display">
            <a:extLst>
              <a:ext uri="{FF2B5EF4-FFF2-40B4-BE49-F238E27FC236}">
                <a16:creationId xmlns:a16="http://schemas.microsoft.com/office/drawing/2014/main" id="{439A5E87-B4B3-4201-BB88-DFC90EC4F3D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85" y="4560138"/>
            <a:ext cx="1406480" cy="69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6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\documentclass{article}&#10;\usepackage{amsmath}&#10;\usepackage[utf8]{inputenc}&#10;\usepackage{kotex}&#10;\pagestyle{empty}&#10;\newcommand\bs{\boldsymbol}&#10;\begin{document}&#10;&#10;$$&#10;SSE({\bs \mu})  =  &#10;\sum_{i=1}^n (y_i - \mu_i )^2 ~~~\sim~~~ \sigma^2 \cdot \chi^2 (n)&#10;$$&#10;&#10;&#10;\end{document}" title="IguanaTex Bitmap Display">
            <a:extLst>
              <a:ext uri="{FF2B5EF4-FFF2-40B4-BE49-F238E27FC236}">
                <a16:creationId xmlns:a16="http://schemas.microsoft.com/office/drawing/2014/main" id="{9C9B8798-4481-4FCC-8527-35F0F45A43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3" y="2204864"/>
            <a:ext cx="4788797" cy="728000"/>
          </a:xfrm>
          <a:prstGeom prst="rect">
            <a:avLst/>
          </a:prstGeom>
        </p:spPr>
      </p:pic>
      <p:pic>
        <p:nvPicPr>
          <p:cNvPr id="30" name="그림 29" descr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 title="IguanaTex Bitmap Display">
            <a:extLst>
              <a:ext uri="{FF2B5EF4-FFF2-40B4-BE49-F238E27FC236}">
                <a16:creationId xmlns:a16="http://schemas.microsoft.com/office/drawing/2014/main" id="{816415D9-D8D9-417E-A06D-AE5E9C1B94C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3" y="3717032"/>
            <a:ext cx="5702396" cy="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3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 title="IguanaTex Bitmap Display">
            <a:extLst>
              <a:ext uri="{FF2B5EF4-FFF2-40B4-BE49-F238E27FC236}">
                <a16:creationId xmlns:a16="http://schemas.microsoft.com/office/drawing/2014/main" id="{45BC2830-4401-437D-A4E9-BC0CDF492E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091563"/>
            <a:ext cx="4344686" cy="554667"/>
          </a:xfrm>
          <a:prstGeom prst="rect">
            <a:avLst/>
          </a:prstGeom>
        </p:spPr>
      </p:pic>
      <p:pic>
        <p:nvPicPr>
          <p:cNvPr id="16" name="그림 15" descr="\documentclass{article}&#10;\usepackage{amsmath}&#10;\usepackage[utf8]{inputenc}&#10;\usepackage{kotex}&#10;\pagestyle{empty}&#10;\newcommand\bs{\boldsymbol}&#10;\begin{document}&#10;&#10;$$&#10;{\hat \sigma}^2  ~=~ \frac1{(n-p-1)} \, SSE({\hat {\bs \mu}})  &#10;$$&#10;&#10;&#10;\end{document}" title="IguanaTex Bitmap Display">
            <a:extLst>
              <a:ext uri="{FF2B5EF4-FFF2-40B4-BE49-F238E27FC236}">
                <a16:creationId xmlns:a16="http://schemas.microsoft.com/office/drawing/2014/main" id="{F739686C-EC56-4443-9263-55F0EC7FC32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877272"/>
            <a:ext cx="2383238" cy="462019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1BD7A9DE-1B27-4D87-B7BA-28375913D9AA}"/>
              </a:ext>
            </a:extLst>
          </p:cNvPr>
          <p:cNvGrpSpPr/>
          <p:nvPr/>
        </p:nvGrpSpPr>
        <p:grpSpPr>
          <a:xfrm>
            <a:off x="899592" y="548680"/>
            <a:ext cx="7200800" cy="4311841"/>
            <a:chOff x="899592" y="548680"/>
            <a:chExt cx="7200800" cy="431184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857E3BB-5DA3-4679-B74C-5DA983E90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5616" y="692696"/>
              <a:ext cx="6651059" cy="4010019"/>
            </a:xfrm>
            <a:prstGeom prst="rect">
              <a:avLst/>
            </a:prstGeom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6A471A3-0393-4896-810C-305F92F47C5E}"/>
                </a:ext>
              </a:extLst>
            </p:cNvPr>
            <p:cNvSpPr/>
            <p:nvPr/>
          </p:nvSpPr>
          <p:spPr>
            <a:xfrm>
              <a:off x="2123728" y="4005064"/>
              <a:ext cx="432048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9BB458E-3A8C-42CE-9F0F-3859E30F1DA8}"/>
                </a:ext>
              </a:extLst>
            </p:cNvPr>
            <p:cNvSpPr/>
            <p:nvPr/>
          </p:nvSpPr>
          <p:spPr>
            <a:xfrm>
              <a:off x="2555776" y="4005064"/>
              <a:ext cx="720080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A1299C7-C000-411D-9DD5-F6911E82AE4D}"/>
                </a:ext>
              </a:extLst>
            </p:cNvPr>
            <p:cNvSpPr/>
            <p:nvPr/>
          </p:nvSpPr>
          <p:spPr>
            <a:xfrm>
              <a:off x="3419872" y="4005064"/>
              <a:ext cx="720080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D6DF748-A087-42F8-9EDE-E65922CB0BE8}"/>
                </a:ext>
              </a:extLst>
            </p:cNvPr>
            <p:cNvSpPr/>
            <p:nvPr/>
          </p:nvSpPr>
          <p:spPr>
            <a:xfrm>
              <a:off x="899592" y="548680"/>
              <a:ext cx="7200800" cy="4311841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79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\documentclass{article}&#10;\usepackage{amsmath}&#10;\usepackage[utf8]{inputenc}&#10;\usepackage{kotex}&#10;\pagestyle{empty}&#10;\newcommand\bs{\boldsymbol}&#10;\begin{document}&#10;&#10;$$&#10;SSE^*({\hat {\bs \mu}})  =  &#10;\sum_{i=1}^n (y_i^* - {\hat \mu}_i )^2 ~~~\sim~~~ $$&#10;&#10;&#10;\end{document}" title="IguanaTex Bitmap Display">
            <a:extLst>
              <a:ext uri="{FF2B5EF4-FFF2-40B4-BE49-F238E27FC236}">
                <a16:creationId xmlns:a16="http://schemas.microsoft.com/office/drawing/2014/main" id="{943A6A16-ADD1-4F93-87D2-BADE4A24D98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065000"/>
            <a:ext cx="3500798" cy="7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B860BF-DC1C-466A-871D-0C9C1298BE8A}"/>
              </a:ext>
            </a:extLst>
          </p:cNvPr>
          <p:cNvSpPr txBox="1"/>
          <p:nvPr/>
        </p:nvSpPr>
        <p:spPr>
          <a:xfrm>
            <a:off x="6189301" y="3090750"/>
            <a:ext cx="679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???</a:t>
            </a:r>
            <a:endParaRPr lang="ko-KR" alt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8C942-9661-4E0D-A1A4-C1C242387FBB}"/>
              </a:ext>
            </a:extLst>
          </p:cNvPr>
          <p:cNvSpPr txBox="1"/>
          <p:nvPr/>
        </p:nvSpPr>
        <p:spPr>
          <a:xfrm>
            <a:off x="2267744" y="2276872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PRESS</a:t>
            </a:r>
            <a:endParaRPr lang="ko-KR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7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C4FA5D-7D07-4359-92B8-8A8C8444F853}"/>
              </a:ext>
            </a:extLst>
          </p:cNvPr>
          <p:cNvSpPr/>
          <p:nvPr/>
        </p:nvSpPr>
        <p:spPr>
          <a:xfrm>
            <a:off x="899591" y="3327939"/>
            <a:ext cx="3243937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\documentclass{article}&#10;\usepackage{amsmath}&#10;\usepackage[utf8]{inputenc}&#10;\usepackage{kotex}&#10;\pagestyle{empty}&#10;\newcommand\bs{\boldsymbol}&#10;\begin{document}&#10;&#10;$$&#10;SSE^*({\hat {\bs \mu}})  =  &#10;\sum_{i=1}^n (y_i^* - {\hat \mu}_i )^2 ~~~\sim~~~ \sigma^2 \cdot \left\{ \chi^2 (n)+ \chi^2 (p+1)&#10;\right \}&#10;$$&#10;&#10;&#10;\end{document}" title="IguanaTex Bitmap Display">
            <a:extLst>
              <a:ext uri="{FF2B5EF4-FFF2-40B4-BE49-F238E27FC236}">
                <a16:creationId xmlns:a16="http://schemas.microsoft.com/office/drawing/2014/main" id="{5EFD39A8-5C14-4325-9BAA-A13ACFFDDC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10" y="3212976"/>
            <a:ext cx="6667195" cy="728000"/>
          </a:xfrm>
          <a:prstGeom prst="rect">
            <a:avLst/>
          </a:prstGeom>
        </p:spPr>
      </p:pic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 title="IguanaTex Bitmap Display">
            <a:extLst>
              <a:ext uri="{FF2B5EF4-FFF2-40B4-BE49-F238E27FC236}">
                <a16:creationId xmlns:a16="http://schemas.microsoft.com/office/drawing/2014/main" id="{3B2F50EA-C0CE-4583-864F-9FC6AE9E267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90" y="1990530"/>
            <a:ext cx="5702396" cy="728000"/>
          </a:xfrm>
          <a:prstGeom prst="rect">
            <a:avLst/>
          </a:prstGeom>
        </p:spPr>
      </p:pic>
      <p:pic>
        <p:nvPicPr>
          <p:cNvPr id="22" name="그림 21" descr="\documentclass{article}&#10;\usepackage{amsmath}&#10;\usepackage[utf8]{inputenc}&#10;\usepackage{kotex}&#10;\pagestyle{empty}&#10;\newcommand\bs{\boldsymbol}&#10;\begin{document}&#10;&#10;$$&#10; SSE^*({\hat {\bs \mu}}) ~~~ \approx ~~~ SSE({\hat {\bs \mu}})&#10; ~~+~~ {\bs 2} \cdot \sigma^2 (p+1)$$&#10;&#10;&#10;\end{document}" title="IguanaTex Bitmap Display">
            <a:extLst>
              <a:ext uri="{FF2B5EF4-FFF2-40B4-BE49-F238E27FC236}">
                <a16:creationId xmlns:a16="http://schemas.microsoft.com/office/drawing/2014/main" id="{01D1CC8A-3727-4E21-97B7-3B78157546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496" y="5306226"/>
            <a:ext cx="4993596" cy="300800"/>
          </a:xfrm>
          <a:prstGeom prst="rect">
            <a:avLst/>
          </a:prstGeom>
        </p:spPr>
      </p:pic>
      <p:pic>
        <p:nvPicPr>
          <p:cNvPr id="23" name="그림 22" descr="\documentclass{article}&#10;\usepackage{amsmath}&#10;\usepackage[utf8]{inputenc}&#10;\usepackage{kotex}&#10;\pagestyle{empty}&#10;\newcommand\bs{\boldsymbol}&#10;\begin{document}&#10;&#10;$$&#10;SSE({\bs \mu})  =  &#10;\sum_{i=1}^n (y_i - \mu_i )^2 ~~~\sim~~~ \sigma^2 \cdot \chi^2 (n)&#10;$$&#10;&#10;&#10;\end{document}" title="IguanaTex Bitmap Display">
            <a:extLst>
              <a:ext uri="{FF2B5EF4-FFF2-40B4-BE49-F238E27FC236}">
                <a16:creationId xmlns:a16="http://schemas.microsoft.com/office/drawing/2014/main" id="{F94AB1C8-3B17-4087-88CE-43E1C88DC2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90" y="871362"/>
            <a:ext cx="4788797" cy="72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BD7576-187A-4156-8635-6D680EBB6DB3}"/>
              </a:ext>
            </a:extLst>
          </p:cNvPr>
          <p:cNvSpPr txBox="1"/>
          <p:nvPr/>
        </p:nvSpPr>
        <p:spPr>
          <a:xfrm>
            <a:off x="899591" y="5240843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PRESS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05FFC10-C412-43AD-B174-9F80255CCE22}"/>
              </a:ext>
            </a:extLst>
          </p:cNvPr>
          <p:cNvCxnSpPr/>
          <p:nvPr/>
        </p:nvCxnSpPr>
        <p:spPr>
          <a:xfrm>
            <a:off x="3326039" y="1412514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44891C6-6538-40FF-85CB-2D57E3EDEA9C}"/>
              </a:ext>
            </a:extLst>
          </p:cNvPr>
          <p:cNvCxnSpPr/>
          <p:nvPr/>
        </p:nvCxnSpPr>
        <p:spPr>
          <a:xfrm>
            <a:off x="2923408" y="3861706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C41EB8E-5E0A-48B8-8870-CD0DBCF655AC}"/>
              </a:ext>
            </a:extLst>
          </p:cNvPr>
          <p:cNvCxnSpPr>
            <a:cxnSpLocks/>
          </p:cNvCxnSpPr>
          <p:nvPr/>
        </p:nvCxnSpPr>
        <p:spPr>
          <a:xfrm>
            <a:off x="5868144" y="3788778"/>
            <a:ext cx="314511" cy="2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5777E4-59AB-4825-8C2B-1E7A49378FDF}"/>
              </a:ext>
            </a:extLst>
          </p:cNvPr>
          <p:cNvSpPr txBox="1"/>
          <p:nvPr/>
        </p:nvSpPr>
        <p:spPr>
          <a:xfrm>
            <a:off x="5868144" y="4162347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</a:rPr>
              <a:t>See, Appendix </a:t>
            </a:r>
            <a:r>
              <a:rPr lang="en-US" altLang="ko-KR" sz="2000" b="1" dirty="0">
                <a:solidFill>
                  <a:srgbClr val="FF0000"/>
                </a:solidFill>
              </a:rPr>
              <a:t>A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3007017-6E36-492F-9A7E-E1D9A4F13756}"/>
              </a:ext>
            </a:extLst>
          </p:cNvPr>
          <p:cNvCxnSpPr>
            <a:cxnSpLocks/>
          </p:cNvCxnSpPr>
          <p:nvPr/>
        </p:nvCxnSpPr>
        <p:spPr>
          <a:xfrm>
            <a:off x="6876256" y="3788778"/>
            <a:ext cx="6325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86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 descr="\documentclass{article}&#10;\usepackage{amsmath}&#10;\usepackage[utf8]{inputenc}&#10;\usepackage{kotex}&#10;\pagestyle{empty}&#10;\newcommand\bs{\boldsymbol}&#10;\begin{document}&#10;&#10;$$&#10;y_i ~=~ \alpha + \epsilon_i&#10;$$&#10;&#10;&#10;\end{document}" title="IguanaTex Bitmap Display">
            <a:extLst>
              <a:ext uri="{FF2B5EF4-FFF2-40B4-BE49-F238E27FC236}">
                <a16:creationId xmlns:a16="http://schemas.microsoft.com/office/drawing/2014/main" id="{151E5CB9-3EB9-4D5C-9DA5-512DC73E654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131" y="781258"/>
            <a:ext cx="1344000" cy="199619"/>
          </a:xfrm>
          <a:prstGeom prst="rect">
            <a:avLst/>
          </a:prstGeom>
        </p:spPr>
      </p:pic>
      <p:pic>
        <p:nvPicPr>
          <p:cNvPr id="40" name="그림 39" descr="\documentclass{article}&#10;\usepackage{amsmath}&#10;\usepackage[utf8]{inputenc}&#10;\usepackage{kotex}&#10;\pagestyle{empty}&#10;\newcommand\bs{\boldsymbol}&#10;\begin{document}&#10;&#10;$$&#10;\mu_i ~=~ \alpha&#10;$$&#10;&#10;&#10;\end{document}" title="IguanaTex Bitmap Display">
            <a:extLst>
              <a:ext uri="{FF2B5EF4-FFF2-40B4-BE49-F238E27FC236}">
                <a16:creationId xmlns:a16="http://schemas.microsoft.com/office/drawing/2014/main" id="{3F2F099D-8C48-4B19-9B0F-A0FF84B8CE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131" y="1509529"/>
            <a:ext cx="888381" cy="166095"/>
          </a:xfrm>
          <a:prstGeom prst="rect">
            <a:avLst/>
          </a:prstGeom>
        </p:spPr>
      </p:pic>
      <p:pic>
        <p:nvPicPr>
          <p:cNvPr id="42" name="그림 41" descr="\documentclass{article}&#10;\usepackage{amsmath}&#10;\usepackage[utf8]{inputenc}&#10;\usepackage{kotex}&#10;\pagestyle{empty}&#10;\newcommand\bs{\boldsymbol}&#10;\begin{document}&#10;&#10;$$&#10;{\hat \mu}_i ~=~ {\bar y}_n&#10;$$&#10;&#10;&#10;\end{document}" title="IguanaTex Bitmap Display">
            <a:extLst>
              <a:ext uri="{FF2B5EF4-FFF2-40B4-BE49-F238E27FC236}">
                <a16:creationId xmlns:a16="http://schemas.microsoft.com/office/drawing/2014/main" id="{FE423C4B-DBAE-43F9-A675-FA17183FE5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482" y="1477528"/>
            <a:ext cx="976762" cy="230095"/>
          </a:xfrm>
          <a:prstGeom prst="rect">
            <a:avLst/>
          </a:prstGeom>
        </p:spPr>
      </p:pic>
      <p:pic>
        <p:nvPicPr>
          <p:cNvPr id="37" name="그림 36" descr="\documentclass{article}&#10;\usepackage{amsmath}&#10;\usepackage[utf8]{inputenc}&#10;\usepackage{kotex}&#10;\pagestyle{empty}&#10;\newcommand\bs{\boldsymbol}&#10;\begin{document}&#10;&#10;$$&#10;\epsilon_i ~\sim~N(0, \sigma^2 )&#10;$$&#10;&#10;&#10;\end{document}" title="IguanaTex Bitmap Display">
            <a:extLst>
              <a:ext uri="{FF2B5EF4-FFF2-40B4-BE49-F238E27FC236}">
                <a16:creationId xmlns:a16="http://schemas.microsoft.com/office/drawing/2014/main" id="{2559CAF2-FC8D-45A0-9DE4-511F1673D2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482" y="717441"/>
            <a:ext cx="1590857" cy="286476"/>
          </a:xfrm>
          <a:prstGeom prst="rect">
            <a:avLst/>
          </a:prstGeom>
        </p:spPr>
      </p:pic>
      <p:pic>
        <p:nvPicPr>
          <p:cNvPr id="43" name="그림 42" descr="\documentclass{article}&#10;\usepackage{amsmath}&#10;\usepackage[utf8]{inputenc}&#10;\usepackage{kotex}&#10;\pagestyle{empty}&#10;\newcommand\bs{\boldsymbol}&#10;\begin{document}&#10;&#10;$$&#10;y_i^* ~=~ \alpha + \epsilon_i^*&#10;$$&#10;&#10;&#10;\end{document}" title="IguanaTex Bitmap Display">
            <a:extLst>
              <a:ext uri="{FF2B5EF4-FFF2-40B4-BE49-F238E27FC236}">
                <a16:creationId xmlns:a16="http://schemas.microsoft.com/office/drawing/2014/main" id="{6D5E3564-8A80-4EB2-9190-E0626249301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7" y="2301617"/>
            <a:ext cx="1411048" cy="251429"/>
          </a:xfrm>
          <a:prstGeom prst="rect">
            <a:avLst/>
          </a:prstGeom>
        </p:spPr>
      </p:pic>
      <p:pic>
        <p:nvPicPr>
          <p:cNvPr id="46" name="그림 45" descr="\documentclass{article}&#10;\usepackage{amsmath}&#10;\usepackage[utf8]{inputenc}&#10;\usepackage{kotex}&#10;\pagestyle{empty}&#10;\newcommand\bs{\boldsymbol}&#10;\begin{document}&#10;&#10;$$&#10;\epsilon_i^* ~\sim~N(0, \sigma^2 )&#10;$$&#10;&#10;&#10;\end{document}" title="IguanaTex Bitmap Display">
            <a:extLst>
              <a:ext uri="{FF2B5EF4-FFF2-40B4-BE49-F238E27FC236}">
                <a16:creationId xmlns:a16="http://schemas.microsoft.com/office/drawing/2014/main" id="{01902020-9E3B-45F3-97B5-8EC28B7A651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933" y="2301617"/>
            <a:ext cx="1622857" cy="286476"/>
          </a:xfrm>
          <a:prstGeom prst="rect">
            <a:avLst/>
          </a:prstGeom>
        </p:spPr>
      </p:pic>
      <p:pic>
        <p:nvPicPr>
          <p:cNvPr id="50" name="그림 49" descr="\documentclass{article}&#10;\usepackage{amsmath}&#10;\usepackage[utf8]{inputenc}&#10;\usepackage{kotex}&#10;\pagestyle{empty}&#10;\newcommand\bs{\boldsymbol}&#10;\begin{document}&#10;&#10;$$&#10;E \left[ \, SSE({\hat {\bs \mu}}) \, \right]  =  &#10;E \left[\, \sum_{i=1}^n (y_i - {\hat \mu}_i )^2 \, \right] ~=~ \sigma^2 (n-1)&#10;$$&#10;&#10;&#10;\end{document}" title="IguanaTex Bitmap Display">
            <a:extLst>
              <a:ext uri="{FF2B5EF4-FFF2-40B4-BE49-F238E27FC236}">
                <a16:creationId xmlns:a16="http://schemas.microsoft.com/office/drawing/2014/main" id="{3D472E88-FD67-4377-BC0E-F03C59B606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126936"/>
            <a:ext cx="5339428" cy="758857"/>
          </a:xfrm>
          <a:prstGeom prst="rect">
            <a:avLst/>
          </a:prstGeom>
        </p:spPr>
      </p:pic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E \left[ \, SSE^*({\hat {\bs \mu}}) \, \right]  =  &#10;E \left[\, \sum_{i=1}^n (y_i^* - {\hat \mu}_i )^2 \, \right] ~=~ \sigma^2 (n+1)&#10;$$&#10;&#10;&#10;\end{document}" title="IguanaTex Bitmap Display">
            <a:extLst>
              <a:ext uri="{FF2B5EF4-FFF2-40B4-BE49-F238E27FC236}">
                <a16:creationId xmlns:a16="http://schemas.microsoft.com/office/drawing/2014/main" id="{9739C071-5C3A-46BB-A649-6F1D7C50FAA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39" y="4296636"/>
            <a:ext cx="5496382" cy="758857"/>
          </a:xfrm>
          <a:prstGeom prst="rect">
            <a:avLst/>
          </a:prstGeom>
        </p:spPr>
      </p:pic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8B99397-ADF7-4D2B-995C-54EB2AC4DADC}"/>
              </a:ext>
            </a:extLst>
          </p:cNvPr>
          <p:cNvCxnSpPr/>
          <p:nvPr/>
        </p:nvCxnSpPr>
        <p:spPr>
          <a:xfrm>
            <a:off x="4427984" y="3703000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0EEC479-E862-426C-A08F-042B1BC8448E}"/>
              </a:ext>
            </a:extLst>
          </p:cNvPr>
          <p:cNvCxnSpPr/>
          <p:nvPr/>
        </p:nvCxnSpPr>
        <p:spPr>
          <a:xfrm>
            <a:off x="6732240" y="3703000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D463A7B-DE4C-447E-B39F-1DAFE53C56B6}"/>
              </a:ext>
            </a:extLst>
          </p:cNvPr>
          <p:cNvCxnSpPr/>
          <p:nvPr/>
        </p:nvCxnSpPr>
        <p:spPr>
          <a:xfrm>
            <a:off x="4650228" y="4927136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3956305-E832-409E-A291-F73324AD51A4}"/>
              </a:ext>
            </a:extLst>
          </p:cNvPr>
          <p:cNvCxnSpPr/>
          <p:nvPr/>
        </p:nvCxnSpPr>
        <p:spPr>
          <a:xfrm>
            <a:off x="6948264" y="4927136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그림 59" descr="\documentclass{article}&#10;\usepackage{amsmath}&#10;\usepackage[utf8]{inputenc}&#10;\usepackage{kotex}&#10;\pagestyle{empty}&#10;\newcommand\bs{\boldsymbol}&#10;\begin{document}&#10;&#10;$$&#10;\sum_{i=1}^n (y_i^* - {\hat \mu}_i )^2 ~~\approx~~&#10;\sum_{i=1}^n (y_i - {\hat \mu}_i )^2 ~ +~&#10; 2 \, \sigma^2&#10;$$&#10;&#10;&#10;\end{document}" title="IguanaTex Bitmap Display">
            <a:extLst>
              <a:ext uri="{FF2B5EF4-FFF2-40B4-BE49-F238E27FC236}">
                <a16:creationId xmlns:a16="http://schemas.microsoft.com/office/drawing/2014/main" id="{54610ED1-C37B-4248-88E4-9BB0CB01C3F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5517232"/>
            <a:ext cx="4493715" cy="693333"/>
          </a:xfrm>
          <a:prstGeom prst="rect">
            <a:avLst/>
          </a:prstGeom>
        </p:spPr>
      </p:pic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682D104-2B3D-4AFA-A5BE-4401E2B43174}"/>
              </a:ext>
            </a:extLst>
          </p:cNvPr>
          <p:cNvCxnSpPr/>
          <p:nvPr/>
        </p:nvCxnSpPr>
        <p:spPr>
          <a:xfrm>
            <a:off x="5828825" y="6032486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\sum_{i=1}^n (y_i - {\bar y}_n )^2 &#10;~=~ \sum_{i=1}^n \left( &#10;y_i^2  - 2 y_i \, {\bar y}_n +{\bar y}_n^2 &#10;\right)&#10; $$&#10;&#10;&#10;\end{document}" title="IguanaTex Bitmap Display">
            <a:extLst>
              <a:ext uri="{FF2B5EF4-FFF2-40B4-BE49-F238E27FC236}">
                <a16:creationId xmlns:a16="http://schemas.microsoft.com/office/drawing/2014/main" id="{1FD8CB96-9403-4233-9FDA-850BF636DA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11" y="401961"/>
            <a:ext cx="3484035" cy="554667"/>
          </a:xfrm>
          <a:prstGeom prst="rect">
            <a:avLst/>
          </a:prstGeom>
        </p:spPr>
      </p:pic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=~ \left ( \sum_{i=1}^n&#10;y_i^2  \right) - \frac2n  \left( \sum_{i=1}^n  y_i \right) \left( \sum_{j=1}^n  y_j \right)&#10; +\frac1n  \left( \sum_{i=1}^n  y_i \right)&#10;\left( \sum_{j=1}^n  y_j \right)&#10;$$&#10;&#10;&#10;\end{document}" title="IguanaTex Bitmap Display">
            <a:extLst>
              <a:ext uri="{FF2B5EF4-FFF2-40B4-BE49-F238E27FC236}">
                <a16:creationId xmlns:a16="http://schemas.microsoft.com/office/drawing/2014/main" id="{7B915F21-C16F-4142-B88F-3BF9DE9950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30088"/>
            <a:ext cx="4736000" cy="637867"/>
          </a:xfrm>
          <a:prstGeom prst="rect">
            <a:avLst/>
          </a:prstGeom>
        </p:spPr>
      </p:pic>
      <p:pic>
        <p:nvPicPr>
          <p:cNvPr id="14" name="그림 13" descr="\documentclass{article}&#10;\usepackage{amsmath}&#10;\usepackage[utf8]{inputenc}&#10;\usepackage{kotex}&#10;\pagestyle{empty}&#10;\newcommand\bs{\boldsymbol}&#10;\begin{document}&#10;&#10;$$&#10;=~ \left ( \sum_{i=1}^n&#10;y_i^2  \right) - \frac1n  \left( \sum_{i=1}^n  y_i^2 +   &#10;\sum_{i \not= j }  y_i y_j \right)&#10;$$&#10;&#10;&#10;\end{document}" title="IguanaTex Bitmap Display">
            <a:extLst>
              <a:ext uri="{FF2B5EF4-FFF2-40B4-BE49-F238E27FC236}">
                <a16:creationId xmlns:a16="http://schemas.microsoft.com/office/drawing/2014/main" id="{493824E0-E5D9-4BA6-A05A-A3F6AAD5BC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923479"/>
            <a:ext cx="2924800" cy="637867"/>
          </a:xfrm>
          <a:prstGeom prst="rect">
            <a:avLst/>
          </a:prstGeom>
        </p:spPr>
      </p:pic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E \left [ \, \sum_{i=1}^n (y_i - {\bar y}_n )^2&#10;\, \right]&#10;~=~  &#10;n \, (\sigma^2 + \mu^2 ) - \frac1n \left \{ n(\sigma^2 +\mu^2 ) +  n(n-1) \mu^2&#10;\right\}&#10;$$&#10;&#10;&#10;\end{document}" title="IguanaTex Bitmap Display">
            <a:extLst>
              <a:ext uri="{FF2B5EF4-FFF2-40B4-BE49-F238E27FC236}">
                <a16:creationId xmlns:a16="http://schemas.microsoft.com/office/drawing/2014/main" id="{CA57A64A-1B53-4151-AD20-D09E549A128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11" y="2835646"/>
            <a:ext cx="5905061" cy="607086"/>
          </a:xfrm>
          <a:prstGeom prst="rect">
            <a:avLst/>
          </a:prstGeom>
        </p:spPr>
      </p:pic>
      <p:pic>
        <p:nvPicPr>
          <p:cNvPr id="12" name="그림 11" descr="\documentclass{article}&#10;\usepackage{amsmath}&#10;\usepackage[utf8]{inputenc}&#10;\usepackage{kotex}&#10;\pagestyle{empty}&#10;\newcommand\bs{\boldsymbol}&#10;\begin{document}&#10;&#10;$$&#10;=~(n-1) \sigma^2&#10;$$&#10;&#10;&#10;\end{document}" title="IguanaTex Bitmap Display">
            <a:extLst>
              <a:ext uri="{FF2B5EF4-FFF2-40B4-BE49-F238E27FC236}">
                <a16:creationId xmlns:a16="http://schemas.microsoft.com/office/drawing/2014/main" id="{9A679A5F-2536-4CA2-8F04-A8E1F7CCA00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024598"/>
            <a:ext cx="1092266" cy="229181"/>
          </a:xfrm>
          <a:prstGeom prst="rect">
            <a:avLst/>
          </a:prstGeom>
        </p:spPr>
      </p:pic>
      <p:pic>
        <p:nvPicPr>
          <p:cNvPr id="17" name="그림 16" descr="\documentclass{article}&#10;\usepackage{amsmath}&#10;\usepackage[utf8]{inputenc}&#10;\usepackage{kotex}&#10;\pagestyle{empty}&#10;\newcommand\bs{\boldsymbol}&#10;\begin{document}&#10;&#10;$$&#10;E \left [ \, \sum_{i=1}^n (y_i^* - {\bar y}_n )^2&#10;\, \right]&#10;~=~  &#10;n \, (\sigma^2 + \mu^2 ) - \frac2n \left( n^2 \mu^2 \right)&#10;+\frac1n \left \{ n(\sigma^2 +\mu^2 ) +  n(n-1) \mu^2&#10;\right\}&#10;$$&#10;&#10;&#10;\end{document}" title="IguanaTex Bitmap Display">
            <a:extLst>
              <a:ext uri="{FF2B5EF4-FFF2-40B4-BE49-F238E27FC236}">
                <a16:creationId xmlns:a16="http://schemas.microsoft.com/office/drawing/2014/main" id="{97606575-94B8-4266-912C-CA7CC39AE77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2" y="5787645"/>
            <a:ext cx="6951002" cy="607086"/>
          </a:xfrm>
          <a:prstGeom prst="rect">
            <a:avLst/>
          </a:prstGeom>
        </p:spPr>
      </p:pic>
      <p:pic>
        <p:nvPicPr>
          <p:cNvPr id="18" name="그림 17" descr="\documentclass{article}&#10;\usepackage{amsmath}&#10;\usepackage[utf8]{inputenc}&#10;\usepackage{kotex}&#10;\pagestyle{empty}&#10;\newcommand\bs{\boldsymbol}&#10;\begin{document}&#10;&#10;$$&#10;=~(n+1) \sigma^2&#10;$$&#10;&#10;&#10;\end{document}" title="IguanaTex Bitmap Display">
            <a:extLst>
              <a:ext uri="{FF2B5EF4-FFF2-40B4-BE49-F238E27FC236}">
                <a16:creationId xmlns:a16="http://schemas.microsoft.com/office/drawing/2014/main" id="{FE68A747-8AEE-4276-8951-2458E36025B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5976597"/>
            <a:ext cx="1092266" cy="229181"/>
          </a:xfrm>
          <a:prstGeom prst="rect">
            <a:avLst/>
          </a:prstGeom>
        </p:spPr>
      </p:pic>
      <p:pic>
        <p:nvPicPr>
          <p:cNvPr id="19" name="그림 18" descr="\documentclass{article}&#10;\usepackage{amsmath}&#10;\usepackage[utf8]{inputenc}&#10;\usepackage{kotex}&#10;\pagestyle{empty}&#10;\newcommand\bs{\boldsymbol}&#10;\begin{document}&#10;&#10;$$&#10;\sum_{i=1}^n (y_i^* - {\bar y}_n )^2 &#10;~=~ \sum_{i=1}^n \left( &#10;(y_i^*)^2  - 2 y_i^* \, {\bar y}_n +{\bar y}_n^2 &#10;\right)&#10; $$&#10;&#10;&#10;\end{document}" title="IguanaTex Bitmap Display">
            <a:extLst>
              <a:ext uri="{FF2B5EF4-FFF2-40B4-BE49-F238E27FC236}">
                <a16:creationId xmlns:a16="http://schemas.microsoft.com/office/drawing/2014/main" id="{2922442B-246B-49F7-953B-C2A4D1D92F3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11" y="4143021"/>
            <a:ext cx="3799769" cy="554667"/>
          </a:xfrm>
          <a:prstGeom prst="rect">
            <a:avLst/>
          </a:prstGeom>
        </p:spPr>
      </p:pic>
      <p:pic>
        <p:nvPicPr>
          <p:cNvPr id="21" name="그림 20" descr="\documentclass{article}&#10;\usepackage{amsmath}&#10;\usepackage[utf8]{inputenc}&#10;\usepackage{kotex}&#10;\pagestyle{empty}&#10;\newcommand\bs{\boldsymbol}&#10;\begin{document}&#10;&#10;$$&#10;=~ \left ( \sum_{i=1}^n&#10;(y_i^*)^2  \right) - \frac2n  \left( \sum_{i=1}^n  y_i^* \right) \left( \sum_{j=1}^n  y_j \right)&#10; +\frac1n  \left( \sum_{i=1}^n  y_i^2 +   &#10;\sum_{i \not= j }  y_i y_j \right)&#10;$$&#10;&#10;&#10;\end{document}" title="IguanaTex Bitmap Display">
            <a:extLst>
              <a:ext uri="{FF2B5EF4-FFF2-40B4-BE49-F238E27FC236}">
                <a16:creationId xmlns:a16="http://schemas.microsoft.com/office/drawing/2014/main" id="{1794FB72-068B-400D-A909-B3E8DB0A889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02" y="4857900"/>
            <a:ext cx="5034667" cy="63786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FC1E57-8A7D-492A-8505-F54EB6345F56}"/>
              </a:ext>
            </a:extLst>
          </p:cNvPr>
          <p:cNvSpPr/>
          <p:nvPr/>
        </p:nvSpPr>
        <p:spPr>
          <a:xfrm>
            <a:off x="251520" y="260648"/>
            <a:ext cx="8784976" cy="3384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15DF8E1-9945-433B-94B9-DBF8F46C8197}"/>
              </a:ext>
            </a:extLst>
          </p:cNvPr>
          <p:cNvSpPr/>
          <p:nvPr/>
        </p:nvSpPr>
        <p:spPr>
          <a:xfrm>
            <a:off x="251520" y="3717032"/>
            <a:ext cx="8784976" cy="295232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75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\documentclass{article}&#10;\usepackage{amsmath}&#10;\usepackage[utf8]{inputenc}&#10;\usepackage{kotex}&#10;\pagestyle{empty}&#10;\begin{document}&#10;&#10;$&#10;y ~\sim ~N( \mu , \sigma^2 )&#10;$&#10;&#10;&#10;\end{document}" title="IguanaTex Bitmap Display">
            <a:extLst>
              <a:ext uri="{FF2B5EF4-FFF2-40B4-BE49-F238E27FC236}">
                <a16:creationId xmlns:a16="http://schemas.microsoft.com/office/drawing/2014/main" id="{B57E8563-0C0A-484E-90BC-59D0C304578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88" y="2583867"/>
            <a:ext cx="1646400" cy="286400"/>
          </a:xfrm>
          <a:prstGeom prst="rect">
            <a:avLst/>
          </a:prstGeom>
        </p:spPr>
      </p:pic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p(y)~=~&#10;\frac1{\sqrt{2 \pi \sigma^2}}&#10; \, \exp \left\{ -\frac1{2 \sigma^2 } &#10; (y - \mu )^2  \right\}&#10;$$&#10;&#10;&#10;\end{document}" title="IguanaTex Bitmap Display">
            <a:extLst>
              <a:ext uri="{FF2B5EF4-FFF2-40B4-BE49-F238E27FC236}">
                <a16:creationId xmlns:a16="http://schemas.microsoft.com/office/drawing/2014/main" id="{69F6E618-1AEC-4118-AE50-AF200B269D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2" y="3824184"/>
            <a:ext cx="4416000" cy="6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2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\documentclass{article}&#10;\usepackage{amsmath}&#10;\usepackage[utf8]{inputenc}&#10;\usepackage{kotex}&#10;\pagestyle{empty}&#10;\newcommand\bs{\boldsymbol}&#10;\begin{document}&#10;&#10;$$&#10;p({\bs y} )~=~&#10;\left(&#10;\frac1{\sqrt{2 \pi \sigma^2}}&#10;\right)^n \, \exp \left\{ -\frac1{2 \sigma^2 } &#10;\sum_{i=1}^n (y_i - \mu_i )^2  \right\}&#10;$$&#10;&#10;&#10;\end{document}" title="IguanaTex Bitmap Display">
            <a:extLst>
              <a:ext uri="{FF2B5EF4-FFF2-40B4-BE49-F238E27FC236}">
                <a16:creationId xmlns:a16="http://schemas.microsoft.com/office/drawing/2014/main" id="{92D4A95E-5AF7-48E6-8631-6AB6265416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365104"/>
            <a:ext cx="5644798" cy="796800"/>
          </a:xfrm>
          <a:prstGeom prst="rect">
            <a:avLst/>
          </a:prstGeom>
        </p:spPr>
      </p:pic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p({\bs y} )~=~ p(y_1, \ldots, y_n ) ~=~ \prod_i^n p( y_i ) &#10;$$&#10;&#10;&#10;\end{document}" title="IguanaTex Bitmap Display">
            <a:extLst>
              <a:ext uri="{FF2B5EF4-FFF2-40B4-BE49-F238E27FC236}">
                <a16:creationId xmlns:a16="http://schemas.microsoft.com/office/drawing/2014/main" id="{C3E99371-975E-4D5F-AE16-9C54CACD370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802" y="3035381"/>
            <a:ext cx="3993599" cy="727997"/>
          </a:xfrm>
          <a:prstGeom prst="rect">
            <a:avLst/>
          </a:prstGeom>
        </p:spPr>
      </p:pic>
      <p:pic>
        <p:nvPicPr>
          <p:cNvPr id="22" name="그림 21" descr="\documentclass{article}&#10;\usepackage{amsmath}&#10;\usepackage[utf8]{inputenc}&#10;\usepackage{kotex}&#10;\newcommand\bs{\boldsymbol}&#10;\pagestyle{empty}&#10;\begin{document}&#10;&#10;$$&#10;y_i ~\sim ~N( \mu_i , \sigma^2 ), \qquad \mu_i = {\bs x}_i {\bs \beta}&#10;$$&#10;&#10;&#10;\end{document}" title="IguanaTex Bitmap Display">
            <a:extLst>
              <a:ext uri="{FF2B5EF4-FFF2-40B4-BE49-F238E27FC236}">
                <a16:creationId xmlns:a16="http://schemas.microsoft.com/office/drawing/2014/main" id="{C26BB766-A033-482D-A55C-ED4E850D180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115416"/>
            <a:ext cx="3528001" cy="3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(-2) \log L({\bs \mu} )~=~ n\, \log ( 2 \pi \sigma^2)&#10;+ \frac1{\sigma^2 } &#10;\sum_{i=1}^n (y_i - \mu_i )^2 &#10;$$&#10;&#10;&#10;\end{document}" title="IguanaTex Bitmap Display">
            <a:extLst>
              <a:ext uri="{FF2B5EF4-FFF2-40B4-BE49-F238E27FC236}">
                <a16:creationId xmlns:a16="http://schemas.microsoft.com/office/drawing/2014/main" id="{580F1D1D-2694-46C5-8245-D4623FF8E7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789040"/>
            <a:ext cx="5619199" cy="728000"/>
          </a:xfrm>
          <a:prstGeom prst="rect">
            <a:avLst/>
          </a:prstGeom>
        </p:spPr>
      </p:pic>
      <p:pic>
        <p:nvPicPr>
          <p:cNvPr id="16" name="그림 15" descr="\documentclass{article}&#10;\usepackage{amsmath}&#10;\usepackage[utf8]{inputenc}&#10;\usepackage{kotex}&#10;\pagestyle{empty}&#10;\newcommand\bs{\boldsymbol}&#10;\begin{document}&#10;&#10;$$&#10;p({\bs y} | {\bs \mu}  )~=~&#10;\left(&#10;\frac1{\sqrt{2 \pi \sigma^2}}&#10;\right)^n \, \exp \left\{ -\frac1{2 \sigma^2 } &#10;\sum_{i=1}^n (y_i - \mu_i )^2  \right\}&#10;$$&#10;&#10;&#10;\end{document}" title="IguanaTex Bitmap Display">
            <a:extLst>
              <a:ext uri="{FF2B5EF4-FFF2-40B4-BE49-F238E27FC236}">
                <a16:creationId xmlns:a16="http://schemas.microsoft.com/office/drawing/2014/main" id="{6556AF0A-0BBA-44A9-B1A3-8BCBE5D494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844824"/>
            <a:ext cx="5905599" cy="796800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E9EDCC1-09A3-4B6E-95BB-730285C37DDC}"/>
              </a:ext>
            </a:extLst>
          </p:cNvPr>
          <p:cNvCxnSpPr>
            <a:cxnSpLocks/>
          </p:cNvCxnSpPr>
          <p:nvPr/>
        </p:nvCxnSpPr>
        <p:spPr>
          <a:xfrm>
            <a:off x="5350492" y="4725144"/>
            <a:ext cx="182918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8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(-2) \log L({\hat{\bs \mu} }) - n\, \log ( 2 \pi \sigma^2) ~=~&#10; \frac1{\sigma^2 } &#10;\sum_{i=1}^n (y_i - {\hat \mu}_i )^2 &#10;~=~&#10; \frac1{\sigma^2 } SSE({\hat {\bs \mu}}) &#10;$$&#10;&#10;&#10;\end{document}" title="IguanaTex Bitmap Display">
            <a:extLst>
              <a:ext uri="{FF2B5EF4-FFF2-40B4-BE49-F238E27FC236}">
                <a16:creationId xmlns:a16="http://schemas.microsoft.com/office/drawing/2014/main" id="{75671F38-CFB7-46EB-BF0D-0253C6E17A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42" y="1458037"/>
            <a:ext cx="7099428" cy="693333"/>
          </a:xfrm>
          <a:prstGeom prst="rect">
            <a:avLst/>
          </a:prstGeom>
        </p:spPr>
      </p:pic>
      <p:pic>
        <p:nvPicPr>
          <p:cNvPr id="7" name="그림 6" descr="\documentclass{article}&#10;\usepackage{amsmath}&#10;\usepackage[utf8]{inputenc}&#10;\usepackage{kotex}&#10;\pagestyle{empty}&#10;\newcommand\bs{\boldsymbol}&#10;\begin{document}&#10;&#10;$$&#10;(-2) \log L^* ({\hat{\bs \mu} }) - n\, \log (2 \pi \sigma^2) ~=~&#10; \frac1{\sigma^2 } &#10;\sum_{i=1}^n (y_i^* - {\hat \mu}_i )^2  ~=~&#10; \frac1{\sigma^2 } SSE^* ({\hat {\bs \mu}}) &#10;$$&#10;&#10;&#10;\end{document}" title="IguanaTex Bitmap Display">
            <a:extLst>
              <a:ext uri="{FF2B5EF4-FFF2-40B4-BE49-F238E27FC236}">
                <a16:creationId xmlns:a16="http://schemas.microsoft.com/office/drawing/2014/main" id="{200E4EDB-4ECB-47BD-932A-1609DA8F82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42" y="2852936"/>
            <a:ext cx="7373715" cy="693333"/>
          </a:xfrm>
          <a:prstGeom prst="rect">
            <a:avLst/>
          </a:prstGeom>
        </p:spPr>
      </p:pic>
      <p:pic>
        <p:nvPicPr>
          <p:cNvPr id="28" name="그림 27" descr="\documentclass{article}&#10;\usepackage{amsmath}&#10;\usepackage[utf8]{inputenc}&#10;\usepackage{kotex}&#10;\pagestyle{empty}&#10;\newcommand\bs{\boldsymbol}&#10;\begin{document}&#10;&#10;$$&#10;(-2) \log L^*({\hat {\bs \mu}}) ~~~ \approx ~~~ (-2) \log L ({\hat {\bs \mu}})&#10; ~~+~~ {\bs 2} \, (p+1)$$&#10;&#10;&#10;\end{document}" title="IguanaTex Bitmap Display">
            <a:extLst>
              <a:ext uri="{FF2B5EF4-FFF2-40B4-BE49-F238E27FC236}">
                <a16:creationId xmlns:a16="http://schemas.microsoft.com/office/drawing/2014/main" id="{35E09806-CEC4-4B5C-98E4-B2647110BE5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71" y="4437112"/>
            <a:ext cx="5734397" cy="267200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B79D628-76D7-4027-8B57-0FE50372C94E}"/>
              </a:ext>
            </a:extLst>
          </p:cNvPr>
          <p:cNvCxnSpPr>
            <a:cxnSpLocks/>
          </p:cNvCxnSpPr>
          <p:nvPr/>
        </p:nvCxnSpPr>
        <p:spPr>
          <a:xfrm>
            <a:off x="916471" y="4941168"/>
            <a:ext cx="58035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49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3EB6DE3-3BA5-41CA-94AB-1329C749C52D}"/>
              </a:ext>
            </a:extLst>
          </p:cNvPr>
          <p:cNvSpPr/>
          <p:nvPr/>
        </p:nvSpPr>
        <p:spPr>
          <a:xfrm>
            <a:off x="971600" y="3946672"/>
            <a:ext cx="2448272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 descr="\documentclass{article}&#10;\usepackage{amsmath}&#10;\usepackage[utf8]{inputenc}&#10;\usepackage{kotex}&#10;\pagestyle{empty}&#10;\newcommand\bs{\boldsymbol}&#10;\begin{document}&#10;&#10;$$&#10;(-2) \log L^*({\hat {\bs \mu}}) ~~~~~~~~ \approx ~~~ (-2) \log L ({\hat {\bs \mu}})&#10; ~~~~~~~~+~~~~ {\bs 2} \, (p+1)$$&#10;&#10;&#10;\end{document}" title="IguanaTex Bitmap Display">
            <a:extLst>
              <a:ext uri="{FF2B5EF4-FFF2-40B4-BE49-F238E27FC236}">
                <a16:creationId xmlns:a16="http://schemas.microsoft.com/office/drawing/2014/main" id="{B78D8C35-746A-48AF-B2FD-9C725D193B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7" y="1916829"/>
            <a:ext cx="6884799" cy="267200"/>
          </a:xfrm>
          <a:prstGeom prst="rect">
            <a:avLst/>
          </a:prstGeom>
        </p:spPr>
      </p:pic>
      <p:pic>
        <p:nvPicPr>
          <p:cNvPr id="43" name="그림 42" descr="\documentclass{article}&#10;\usepackage{amsmath}&#10;\usepackage[utf8]{inputenc}&#10;\usepackage{kotex}&#10;\pagestyle{empty}&#10;\newcommand\bs{\boldsymbol}&#10;\begin{document}&#10;&#10;$$&#10;(-2) \log L^*(({\hat {\bs \mu}}, {\hat {\bs \sigma^2}})) ~~~ \approx ~~~ (-2) \log L (({\hat {\bs \mu}}, {\hat {\bs \sigma^2}}))&#10; ~~+~~~ {\bs 2} \, (p+1+1)$$&#10;&#10;&#10;\end{document}" title="IguanaTex Bitmap Display">
            <a:extLst>
              <a:ext uri="{FF2B5EF4-FFF2-40B4-BE49-F238E27FC236}">
                <a16:creationId xmlns:a16="http://schemas.microsoft.com/office/drawing/2014/main" id="{45B38788-6B31-4308-8870-237FB79540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924944"/>
            <a:ext cx="7192379" cy="316952"/>
          </a:xfrm>
          <a:prstGeom prst="rect">
            <a:avLst/>
          </a:prstGeom>
        </p:spPr>
      </p:pic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(-2) \log L^*({\hat{\bs \theta}}) ~~~~~~~~~~ \approx ~~~~ (-2) \log L ({\hat {\bs \theta}})&#10; ~~~~~~~~~+~~~ {\bs 2} \,\, df({\bs \theta})$$&#10;&#10;&#10;\end{document}" title="IguanaTex Bitmap Display">
            <a:extLst>
              <a:ext uri="{FF2B5EF4-FFF2-40B4-BE49-F238E27FC236}">
                <a16:creationId xmlns:a16="http://schemas.microsoft.com/office/drawing/2014/main" id="{B4084D1E-4809-422A-8043-B91928E1B90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8" y="4013263"/>
            <a:ext cx="6622479" cy="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3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3EB6DE3-3BA5-41CA-94AB-1329C749C52D}"/>
              </a:ext>
            </a:extLst>
          </p:cNvPr>
          <p:cNvSpPr/>
          <p:nvPr/>
        </p:nvSpPr>
        <p:spPr>
          <a:xfrm>
            <a:off x="1043606" y="2210281"/>
            <a:ext cx="2448272" cy="40011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(-2) \log L^*({\hat{\bs \theta}}) ~~~~~~~~~~ \approx ~~~~ (-2) \log L ({\hat {\bs \theta}})&#10; ~~~~~~~~~+~~~ {\bs 2} \,\, df({\bs \theta})$$&#10;&#10;&#10;\end{document}" title="IguanaTex Bitmap Display">
            <a:extLst>
              <a:ext uri="{FF2B5EF4-FFF2-40B4-BE49-F238E27FC236}">
                <a16:creationId xmlns:a16="http://schemas.microsoft.com/office/drawing/2014/main" id="{B4084D1E-4809-422A-8043-B91928E1B9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276872"/>
            <a:ext cx="6622479" cy="306286"/>
          </a:xfrm>
          <a:prstGeom prst="rect">
            <a:avLst/>
          </a:prstGeom>
        </p:spPr>
      </p:pic>
      <p:pic>
        <p:nvPicPr>
          <p:cNvPr id="7" name="그림 6" descr="\documentclass{article}&#10;\usepackage{amsmath}&#10;\usepackage[utf8]{inputenc}&#10;\usepackage{kotex}&#10;\pagestyle{empty}&#10;\newcommand\bs{\boldsymbol}&#10;\begin{document}&#10;&#10;$$&#10;AIC ~~~ = ~~~~ (-2) \log L ({\hat {\bs \theta}})&#10;~~~~+~~~ {\bs 2} \,\, df({\bs \theta})$$&#10;&#10;&#10;\end{document}" title="IguanaTex Bitmap Display">
            <a:extLst>
              <a:ext uri="{FF2B5EF4-FFF2-40B4-BE49-F238E27FC236}">
                <a16:creationId xmlns:a16="http://schemas.microsoft.com/office/drawing/2014/main" id="{D17572D9-3291-4CA0-ADAC-00CB6D2B109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0" y="3429000"/>
            <a:ext cx="4580574" cy="306286"/>
          </a:xfrm>
          <a:prstGeom prst="rect">
            <a:avLst/>
          </a:prstGeom>
        </p:spPr>
      </p:pic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E12C888-8685-441A-B722-FC3FE36C7E37}"/>
              </a:ext>
            </a:extLst>
          </p:cNvPr>
          <p:cNvCxnSpPr>
            <a:cxnSpLocks/>
          </p:cNvCxnSpPr>
          <p:nvPr/>
        </p:nvCxnSpPr>
        <p:spPr>
          <a:xfrm>
            <a:off x="1187622" y="3861048"/>
            <a:ext cx="48965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\documentclass{article}&#10;\usepackage{amsmath}&#10;\usepackage[utf8]{inputenc}&#10;\usepackage{kotex}&#10;\pagestyle{empty}&#10;\newcommand\bs{\boldsymbol}&#10;\begin{document}&#10;&#10;$$&#10;df({\bs \theta}) ~:~~\mbox{the number of parameters ${\bs \theta}$, ~~ i.e. $\mbox{dim}({\bs \theta})$}&#10;$$&#10;&#10;&#10;\end{document}" title="IguanaTex Bitmap Display">
            <a:extLst>
              <a:ext uri="{FF2B5EF4-FFF2-40B4-BE49-F238E27FC236}">
                <a16:creationId xmlns:a16="http://schemas.microsoft.com/office/drawing/2014/main" id="{74FBAB94-9B08-4958-98AE-D554474535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89" y="4427983"/>
            <a:ext cx="570514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44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F8C03CC-782B-4936-8B1C-FF32A9002856}"/>
              </a:ext>
            </a:extLst>
          </p:cNvPr>
          <p:cNvCxnSpPr/>
          <p:nvPr/>
        </p:nvCxnSpPr>
        <p:spPr>
          <a:xfrm>
            <a:off x="2411760" y="3212976"/>
            <a:ext cx="44644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4780DDB9-0770-4FD0-B46E-BDE4770C62C7}"/>
              </a:ext>
            </a:extLst>
          </p:cNvPr>
          <p:cNvSpPr/>
          <p:nvPr/>
        </p:nvSpPr>
        <p:spPr>
          <a:xfrm>
            <a:off x="2337899" y="31409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19C2953-8CAC-464B-8E63-F66C12613390}"/>
              </a:ext>
            </a:extLst>
          </p:cNvPr>
          <p:cNvSpPr/>
          <p:nvPr/>
        </p:nvSpPr>
        <p:spPr>
          <a:xfrm>
            <a:off x="4566884" y="3140968"/>
            <a:ext cx="144016" cy="1440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5299C6F-927A-41CF-8F27-438254BA0A30}"/>
              </a:ext>
            </a:extLst>
          </p:cNvPr>
          <p:cNvSpPr/>
          <p:nvPr/>
        </p:nvSpPr>
        <p:spPr>
          <a:xfrm>
            <a:off x="6795870" y="3140968"/>
            <a:ext cx="144016" cy="1440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48F7562-6A34-4AA7-B0EA-1823F5816614}"/>
              </a:ext>
            </a:extLst>
          </p:cNvPr>
          <p:cNvSpPr/>
          <p:nvPr/>
        </p:nvSpPr>
        <p:spPr>
          <a:xfrm>
            <a:off x="4031163" y="313948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 descr="\documentclass{article}&#10;\usepackage{amsmath}&#10;\usepackage[utf8]{inputenc}&#10;\usepackage{kotex}&#10;\pagestyle{empty}&#10;\newcommand\bs{\boldsymbol}&#10;\begin{document}&#10;&#10;$$&#10;{\bs y}^* $$&#10;&#10;&#10;\end{document}" title="IguanaTex Bitmap Display">
            <a:extLst>
              <a:ext uri="{FF2B5EF4-FFF2-40B4-BE49-F238E27FC236}">
                <a16:creationId xmlns:a16="http://schemas.microsoft.com/office/drawing/2014/main" id="{1DB297EC-47D7-4BB5-9495-408A2D8DCD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512" y="3073836"/>
            <a:ext cx="252800" cy="251200"/>
          </a:xfrm>
          <a:prstGeom prst="rect">
            <a:avLst/>
          </a:prstGeom>
        </p:spPr>
      </p:pic>
      <p:pic>
        <p:nvPicPr>
          <p:cNvPr id="32" name="그림 31" descr="\documentclass{article}&#10;\usepackage{amsmath}&#10;\usepackage[utf8]{inputenc}&#10;\usepackage{kotex}&#10;\pagestyle{empty}&#10;\newcommand\bs{\boldsymbol}&#10;\begin{document}&#10;&#10;$$&#10;{\bs \mu}$$&#10;&#10;&#10;\end{document}" title="IguanaTex Bitmap Display">
            <a:extLst>
              <a:ext uri="{FF2B5EF4-FFF2-40B4-BE49-F238E27FC236}">
                <a16:creationId xmlns:a16="http://schemas.microsoft.com/office/drawing/2014/main" id="{F020FA74-4B82-421F-B5E0-C9205BFB96D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092" y="2903156"/>
            <a:ext cx="169600" cy="176000"/>
          </a:xfrm>
          <a:prstGeom prst="rect">
            <a:avLst/>
          </a:prstGeom>
        </p:spPr>
      </p:pic>
      <p:pic>
        <p:nvPicPr>
          <p:cNvPr id="22" name="그림 21" descr="\documentclass{article}&#10;\usepackage{amsmath}&#10;\usepackage[utf8]{inputenc}&#10;\usepackage{kotex}&#10;\pagestyle{empty}&#10;\newcommand\bs{\boldsymbol}&#10;\begin{document}&#10;&#10;$$&#10;{\bs y}$$&#10;&#10;&#10;\end{document}" title="IguanaTex Bitmap Display">
            <a:extLst>
              <a:ext uri="{FF2B5EF4-FFF2-40B4-BE49-F238E27FC236}">
                <a16:creationId xmlns:a16="http://schemas.microsoft.com/office/drawing/2014/main" id="{297DB474-3429-4303-941C-4A28E29424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47" y="3150636"/>
            <a:ext cx="147200" cy="174400"/>
          </a:xfrm>
          <a:prstGeom prst="rect">
            <a:avLst/>
          </a:prstGeom>
        </p:spPr>
      </p:pic>
      <p:pic>
        <p:nvPicPr>
          <p:cNvPr id="38" name="그림 37" descr="\documentclass{article}&#10;\usepackage{amsmath}&#10;\usepackage[utf8]{inputenc}&#10;\usepackage{kotex}&#10;\pagestyle{empty}&#10;\newcommand\bs{\boldsymbol}&#10;\begin{document}&#10;&#10;$$&#10;{\hat {\bs y}} $$&#10;&#10;&#10;\end{document}" title="IguanaTex Bitmap Display">
            <a:extLst>
              <a:ext uri="{FF2B5EF4-FFF2-40B4-BE49-F238E27FC236}">
                <a16:creationId xmlns:a16="http://schemas.microsoft.com/office/drawing/2014/main" id="{2C0DEACC-1D6F-4E42-8CB4-308E7DDB12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150" y="2852741"/>
            <a:ext cx="147200" cy="241600"/>
          </a:xfrm>
          <a:prstGeom prst="rect">
            <a:avLst/>
          </a:prstGeom>
        </p:spPr>
      </p:pic>
      <p:sp>
        <p:nvSpPr>
          <p:cNvPr id="40" name="오른쪽 중괄호 39">
            <a:extLst>
              <a:ext uri="{FF2B5EF4-FFF2-40B4-BE49-F238E27FC236}">
                <a16:creationId xmlns:a16="http://schemas.microsoft.com/office/drawing/2014/main" id="{72D051DB-BA5A-4657-8124-5E40EBBE4094}"/>
              </a:ext>
            </a:extLst>
          </p:cNvPr>
          <p:cNvSpPr/>
          <p:nvPr/>
        </p:nvSpPr>
        <p:spPr>
          <a:xfrm rot="16200000">
            <a:off x="5261519" y="1452735"/>
            <a:ext cx="493173" cy="27363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898F398-39AC-4EC1-AC75-B019EC052C27}"/>
              </a:ext>
            </a:extLst>
          </p:cNvPr>
          <p:cNvSpPr/>
          <p:nvPr/>
        </p:nvSpPr>
        <p:spPr>
          <a:xfrm>
            <a:off x="5102605" y="3139485"/>
            <a:ext cx="144016" cy="1440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>
            <a:extLst>
              <a:ext uri="{FF2B5EF4-FFF2-40B4-BE49-F238E27FC236}">
                <a16:creationId xmlns:a16="http://schemas.microsoft.com/office/drawing/2014/main" id="{B0664EE8-7715-4973-A4CA-FB5CCE6A5ACC}"/>
              </a:ext>
            </a:extLst>
          </p:cNvPr>
          <p:cNvSpPr/>
          <p:nvPr/>
        </p:nvSpPr>
        <p:spPr>
          <a:xfrm rot="16200000" flipH="1">
            <a:off x="4394249" y="3070619"/>
            <a:ext cx="526595" cy="10542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 descr="\documentclass{article}&#10;\usepackage{amsmath}&#10;\usepackage[utf8]{inputenc}&#10;\usepackage{kotex}&#10;\pagestyle{empty}&#10;\newcommand\bs{\boldsymbol}&#10;\begin{document}&#10;&#10;$$&#10;{\hat {\bs y}}^* $$&#10;&#10;&#10;\end{document}" title="IguanaTex Bitmap Display">
            <a:extLst>
              <a:ext uri="{FF2B5EF4-FFF2-40B4-BE49-F238E27FC236}">
                <a16:creationId xmlns:a16="http://schemas.microsoft.com/office/drawing/2014/main" id="{7C393592-DABE-49D5-9CD5-1EBD9482A21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387" y="2830341"/>
            <a:ext cx="252800" cy="264000"/>
          </a:xfrm>
          <a:prstGeom prst="rect">
            <a:avLst/>
          </a:prstGeom>
        </p:spPr>
      </p:pic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2A85CA56-9DD5-4ACA-B5C4-D7954A216181}"/>
              </a:ext>
            </a:extLst>
          </p:cNvPr>
          <p:cNvSpPr/>
          <p:nvPr/>
        </p:nvSpPr>
        <p:spPr>
          <a:xfrm rot="16200000" flipH="1">
            <a:off x="5792865" y="2768281"/>
            <a:ext cx="542881" cy="16695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67024690-587E-4EAF-B406-E713EE808ADA}"/>
              </a:ext>
            </a:extLst>
          </p:cNvPr>
          <p:cNvSpPr/>
          <p:nvPr/>
        </p:nvSpPr>
        <p:spPr>
          <a:xfrm rot="16200000" flipH="1">
            <a:off x="2993240" y="2768730"/>
            <a:ext cx="526598" cy="16580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2A943-DF43-443D-9312-C958FE01C7B5}"/>
              </a:ext>
            </a:extLst>
          </p:cNvPr>
          <p:cNvSpPr txBox="1"/>
          <p:nvPr/>
        </p:nvSpPr>
        <p:spPr>
          <a:xfrm>
            <a:off x="5326883" y="1986136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FF0000"/>
                </a:solidFill>
              </a:rPr>
              <a:t>?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{\bs 2} \,\, df({\bs \theta})$$&#10;&#10;&#10;\end{document}" title="IguanaTex Bitmap Display">
            <a:extLst>
              <a:ext uri="{FF2B5EF4-FFF2-40B4-BE49-F238E27FC236}">
                <a16:creationId xmlns:a16="http://schemas.microsoft.com/office/drawing/2014/main" id="{34311BAD-A849-4407-98E9-A71BBC7AFC9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256" y="3982525"/>
            <a:ext cx="778668" cy="25447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B12386C-404D-42FD-B0FD-5D06DFEAC379}"/>
              </a:ext>
            </a:extLst>
          </p:cNvPr>
          <p:cNvSpPr txBox="1"/>
          <p:nvPr/>
        </p:nvSpPr>
        <p:spPr>
          <a:xfrm>
            <a:off x="3094475" y="388439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</a:rPr>
              <a:t>S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99666C-633E-4726-85AF-B2B6F3760E60}"/>
              </a:ext>
            </a:extLst>
          </p:cNvPr>
          <p:cNvSpPr txBox="1"/>
          <p:nvPr/>
        </p:nvSpPr>
        <p:spPr>
          <a:xfrm>
            <a:off x="5920166" y="388439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</a:rPr>
              <a:t>S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58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AIC</a:t>
            </a:r>
          </a:p>
        </p:txBody>
      </p:sp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AIC(M) ~ = ~~ (-2) \log L ({\hat {\bs \theta}})&#10;~+~ {\bs 2} \, df({\bs \theta})$$&#10;&#10;&#10;\end{document}" title="IguanaTex Bitmap Display">
            <a:extLst>
              <a:ext uri="{FF2B5EF4-FFF2-40B4-BE49-F238E27FC236}">
                <a16:creationId xmlns:a16="http://schemas.microsoft.com/office/drawing/2014/main" id="{96D13C05-1D86-428B-9813-0ADE4EAA89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89" y="3191137"/>
            <a:ext cx="5099887" cy="3675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DB7CA-9D37-4877-8839-88264A3CDB19}"/>
              </a:ext>
            </a:extLst>
          </p:cNvPr>
          <p:cNvSpPr txBox="1"/>
          <p:nvPr/>
        </p:nvSpPr>
        <p:spPr>
          <a:xfrm>
            <a:off x="950992" y="2131758"/>
            <a:ext cx="7369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향후 관측될 </a:t>
            </a:r>
            <a:r>
              <a:rPr lang="ko-KR" altLang="en-US" sz="2400" b="1" dirty="0">
                <a:solidFill>
                  <a:srgbClr val="C00000"/>
                </a:solidFill>
              </a:rPr>
              <a:t>새로운 데이터에 </a:t>
            </a:r>
            <a:r>
              <a:rPr lang="ko-KR" altLang="en-US" sz="2400" dirty="0"/>
              <a:t>대한</a:t>
            </a:r>
            <a:r>
              <a:rPr lang="en-US" altLang="ko-KR" sz="2400" dirty="0"/>
              <a:t>, </a:t>
            </a:r>
            <a:r>
              <a:rPr lang="ko-KR" altLang="en-US" sz="2400" b="1" dirty="0">
                <a:solidFill>
                  <a:srgbClr val="0070C0"/>
                </a:solidFill>
              </a:rPr>
              <a:t>예측 적합결여도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1DC98F-D51F-43C9-9083-BF1AEC49DE96}"/>
              </a:ext>
            </a:extLst>
          </p:cNvPr>
          <p:cNvSpPr txBox="1"/>
          <p:nvPr/>
        </p:nvSpPr>
        <p:spPr>
          <a:xfrm>
            <a:off x="1691680" y="4062816"/>
            <a:ext cx="6713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AIC</a:t>
            </a:r>
            <a:r>
              <a:rPr lang="ko-KR" altLang="en-US" sz="2400" b="1" dirty="0"/>
              <a:t>  </a:t>
            </a:r>
            <a:r>
              <a:rPr lang="en-US" altLang="ko-KR" sz="2400" b="1" dirty="0"/>
              <a:t>=  </a:t>
            </a:r>
            <a:r>
              <a:rPr lang="ko-KR" altLang="en-US" sz="2400" b="1" dirty="0">
                <a:solidFill>
                  <a:srgbClr val="7030A0"/>
                </a:solidFill>
              </a:rPr>
              <a:t>현재 적합결여도 </a:t>
            </a:r>
            <a:r>
              <a:rPr lang="en-US" altLang="ko-KR" sz="2400" b="1" dirty="0"/>
              <a:t>+ </a:t>
            </a:r>
            <a:r>
              <a:rPr lang="en-US" altLang="ko-KR" sz="2400" b="1" dirty="0">
                <a:solidFill>
                  <a:srgbClr val="FF0000"/>
                </a:solidFill>
              </a:rPr>
              <a:t>2 </a:t>
            </a:r>
            <a:r>
              <a:rPr lang="ko-KR" altLang="en-US" sz="2400" b="1" dirty="0">
                <a:solidFill>
                  <a:srgbClr val="FF0000"/>
                </a:solidFill>
              </a:rPr>
              <a:t>배</a:t>
            </a:r>
            <a:r>
              <a:rPr lang="ko-KR" altLang="en-US" sz="2400" b="1" dirty="0"/>
              <a:t>의 </a:t>
            </a:r>
            <a:r>
              <a:rPr lang="ko-KR" altLang="en-US" sz="2400" b="1" dirty="0">
                <a:solidFill>
                  <a:schemeClr val="accent2">
                    <a:lumMod val="75000"/>
                  </a:schemeClr>
                </a:solidFill>
              </a:rPr>
              <a:t>모형 복잡도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B07734-850B-4FC7-BCED-08E6D167E604}"/>
              </a:ext>
            </a:extLst>
          </p:cNvPr>
          <p:cNvSpPr txBox="1"/>
          <p:nvPr/>
        </p:nvSpPr>
        <p:spPr>
          <a:xfrm>
            <a:off x="950992" y="5157192"/>
            <a:ext cx="6862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accent2">
                    <a:lumMod val="75000"/>
                  </a:schemeClr>
                </a:solidFill>
              </a:rPr>
              <a:t>복잡한 모형 </a:t>
            </a:r>
            <a:r>
              <a:rPr lang="ko-KR" altLang="en-US" sz="2400" dirty="0"/>
              <a:t>은</a:t>
            </a:r>
            <a:r>
              <a:rPr lang="en-US" altLang="ko-KR" sz="2400" dirty="0"/>
              <a:t>, </a:t>
            </a:r>
            <a:r>
              <a:rPr lang="ko-KR" altLang="en-US" sz="2400" b="1" dirty="0">
                <a:solidFill>
                  <a:srgbClr val="0070C0"/>
                </a:solidFill>
              </a:rPr>
              <a:t>예측 적합결여도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b="1" dirty="0"/>
              <a:t>높이는 효과</a:t>
            </a:r>
          </a:p>
        </p:txBody>
      </p:sp>
    </p:spTree>
    <p:extLst>
      <p:ext uri="{BB962C8B-B14F-4D97-AF65-F5344CB8AC3E}">
        <p14:creationId xmlns:p14="http://schemas.microsoft.com/office/powerpoint/2010/main" val="1748781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48"/>
          <p:cNvSpPr txBox="1">
            <a:spLocks noChangeArrowheads="1"/>
          </p:cNvSpPr>
          <p:nvPr/>
        </p:nvSpPr>
        <p:spPr bwMode="auto">
          <a:xfrm>
            <a:off x="827584" y="836712"/>
            <a:ext cx="2784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  <a:ea typeface="굴림" panose="020B0600000101010101" pitchFamily="50" charset="-127"/>
                <a:cs typeface="+mn-cs"/>
              </a:rPr>
              <a:t>Fit   vs.  Parsimony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 Antiqua" panose="02040602050305030304" pitchFamily="18" charset="0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2420938"/>
            <a:ext cx="4319587" cy="350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Box 48"/>
          <p:cNvSpPr txBox="1">
            <a:spLocks noChangeArrowheads="1"/>
          </p:cNvSpPr>
          <p:nvPr/>
        </p:nvSpPr>
        <p:spPr bwMode="auto">
          <a:xfrm>
            <a:off x="2289175" y="1773238"/>
            <a:ext cx="3703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  <a:ea typeface="굴림" panose="020B0600000101010101" pitchFamily="50" charset="-127"/>
                <a:cs typeface="+mn-cs"/>
              </a:rPr>
              <a:t>Which line is the best ?    Why?</a:t>
            </a: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 Antiqua" panose="0204060205030503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877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\documentclass{article}&#10;\usepackage{amsmath}&#10;\pagestyle{empty}&#10;\begin{document}&#10;&#10;&#10;$$&#10;-2 \log p(D^* | \hat{\boldsymbol \theta})&#10;~\approx~ -2 \log p(D | \hat{\boldsymbol \theta}) + 2 \, df({\boldsymbol \theta})~~=~~\mbox{AIC}&#10;$$&#10;&#10;\end{document}" title="IguanaTex Bitmap Display">
            <a:extLst>
              <a:ext uri="{FF2B5EF4-FFF2-40B4-BE49-F238E27FC236}">
                <a16:creationId xmlns:a16="http://schemas.microsoft.com/office/drawing/2014/main" id="{04B84431-EF32-4C29-B55C-856E381245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060848"/>
            <a:ext cx="5895622" cy="3062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D728116-1840-45F6-BCB4-A13566EE6566}"/>
              </a:ext>
            </a:extLst>
          </p:cNvPr>
          <p:cNvSpPr txBox="1"/>
          <p:nvPr/>
        </p:nvSpPr>
        <p:spPr>
          <a:xfrm>
            <a:off x="755576" y="476672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Meaning of AIC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9B96604-84DB-4BFB-8C20-1E9A96EF992C}"/>
              </a:ext>
            </a:extLst>
          </p:cNvPr>
          <p:cNvCxnSpPr>
            <a:cxnSpLocks/>
          </p:cNvCxnSpPr>
          <p:nvPr/>
        </p:nvCxnSpPr>
        <p:spPr>
          <a:xfrm>
            <a:off x="5546608" y="2483504"/>
            <a:ext cx="60249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598F76D-57CA-4E80-AC68-D2E376B387A6}"/>
              </a:ext>
            </a:extLst>
          </p:cNvPr>
          <p:cNvCxnSpPr>
            <a:cxnSpLocks/>
          </p:cNvCxnSpPr>
          <p:nvPr/>
        </p:nvCxnSpPr>
        <p:spPr>
          <a:xfrm>
            <a:off x="3534253" y="2483504"/>
            <a:ext cx="158417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711FD9-8D1B-46A7-96D8-466B93087FB0}"/>
              </a:ext>
            </a:extLst>
          </p:cNvPr>
          <p:cNvSpPr txBox="1"/>
          <p:nvPr/>
        </p:nvSpPr>
        <p:spPr>
          <a:xfrm>
            <a:off x="3656927" y="256210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70C0"/>
                </a:solidFill>
              </a:rPr>
              <a:t>적합결여도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9969A-0285-499A-90C5-AD916DEF6176}"/>
              </a:ext>
            </a:extLst>
          </p:cNvPr>
          <p:cNvSpPr txBox="1"/>
          <p:nvPr/>
        </p:nvSpPr>
        <p:spPr>
          <a:xfrm>
            <a:off x="5406461" y="2562104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70C0"/>
                </a:solidFill>
              </a:rPr>
              <a:t>모형의 복잡도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DDF3A-6CF6-45C1-8934-2DCC017AAAAD}"/>
              </a:ext>
            </a:extLst>
          </p:cNvPr>
          <p:cNvSpPr txBox="1"/>
          <p:nvPr/>
        </p:nvSpPr>
        <p:spPr>
          <a:xfrm>
            <a:off x="1331640" y="255551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70C0"/>
                </a:solidFill>
              </a:rPr>
              <a:t>예측</a:t>
            </a:r>
            <a:r>
              <a:rPr lang="ko-KR" altLang="en-US" sz="1600" dirty="0">
                <a:solidFill>
                  <a:srgbClr val="0070C0"/>
                </a:solidFill>
              </a:rPr>
              <a:t>적합결여도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7F77663-1C06-4C5C-AE37-D5C8548B9CD9}"/>
              </a:ext>
            </a:extLst>
          </p:cNvPr>
          <p:cNvCxnSpPr>
            <a:cxnSpLocks/>
          </p:cNvCxnSpPr>
          <p:nvPr/>
        </p:nvCxnSpPr>
        <p:spPr>
          <a:xfrm>
            <a:off x="1410556" y="2483504"/>
            <a:ext cx="158417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49BC9D8-8F77-4381-BD78-CF8A3ACB341D}"/>
              </a:ext>
            </a:extLst>
          </p:cNvPr>
          <p:cNvSpPr txBox="1"/>
          <p:nvPr/>
        </p:nvSpPr>
        <p:spPr>
          <a:xfrm>
            <a:off x="1331639" y="292484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accent6">
                    <a:lumMod val="75000"/>
                  </a:schemeClr>
                </a:solidFill>
              </a:rPr>
              <a:t>예측력</a:t>
            </a:r>
            <a:endParaRPr lang="ko-KR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C99D3F-5563-44F4-8D92-47622CB60824}"/>
              </a:ext>
            </a:extLst>
          </p:cNvPr>
          <p:cNvSpPr txBox="1"/>
          <p:nvPr/>
        </p:nvSpPr>
        <p:spPr>
          <a:xfrm>
            <a:off x="3656927" y="292484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</a:rPr>
              <a:t>자료적합도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B167B-5287-444B-B10C-B807B373A16B}"/>
              </a:ext>
            </a:extLst>
          </p:cNvPr>
          <p:cNvSpPr txBox="1"/>
          <p:nvPr/>
        </p:nvSpPr>
        <p:spPr>
          <a:xfrm>
            <a:off x="5406461" y="2924844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</a:rPr>
              <a:t>모형의 단순도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3E281-924E-4928-B059-9D7CBE4F9340}"/>
              </a:ext>
            </a:extLst>
          </p:cNvPr>
          <p:cNvSpPr txBox="1"/>
          <p:nvPr/>
        </p:nvSpPr>
        <p:spPr>
          <a:xfrm>
            <a:off x="1331639" y="3735787"/>
            <a:ext cx="6984776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000" dirty="0"/>
              <a:t>현재의 자료</a:t>
            </a:r>
            <a:r>
              <a:rPr lang="en-US" altLang="ko-KR" sz="2000" dirty="0"/>
              <a:t>(D)</a:t>
            </a:r>
            <a:r>
              <a:rPr lang="ko-KR" altLang="en-US" sz="2000" dirty="0"/>
              <a:t>를 이용하여</a:t>
            </a:r>
            <a:r>
              <a:rPr lang="en-US" altLang="ko-KR" sz="2000" dirty="0"/>
              <a:t>,</a:t>
            </a:r>
          </a:p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000" dirty="0"/>
              <a:t>미래의 자료</a:t>
            </a:r>
            <a:r>
              <a:rPr lang="en-US" altLang="ko-KR" sz="2000" dirty="0"/>
              <a:t>(D*)</a:t>
            </a:r>
            <a:r>
              <a:rPr lang="ko-KR" altLang="en-US" sz="2000" dirty="0"/>
              <a:t>를 잘 예측할 수 있는 모형을 찾기 위함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000" dirty="0"/>
              <a:t>예측력은</a:t>
            </a:r>
            <a:r>
              <a:rPr lang="en-US" altLang="ko-KR" sz="2000" dirty="0"/>
              <a:t>, </a:t>
            </a:r>
            <a:r>
              <a:rPr lang="ko-KR" altLang="en-US" sz="2000" dirty="0"/>
              <a:t>자료적합도와 </a:t>
            </a:r>
            <a:r>
              <a:rPr lang="ko-KR" altLang="en-US" sz="2000" dirty="0" err="1"/>
              <a:t>모형단순도의</a:t>
            </a:r>
            <a:r>
              <a:rPr lang="ko-KR" altLang="en-US" sz="2000" dirty="0"/>
              <a:t> 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3858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AIC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58B38-0A81-4FDA-A489-62922113B994}"/>
              </a:ext>
            </a:extLst>
          </p:cNvPr>
          <p:cNvSpPr txBox="1"/>
          <p:nvPr/>
        </p:nvSpPr>
        <p:spPr>
          <a:xfrm>
            <a:off x="824195" y="2591453"/>
            <a:ext cx="8077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  devised by </a:t>
            </a:r>
            <a:r>
              <a:rPr lang="en-US" altLang="ko-KR" sz="2400" dirty="0" err="1"/>
              <a:t>Hirotugu</a:t>
            </a:r>
            <a:r>
              <a:rPr lang="en-US" altLang="ko-KR" sz="2400" dirty="0"/>
              <a:t> Akaike (1927-2009)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984C5-D9B8-42A6-A653-7B863275BD5E}"/>
              </a:ext>
            </a:extLst>
          </p:cNvPr>
          <p:cNvSpPr txBox="1"/>
          <p:nvPr/>
        </p:nvSpPr>
        <p:spPr>
          <a:xfrm>
            <a:off x="824195" y="1784212"/>
            <a:ext cx="8077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  Akaike Information Criterion (1971, 1973)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665551-9349-4F6F-8C46-B742B0E1069E}"/>
              </a:ext>
            </a:extLst>
          </p:cNvPr>
          <p:cNvSpPr txBox="1"/>
          <p:nvPr/>
        </p:nvSpPr>
        <p:spPr>
          <a:xfrm>
            <a:off x="824195" y="4205935"/>
            <a:ext cx="8077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  Mallow’s Cp (1973), plays equivalent role in regression  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1166A-7218-4923-8BF1-61F526DF26B4}"/>
              </a:ext>
            </a:extLst>
          </p:cNvPr>
          <p:cNvSpPr txBox="1"/>
          <p:nvPr/>
        </p:nvSpPr>
        <p:spPr>
          <a:xfrm>
            <a:off x="810583" y="5013176"/>
            <a:ext cx="8077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  One of the most brilliant achievements in statistics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CF57B-899E-46A9-9A2F-BBCA3C9B16B9}"/>
              </a:ext>
            </a:extLst>
          </p:cNvPr>
          <p:cNvSpPr txBox="1"/>
          <p:nvPr/>
        </p:nvSpPr>
        <p:spPr>
          <a:xfrm>
            <a:off x="824195" y="3398694"/>
            <a:ext cx="8077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-  works in variety of statistical models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32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48"/>
          <p:cNvSpPr txBox="1">
            <a:spLocks noChangeArrowheads="1"/>
          </p:cNvSpPr>
          <p:nvPr/>
        </p:nvSpPr>
        <p:spPr bwMode="auto">
          <a:xfrm>
            <a:off x="732930" y="1063778"/>
            <a:ext cx="20812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  <a:ea typeface="굴림" panose="020B0600000101010101" pitchFamily="50" charset="-127"/>
                <a:cs typeface="+mn-cs"/>
              </a:rPr>
              <a:t>Mallows’ Cp :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 Antiqua" panose="02040602050305030304" pitchFamily="18" charset="0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14" name="그림 13" descr="\documentclass{article}&#10;\usepackage{amsmath}&#10;\pagestyle{empty}&#10;\begin{document}&#10;&#10;$ &#10;C_p ~=~ (n-p-1) ( MSE - \hat \sigma^2 )/ \hat \sigma^2  + (p+1)&#10;$&#10;&#10;&#10;\end{document}" title="IguanaTex Bitmap Display">
            <a:extLst>
              <a:ext uri="{FF2B5EF4-FFF2-40B4-BE49-F238E27FC236}">
                <a16:creationId xmlns:a16="http://schemas.microsoft.com/office/drawing/2014/main" id="{C62C4343-1752-4231-BA9E-018A0902B6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45568"/>
            <a:ext cx="4867047" cy="28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\documentclass{article}&#10;\usepackage{amsmath}&#10;\pagestyle{empty}&#10;\begin{document}&#10;&#10;$ &#10;= ~ SSE /\hat \sigma^2 - n + 2 (p+1)&#10;$&#10;&#10;&#10;\end{document}" title="IguanaTex Bitmap Display">
            <a:extLst>
              <a:ext uri="{FF2B5EF4-FFF2-40B4-BE49-F238E27FC236}">
                <a16:creationId xmlns:a16="http://schemas.microsoft.com/office/drawing/2014/main" id="{E6846B31-C4BE-4AE8-8A67-4A228E3B89D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852936"/>
            <a:ext cx="2902857" cy="2727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F4B958C6-8A7D-4544-BBE1-797A8F1C68E0}"/>
              </a:ext>
            </a:extLst>
          </p:cNvPr>
          <p:cNvGrpSpPr/>
          <p:nvPr/>
        </p:nvGrpSpPr>
        <p:grpSpPr>
          <a:xfrm>
            <a:off x="4716016" y="2975565"/>
            <a:ext cx="3328988" cy="3168650"/>
            <a:chOff x="4572000" y="2708920"/>
            <a:chExt cx="3328988" cy="3168650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93CF352-2203-4FE1-8261-C1F5481219A2}"/>
                </a:ext>
              </a:extLst>
            </p:cNvPr>
            <p:cNvGrpSpPr/>
            <p:nvPr/>
          </p:nvGrpSpPr>
          <p:grpSpPr>
            <a:xfrm>
              <a:off x="4572000" y="2708920"/>
              <a:ext cx="3328988" cy="3168650"/>
              <a:chOff x="5210175" y="1068388"/>
              <a:chExt cx="3328988" cy="3168650"/>
            </a:xfrm>
          </p:grpSpPr>
          <p:sp>
            <p:nvSpPr>
              <p:cNvPr id="19" name="타원 4">
                <a:extLst>
                  <a:ext uri="{FF2B5EF4-FFF2-40B4-BE49-F238E27FC236}">
                    <a16:creationId xmlns:a16="http://schemas.microsoft.com/office/drawing/2014/main" id="{B8142E29-49C9-4ED5-BE25-FDE456CEC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0175" y="1068388"/>
                <a:ext cx="3328988" cy="3168650"/>
              </a:xfrm>
              <a:prstGeom prst="ellipse">
                <a:avLst/>
              </a:prstGeom>
              <a:noFill/>
              <a:ln w="7938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endParaRPr>
              </a:p>
            </p:txBody>
          </p:sp>
          <p:sp>
            <p:nvSpPr>
              <p:cNvPr id="20" name="타원 5">
                <a:extLst>
                  <a:ext uri="{FF2B5EF4-FFF2-40B4-BE49-F238E27FC236}">
                    <a16:creationId xmlns:a16="http://schemas.microsoft.com/office/drawing/2014/main" id="{6F16D967-159D-4504-B716-0C384AF62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7688" y="1927225"/>
                <a:ext cx="1871662" cy="1952625"/>
              </a:xfrm>
              <a:prstGeom prst="ellipse">
                <a:avLst/>
              </a:prstGeom>
              <a:noFill/>
              <a:ln w="7938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anose="02040602050305030304" pitchFamily="18" charset="0"/>
                  <a:ea typeface="굴림" panose="020B0600000101010101" pitchFamily="50" charset="-127"/>
                  <a:cs typeface="+mn-cs"/>
                </a:endParaRPr>
              </a:p>
            </p:txBody>
          </p:sp>
          <p:sp>
            <p:nvSpPr>
              <p:cNvPr id="22" name="TextBox 7">
                <a:extLst>
                  <a:ext uri="{FF2B5EF4-FFF2-40B4-BE49-F238E27FC236}">
                    <a16:creationId xmlns:a16="http://schemas.microsoft.com/office/drawing/2014/main" id="{C187DD9A-86BA-4B0C-B7FE-893E112F82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99350" y="1695450"/>
                <a:ext cx="746125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marR="0" lvl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Book Antiqua" panose="02040602050305030304" pitchFamily="18" charset="0"/>
                    <a:ea typeface="굴림" panose="020B0600000101010101" pitchFamily="50" charset="-127"/>
                    <a:cs typeface="+mn-cs"/>
                  </a:rPr>
                  <a:t>AIC</a:t>
                </a:r>
                <a:endParaRPr kumimoji="1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ok Antiqua" panose="02040602050305030304" pitchFamily="18" charset="0"/>
                  <a:ea typeface="굴림" panose="020B0600000101010101" pitchFamily="50" charset="-127"/>
                  <a:cs typeface="+mn-cs"/>
                </a:endParaRPr>
              </a:p>
            </p:txBody>
          </p:sp>
        </p:grpSp>
        <p:pic>
          <p:nvPicPr>
            <p:cNvPr id="11" name="그림 10" descr="\documentclass{article}&#10;\usepackage{amsmath}&#10;\pagestyle{empty}&#10;\begin{document}&#10;&#10;$ &#10;C_p $&#10;&#10;&#10;\end{document}" title="IguanaTex Bitmap Display">
              <a:extLst>
                <a:ext uri="{FF2B5EF4-FFF2-40B4-BE49-F238E27FC236}">
                  <a16:creationId xmlns:a16="http://schemas.microsoft.com/office/drawing/2014/main" id="{2FCD9DF1-61FA-473E-9B1A-572EF0B6317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6846" y="4437112"/>
              <a:ext cx="375467" cy="352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" name="그림 29" descr="\documentclass{article}&#10;\usepackage{amsmath}&#10;\pagestyle{empty}&#10;\begin{document}&#10;&#10;$ &#10;\hat \sigma^2 ~=~ \mbox{ MSE of Full model}&#10;$&#10;&#10;&#10;\end{document}" title="IguanaTex Bitmap Display">
            <a:extLst>
              <a:ext uri="{FF2B5EF4-FFF2-40B4-BE49-F238E27FC236}">
                <a16:creationId xmlns:a16="http://schemas.microsoft.com/office/drawing/2014/main" id="{FA76530B-F1DB-41AF-A5F0-3EE596D3F2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34" y="3639139"/>
            <a:ext cx="2937907" cy="21485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95772A-CD1A-4CE1-A8EF-8E957AB30C78}"/>
              </a:ext>
            </a:extLst>
          </p:cNvPr>
          <p:cNvSpPr txBox="1"/>
          <p:nvPr/>
        </p:nvSpPr>
        <p:spPr>
          <a:xfrm>
            <a:off x="965744" y="4725144"/>
            <a:ext cx="40254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한때 인기있던 통계량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,</a:t>
            </a:r>
          </a:p>
          <a:p>
            <a:endParaRPr lang="en-US" altLang="ko-KR" dirty="0">
              <a:solidFill>
                <a:srgbClr val="0070C0"/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요즘은 더 이상 쓸모가 없음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.</a:t>
            </a:r>
          </a:p>
          <a:p>
            <a:endParaRPr lang="en-US" altLang="ko-KR" dirty="0">
              <a:solidFill>
                <a:srgbClr val="0070C0"/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rgbClr val="0070C0"/>
                </a:solidFill>
                <a:latin typeface="+mj-ea"/>
                <a:ea typeface="+mj-ea"/>
              </a:rPr>
              <a:t>최신 강의에서는 마땅히 제외해야 함</a:t>
            </a:r>
            <a:r>
              <a:rPr lang="en-US" altLang="ko-KR" dirty="0">
                <a:solidFill>
                  <a:srgbClr val="0070C0"/>
                </a:solidFill>
                <a:latin typeface="+mj-ea"/>
                <a:ea typeface="+mj-ea"/>
              </a:rPr>
              <a:t>.</a:t>
            </a:r>
            <a:endParaRPr lang="ko-KR" altLang="en-US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46471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BIC</a:t>
            </a:r>
          </a:p>
        </p:txBody>
      </p:sp>
      <p:pic>
        <p:nvPicPr>
          <p:cNvPr id="19" name="그림 18" descr="\documentclass{article}&#10;\usepackage{amsmath}&#10;\pagestyle{empty}&#10;\begin{document}&#10;&#10;&#10;$$&#10;y = \beta_0 + \epsilon&#10;$$&#10;&#10;\end{document}" title="IguanaTex Bitmap Display">
            <a:extLst>
              <a:ext uri="{FF2B5EF4-FFF2-40B4-BE49-F238E27FC236}">
                <a16:creationId xmlns:a16="http://schemas.microsoft.com/office/drawing/2014/main" id="{ADD4B24A-A0C6-4ABD-BE6E-172939E733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573016"/>
            <a:ext cx="1126095" cy="231618"/>
          </a:xfrm>
          <a:prstGeom prst="rect">
            <a:avLst/>
          </a:prstGeom>
        </p:spPr>
      </p:pic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M_1 ({\bs \theta}), \ldots, M_s ({\bs \theta})&#10;$$&#10;&#10;&#10;\end{document}" title="IguanaTex Bitmap Display">
            <a:extLst>
              <a:ext uri="{FF2B5EF4-FFF2-40B4-BE49-F238E27FC236}">
                <a16:creationId xmlns:a16="http://schemas.microsoft.com/office/drawing/2014/main" id="{CC603DF9-2347-48B0-8C0D-3F2CCAC671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287288"/>
            <a:ext cx="2030399" cy="267200"/>
          </a:xfrm>
          <a:prstGeom prst="rect">
            <a:avLst/>
          </a:prstGeom>
        </p:spPr>
      </p:pic>
      <p:pic>
        <p:nvPicPr>
          <p:cNvPr id="21" name="그림 20" descr="\documentclass{article}&#10;\usepackage{amsmath}&#10;\pagestyle{empty}&#10;\begin{document}&#10;&#10;&#10;$$&#10;y = \beta_0 + \beta_1 x_1 + \epsilon&#10;$$&#10;&#10;\end{document}" title="IguanaTex Bitmap Display">
            <a:extLst>
              <a:ext uri="{FF2B5EF4-FFF2-40B4-BE49-F238E27FC236}">
                <a16:creationId xmlns:a16="http://schemas.microsoft.com/office/drawing/2014/main" id="{8C210E99-B440-42C8-B7C9-914FA415FC1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437112"/>
            <a:ext cx="1948953" cy="231618"/>
          </a:xfrm>
          <a:prstGeom prst="rect">
            <a:avLst/>
          </a:prstGeom>
        </p:spPr>
      </p:pic>
      <p:pic>
        <p:nvPicPr>
          <p:cNvPr id="40" name="그림 39" descr="\documentclass{article}&#10;\usepackage{amsmath}&#10;\usepackage[utf8]{inputenc}&#10;\usepackage{kotex}&#10;\pagestyle{empty}&#10;\newcommand\bs{\boldsymbol}&#10;\begin{document}&#10;&#10;$$&#10;{\bs \theta} = (\, \beta_0 \,) ~\in ~R^1&#10;$$&#10;&#10;&#10;\end{document}" title="IguanaTex Bitmap Display">
            <a:extLst>
              <a:ext uri="{FF2B5EF4-FFF2-40B4-BE49-F238E27FC236}">
                <a16:creationId xmlns:a16="http://schemas.microsoft.com/office/drawing/2014/main" id="{18296257-559F-418A-85F5-0DEF6560650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573016"/>
            <a:ext cx="1769142" cy="286476"/>
          </a:xfrm>
          <a:prstGeom prst="rect">
            <a:avLst/>
          </a:prstGeom>
        </p:spPr>
      </p:pic>
      <p:pic>
        <p:nvPicPr>
          <p:cNvPr id="43" name="그림 42" descr="\documentclass{article}&#10;\usepackage{amsmath}&#10;\usepackage[utf8]{inputenc}&#10;\usepackage{kotex}&#10;\pagestyle{empty}&#10;\newcommand\bs{\boldsymbol}&#10;\begin{document}&#10;&#10;$$&#10;{\bs \theta} = (\, \beta_0 , \beta_1 \,) ~\in ~R^2&#10;$$&#10;&#10;&#10;\end{document}" title="IguanaTex Bitmap Display">
            <a:extLst>
              <a:ext uri="{FF2B5EF4-FFF2-40B4-BE49-F238E27FC236}">
                <a16:creationId xmlns:a16="http://schemas.microsoft.com/office/drawing/2014/main" id="{11F34583-FB26-4E59-AB65-8022A053080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34" y="4437112"/>
            <a:ext cx="2143999" cy="2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32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p({\bs y}| {\bar M }) = \int p({\bs y}| M({\bs \theta})) \, p({\bs \theta}|M ) \, d \, {\bs \theta}&#10;$$&#10;&#10;&#10;\end{document}" title="IguanaTex Bitmap Display">
            <a:extLst>
              <a:ext uri="{FF2B5EF4-FFF2-40B4-BE49-F238E27FC236}">
                <a16:creationId xmlns:a16="http://schemas.microsoft.com/office/drawing/2014/main" id="{ECB067F5-A90E-4FAF-AE04-FD34CBEFB1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225" y="3356992"/>
            <a:ext cx="4047998" cy="590400"/>
          </a:xfrm>
          <a:prstGeom prst="rect">
            <a:avLst/>
          </a:prstGeom>
        </p:spPr>
      </p:pic>
      <p:pic>
        <p:nvPicPr>
          <p:cNvPr id="25" name="그림 24" descr="\documentclass{article}&#10;\usepackage{amsmath}&#10;\usepackage[utf8]{inputenc}&#10;\usepackage{kotex}&#10;\pagestyle{empty}&#10;\newcommand\bs{\boldsymbol}&#10;\begin{document}&#10;&#10;$$&#10;p({\bs y}) = \int p({\bs y}| {\bs \theta}) \, p({\bs \theta} ) \, d \, {\bs \theta} &#10;$$&#10;&#10;&#10;\end{document}" title="IguanaTex Bitmap Display">
            <a:extLst>
              <a:ext uri="{FF2B5EF4-FFF2-40B4-BE49-F238E27FC236}">
                <a16:creationId xmlns:a16="http://schemas.microsoft.com/office/drawing/2014/main" id="{92B849BE-64B9-4B21-A112-2263406236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916832"/>
            <a:ext cx="2833597" cy="590400"/>
          </a:xfrm>
          <a:prstGeom prst="rect">
            <a:avLst/>
          </a:prstGeom>
        </p:spPr>
      </p:pic>
      <p:pic>
        <p:nvPicPr>
          <p:cNvPr id="23" name="그림 22" descr="\documentclass{article}&#10;\usepackage{amsmath}&#10;\usepackage[utf8]{inputenc}&#10;\usepackage{kotex}&#10;\pagestyle{empty}&#10;\newcommand\bs{\boldsymbol}&#10;\begin{document}&#10;&#10;$$&#10; = \int p({\bs y}| M, {\bs \theta} ) \, p({\bs \theta}| M ) \, d \, {\bs \theta}&#10;$$&#10;&#10;&#10;\end{document}" title="IguanaTex Bitmap Display">
            <a:extLst>
              <a:ext uri="{FF2B5EF4-FFF2-40B4-BE49-F238E27FC236}">
                <a16:creationId xmlns:a16="http://schemas.microsoft.com/office/drawing/2014/main" id="{200D206A-12B8-431E-B464-CC002C9CB9C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501952"/>
            <a:ext cx="297919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97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\documentclass{article}&#10;\usepackage{amsmath}&#10;\usepackage[utf8]{inputenc}&#10;\usepackage{kotex}&#10;\pagestyle{empty}&#10;\newcommand\bs{\boldsymbol}&#10;\begin{document}&#10;&#10;$$&#10;p({\bs y}| M({\bs \theta}))&#10;$$&#10;&#10;&#10;\end{document}" title="IguanaTex Bitmap Display">
            <a:extLst>
              <a:ext uri="{FF2B5EF4-FFF2-40B4-BE49-F238E27FC236}">
                <a16:creationId xmlns:a16="http://schemas.microsoft.com/office/drawing/2014/main" id="{B4187F8E-228F-41AB-BC28-2DB46B4F7D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060848"/>
            <a:ext cx="1214400" cy="267200"/>
          </a:xfrm>
          <a:prstGeom prst="rect">
            <a:avLst/>
          </a:prstGeom>
        </p:spPr>
      </p:pic>
      <p:pic>
        <p:nvPicPr>
          <p:cNvPr id="17" name="그림 16" descr="\documentclass{article}&#10;\usepackage{amsmath}&#10;\usepackage[utf8]{inputenc}&#10;\usepackage{kotex}&#10;\pagestyle{empty}&#10;\newcommand\bs{\boldsymbol}&#10;\begin{document}&#10;&#10;$$&#10;p({\bs y}| {\bar M }) = E[ p({\bs y}| M({\bs \theta}) )] $$&#10;&#10;&#10;\end{document}" title="IguanaTex Bitmap Display">
            <a:extLst>
              <a:ext uri="{FF2B5EF4-FFF2-40B4-BE49-F238E27FC236}">
                <a16:creationId xmlns:a16="http://schemas.microsoft.com/office/drawing/2014/main" id="{657F3623-FF72-4602-940B-C7FF721A6F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429000"/>
            <a:ext cx="2791998" cy="291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BC580A-AEFB-4D81-A21E-3F9FE11AD6AD}"/>
              </a:ext>
            </a:extLst>
          </p:cNvPr>
          <p:cNvSpPr txBox="1"/>
          <p:nvPr/>
        </p:nvSpPr>
        <p:spPr>
          <a:xfrm>
            <a:off x="4581994" y="2009782"/>
            <a:ext cx="359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likelihood   </a:t>
            </a:r>
            <a:r>
              <a:rPr lang="en-US" altLang="ko-KR" dirty="0"/>
              <a:t>(</a:t>
            </a:r>
            <a:r>
              <a:rPr lang="en-US" altLang="ko-KR" dirty="0" err="1"/>
              <a:t>model+parameter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9CC69-CA66-474E-B8AE-9BDB22A97534}"/>
              </a:ext>
            </a:extLst>
          </p:cNvPr>
          <p:cNvSpPr txBox="1"/>
          <p:nvPr/>
        </p:nvSpPr>
        <p:spPr>
          <a:xfrm>
            <a:off x="4581994" y="3350868"/>
            <a:ext cx="1935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model likelihood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19" name="그림 18" descr="\documentclass{article}&#10;\usepackage{amsmath}&#10;\usepackage[utf8]{inputenc}&#10;\usepackage{kotex}&#10;\pagestyle{empty}&#10;\newcommand\bs{\boldsymbol}&#10;\begin{document}&#10;&#10;$$&#10;= \int p({\bs y}| M({\bs \theta})) \, p({\bs \theta}|M ) \, d \, {\bs \theta}&#10;$$&#10;&#10;&#10;\end{document}" title="IguanaTex Bitmap Display">
            <a:extLst>
              <a:ext uri="{FF2B5EF4-FFF2-40B4-BE49-F238E27FC236}">
                <a16:creationId xmlns:a16="http://schemas.microsoft.com/office/drawing/2014/main" id="{F34B9050-7ECF-41C1-A08F-3265DF95DB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235459"/>
            <a:ext cx="3083198" cy="590400"/>
          </a:xfrm>
          <a:prstGeom prst="rect">
            <a:avLst/>
          </a:prstGeom>
        </p:spPr>
      </p:pic>
      <p:pic>
        <p:nvPicPr>
          <p:cNvPr id="21" name="그림 20" descr="\documentclass{article}&#10;\usepackage{amsmath}&#10;\usepackage[utf8]{inputenc}&#10;\usepackage{kotex}&#10;\pagestyle{empty}&#10;\newcommand\bs{\boldsymbol}&#10;\begin{document}&#10;&#10;$$&#10;p({\bs \theta}|M ) ~:~~\mbox{prior under model}&#10;$$&#10;&#10;&#10;\end{document}" title="IguanaTex Bitmap Display">
            <a:extLst>
              <a:ext uri="{FF2B5EF4-FFF2-40B4-BE49-F238E27FC236}">
                <a16:creationId xmlns:a16="http://schemas.microsoft.com/office/drawing/2014/main" id="{8D344507-F9C0-44A4-BBC2-8EF285B5DAB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5213880"/>
            <a:ext cx="3289904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70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 descr="\documentclass{article}&#10;\usepackage{amsmath}&#10;\usepackage[utf8]{inputenc}&#10;\usepackage{kotex}&#10;\pagestyle{empty}&#10;\newcommand\bs{\boldsymbol}&#10;\begin{document}&#10;&#10;$$&#10;p({\bs y}| M({\hat {\bs \theta})})  ~~\propto ~~ p({\bs y}| {\bar M }) \cdot \left( \frac{n}{2 \pi}\right)^{df({\bs \theta})/2}&#10;$$&#10;&#10;&#10;\end{document}" title="IguanaTex Bitmap Display">
            <a:extLst>
              <a:ext uri="{FF2B5EF4-FFF2-40B4-BE49-F238E27FC236}">
                <a16:creationId xmlns:a16="http://schemas.microsoft.com/office/drawing/2014/main" id="{FA1D985A-B921-479F-8D2C-9E884C38F1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9" y="3783152"/>
            <a:ext cx="4377599" cy="563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12CE53F-2AE5-48C8-B49D-430B8324754F}"/>
              </a:ext>
            </a:extLst>
          </p:cNvPr>
          <p:cNvSpPr txBox="1"/>
          <p:nvPr/>
        </p:nvSpPr>
        <p:spPr>
          <a:xfrm>
            <a:off x="1354719" y="4941168"/>
            <a:ext cx="643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max. likelihood </a:t>
            </a:r>
            <a:r>
              <a:rPr lang="en-US" altLang="ko-KR" b="1" dirty="0"/>
              <a:t> </a:t>
            </a:r>
            <a:r>
              <a:rPr lang="en-US" altLang="ko-KR" dirty="0"/>
              <a:t>=  </a:t>
            </a:r>
            <a:r>
              <a:rPr lang="en-US" altLang="ko-KR" b="1" dirty="0"/>
              <a:t>overall model effect</a:t>
            </a:r>
            <a:r>
              <a:rPr lang="en-US" altLang="ko-KR" dirty="0"/>
              <a:t>  +  </a:t>
            </a:r>
            <a:r>
              <a:rPr lang="en-US" altLang="ko-KR" b="1" dirty="0">
                <a:solidFill>
                  <a:srgbClr val="C00000"/>
                </a:solidFill>
              </a:rPr>
              <a:t>fitting</a:t>
            </a:r>
            <a:r>
              <a:rPr lang="en-US" altLang="ko-KR" dirty="0"/>
              <a:t> effect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AFB0AF-5271-4AA8-B212-C13227034904}"/>
              </a:ext>
            </a:extLst>
          </p:cNvPr>
          <p:cNvSpPr txBox="1"/>
          <p:nvPr/>
        </p:nvSpPr>
        <p:spPr>
          <a:xfrm>
            <a:off x="1238457" y="2204864"/>
            <a:ext cx="291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by Laplace Approximation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F7F79-06C7-41AB-AC47-2BD20D837B31}"/>
              </a:ext>
            </a:extLst>
          </p:cNvPr>
          <p:cNvSpPr txBox="1"/>
          <p:nvPr/>
        </p:nvSpPr>
        <p:spPr>
          <a:xfrm>
            <a:off x="4545539" y="2164250"/>
            <a:ext cx="2190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</a:rPr>
              <a:t>See, Appendix </a:t>
            </a:r>
            <a:r>
              <a:rPr lang="en-US" altLang="ko-KR" sz="2000" b="1" dirty="0">
                <a:solidFill>
                  <a:srgbClr val="FF0000"/>
                </a:solidFill>
              </a:rPr>
              <a:t>B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A8B9F-B964-42A3-84C0-8EA6DF9BA48A}"/>
              </a:ext>
            </a:extLst>
          </p:cNvPr>
          <p:cNvSpPr txBox="1"/>
          <p:nvPr/>
        </p:nvSpPr>
        <p:spPr>
          <a:xfrm>
            <a:off x="3419872" y="5310500"/>
            <a:ext cx="1551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</a:rPr>
              <a:t>model likelihood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pic>
        <p:nvPicPr>
          <p:cNvPr id="8" name="그림 7" descr="\documentclass{article}&#10;\usepackage{amsmath}&#10;\usepackage[utf8]{inputenc}&#10;\usepackage{kotex}&#10;\pagestyle{empty}&#10;\newcommand\bs{\boldsymbol}&#10;\begin{document}&#10;&#10;$$&#10;p({\bs y}| {\bar M })  ~~\propto ~~  p({\bs y}| M({\hat {\bs \theta})}) \cdot \left( \frac{n}{2 \pi}\right)^{ - df({\bs \theta})/2}&#10;$$&#10;&#10;&#10;\end{document}" title="IguanaTex Bitmap Display">
            <a:extLst>
              <a:ext uri="{FF2B5EF4-FFF2-40B4-BE49-F238E27FC236}">
                <a16:creationId xmlns:a16="http://schemas.microsoft.com/office/drawing/2014/main" id="{28A5ED54-C5D5-4EC1-9A81-37AD53D186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51" y="1124744"/>
            <a:ext cx="4543998" cy="5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58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 descr="\documentclass{article}&#10;\usepackage{amsmath}&#10;\newcommand\bs{\boldsymbol}&#10;\pagestyle{empty}&#10;\begin{document}&#10;&#10;&#10;$$&#10; -2 \, \log \, p ({\bs y} | {\bar M }) ~ \approx ~ -2 \, \log \, p ( {\bs y} | M( \hat{\boldsymbol \theta} ) ) ~+~ &#10; \log n  \cdot df({\bs \theta}) ~+~ const&#10;$$&#10;&#10;\end{document}" title="IguanaTex Bitmap Display">
            <a:extLst>
              <a:ext uri="{FF2B5EF4-FFF2-40B4-BE49-F238E27FC236}">
                <a16:creationId xmlns:a16="http://schemas.microsoft.com/office/drawing/2014/main" id="{39452B0A-013A-4844-8386-84BDC5CEBE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8" y="3429000"/>
            <a:ext cx="7110098" cy="306284"/>
          </a:xfrm>
          <a:prstGeom prst="rect">
            <a:avLst/>
          </a:prstGeom>
        </p:spPr>
      </p:pic>
      <p:pic>
        <p:nvPicPr>
          <p:cNvPr id="29" name="그림 28" descr="\documentclass{article}&#10;\usepackage{amsmath}&#10;\newcommand\bs{\boldsymbol}&#10;\pagestyle{empty}&#10;\begin{document}&#10;&#10;&#10;$$&#10;BIC ~ = ~ -2 \, \log \, p ( {\bs y} | M( \hat{\boldsymbol \theta} ) ) ~+~ &#10; \log n  \cdot df({\bs \theta})&#10;$$&#10;&#10;\end{document}" title="IguanaTex Bitmap Display">
            <a:extLst>
              <a:ext uri="{FF2B5EF4-FFF2-40B4-BE49-F238E27FC236}">
                <a16:creationId xmlns:a16="http://schemas.microsoft.com/office/drawing/2014/main" id="{ECF1BA50-B8A6-4332-812C-772C4AE3EE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6" y="5013176"/>
            <a:ext cx="4920382" cy="306284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4890AF6-AFA2-45B0-BDD9-FC034AF0C1D8}"/>
              </a:ext>
            </a:extLst>
          </p:cNvPr>
          <p:cNvCxnSpPr>
            <a:cxnSpLocks/>
          </p:cNvCxnSpPr>
          <p:nvPr/>
        </p:nvCxnSpPr>
        <p:spPr>
          <a:xfrm>
            <a:off x="887872" y="5503527"/>
            <a:ext cx="51339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790E182-ED46-4DD1-85DD-056D24BF6FC0}"/>
              </a:ext>
            </a:extLst>
          </p:cNvPr>
          <p:cNvCxnSpPr>
            <a:cxnSpLocks/>
          </p:cNvCxnSpPr>
          <p:nvPr/>
        </p:nvCxnSpPr>
        <p:spPr>
          <a:xfrm>
            <a:off x="5484543" y="3861050"/>
            <a:ext cx="73566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714CB7F-F6BA-4EB9-9AF8-8341D45DCC37}"/>
              </a:ext>
            </a:extLst>
          </p:cNvPr>
          <p:cNvCxnSpPr>
            <a:cxnSpLocks/>
          </p:cNvCxnSpPr>
          <p:nvPr/>
        </p:nvCxnSpPr>
        <p:spPr>
          <a:xfrm>
            <a:off x="2964263" y="4005066"/>
            <a:ext cx="41102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\documentclass{article}&#10;\usepackage{amsmath}&#10;\usepackage[utf8]{inputenc}&#10;\usepackage{kotex}&#10;\pagestyle{empty}&#10;\newcommand\bs{\boldsymbol}&#10;\begin{document}&#10;&#10;$$&#10;p({\bs y}| {\bar M })  ~~\propto ~~  p({\bs y}| M({\hat {\bs \theta})}) \cdot \left( \frac{n}{2 \pi}\right)^{ - df({\bs \theta})/2}&#10;$$&#10;&#10;&#10;\end{document}" title="IguanaTex Bitmap Display">
            <a:extLst>
              <a:ext uri="{FF2B5EF4-FFF2-40B4-BE49-F238E27FC236}">
                <a16:creationId xmlns:a16="http://schemas.microsoft.com/office/drawing/2014/main" id="{302D3159-72A8-4E98-B195-D3191C0CD05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6" y="1412776"/>
            <a:ext cx="4543998" cy="563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E7B9D-D72A-4E2A-968C-404BA2F719BC}"/>
              </a:ext>
            </a:extLst>
          </p:cNvPr>
          <p:cNvSpPr txBox="1"/>
          <p:nvPr/>
        </p:nvSpPr>
        <p:spPr>
          <a:xfrm>
            <a:off x="860448" y="2060848"/>
            <a:ext cx="1551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</a:rPr>
              <a:t>model likelihood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08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DB7CA-9D37-4877-8839-88264A3CDB19}"/>
              </a:ext>
            </a:extLst>
          </p:cNvPr>
          <p:cNvSpPr txBox="1"/>
          <p:nvPr/>
        </p:nvSpPr>
        <p:spPr>
          <a:xfrm>
            <a:off x="755576" y="1772816"/>
            <a:ext cx="7848872" cy="3714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모형들 중에서 </a:t>
            </a:r>
            <a:r>
              <a:rPr lang="en-US" altLang="ko-KR" sz="2400" b="1" dirty="0">
                <a:solidFill>
                  <a:srgbClr val="0070C0"/>
                </a:solidFill>
              </a:rPr>
              <a:t>model likelihood </a:t>
            </a:r>
            <a:r>
              <a:rPr lang="ko-KR" altLang="en-US" sz="2400" b="1" dirty="0"/>
              <a:t>가 </a:t>
            </a:r>
            <a:r>
              <a:rPr lang="ko-KR" altLang="en-US" sz="2400" b="1" dirty="0">
                <a:solidFill>
                  <a:srgbClr val="7030A0"/>
                </a:solidFill>
              </a:rPr>
              <a:t>높은 모형</a:t>
            </a:r>
            <a:r>
              <a:rPr lang="ko-KR" altLang="en-US" sz="2400" dirty="0"/>
              <a:t>을 선택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현재 관측된 자료</a:t>
            </a:r>
            <a:r>
              <a:rPr lang="ko-KR" altLang="en-US" sz="2400" dirty="0"/>
              <a:t>에 대한</a:t>
            </a:r>
            <a:r>
              <a:rPr lang="en-US" altLang="ko-KR" sz="2400" dirty="0"/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평균적인</a:t>
            </a:r>
            <a:r>
              <a:rPr lang="ko-KR" altLang="en-US" sz="2400" b="1" dirty="0">
                <a:solidFill>
                  <a:srgbClr val="0070C0"/>
                </a:solidFill>
              </a:rPr>
              <a:t> 모형의 적합결여도</a:t>
            </a:r>
            <a:r>
              <a:rPr lang="ko-KR" altLang="en-US" sz="2400" dirty="0"/>
              <a:t>가 낮은 모형을 찾기 위한 기준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 err="1"/>
              <a:t>모수의</a:t>
            </a:r>
            <a:r>
              <a:rPr lang="ko-KR" altLang="en-US" sz="2400" dirty="0"/>
              <a:t> </a:t>
            </a:r>
            <a:r>
              <a:rPr lang="ko-KR" altLang="en-US" sz="2400" b="1" dirty="0"/>
              <a:t>추정 </a:t>
            </a:r>
            <a:r>
              <a:rPr lang="ko-KR" altLang="en-US" sz="2400" dirty="0"/>
              <a:t>과정에서 오는 </a:t>
            </a:r>
            <a:r>
              <a:rPr lang="en-US" altLang="ko-KR" sz="2400" dirty="0"/>
              <a:t>(</a:t>
            </a:r>
            <a:r>
              <a:rPr lang="ko-KR" altLang="en-US" sz="2400" b="1" dirty="0"/>
              <a:t>과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적합</a:t>
            </a:r>
            <a:r>
              <a:rPr lang="ko-KR" altLang="en-US" sz="2400" dirty="0"/>
              <a:t> </a:t>
            </a:r>
            <a:r>
              <a:rPr lang="ko-KR" altLang="en-US" sz="2400" b="1" dirty="0"/>
              <a:t>편향</a:t>
            </a:r>
            <a:r>
              <a:rPr lang="ko-KR" altLang="en-US" sz="2400" dirty="0"/>
              <a:t>을 제거하고</a:t>
            </a:r>
            <a:r>
              <a:rPr lang="en-US" altLang="ko-KR" sz="24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오직 </a:t>
            </a:r>
            <a:r>
              <a:rPr lang="ko-KR" altLang="en-US" sz="2400" b="1" dirty="0"/>
              <a:t>모형의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성질을 기준</a:t>
            </a:r>
            <a:r>
              <a:rPr lang="ko-KR" altLang="en-US" sz="2400" dirty="0"/>
              <a:t>으로 평가하려는 기준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0029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08B9008-F865-40EA-8D8B-827F07FB7548}"/>
              </a:ext>
            </a:extLst>
          </p:cNvPr>
          <p:cNvSpPr txBox="1"/>
          <p:nvPr/>
        </p:nvSpPr>
        <p:spPr>
          <a:xfrm>
            <a:off x="611560" y="1196752"/>
            <a:ext cx="7992888" cy="4037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400" dirty="0"/>
              <a:t>모형에서 </a:t>
            </a:r>
            <a:r>
              <a:rPr lang="ko-KR" altLang="en-US" sz="2400" b="1" dirty="0" err="1"/>
              <a:t>모수의</a:t>
            </a:r>
            <a:r>
              <a:rPr lang="ko-KR" altLang="en-US" sz="2400" b="1" dirty="0"/>
              <a:t> 적합</a:t>
            </a:r>
            <a:r>
              <a:rPr lang="ko-KR" altLang="en-US" sz="2400" dirty="0"/>
              <a:t>에 의하여 발생하는 </a:t>
            </a:r>
            <a:r>
              <a:rPr lang="ko-KR" altLang="en-US" sz="2400" b="1" dirty="0"/>
              <a:t>효과 제거</a:t>
            </a:r>
            <a:endParaRPr lang="en-US" altLang="ko-KR" sz="2400" b="1" dirty="0"/>
          </a:p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400" dirty="0"/>
              <a:t>현재의 자료</a:t>
            </a:r>
            <a:r>
              <a:rPr lang="en-US" altLang="ko-KR" sz="2400" dirty="0"/>
              <a:t>(D)</a:t>
            </a:r>
            <a:r>
              <a:rPr lang="ko-KR" altLang="en-US" sz="2400" dirty="0"/>
              <a:t>를 </a:t>
            </a:r>
            <a:r>
              <a:rPr lang="ko-KR" altLang="en-US" sz="2400" b="1" dirty="0"/>
              <a:t>평균적으로 잘 설명</a:t>
            </a:r>
            <a:r>
              <a:rPr lang="ko-KR" altLang="en-US" sz="2400" dirty="0"/>
              <a:t>하는 모형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400" dirty="0"/>
              <a:t>자료의 크기</a:t>
            </a:r>
            <a:r>
              <a:rPr lang="en-US" altLang="ko-KR" sz="2400" dirty="0"/>
              <a:t>(n) </a:t>
            </a:r>
            <a:r>
              <a:rPr lang="ko-KR" altLang="en-US" sz="2400" dirty="0"/>
              <a:t>이 커짐에 따라</a:t>
            </a:r>
            <a:r>
              <a:rPr lang="en-US" altLang="ko-KR" sz="2400" dirty="0"/>
              <a:t>, </a:t>
            </a:r>
            <a:r>
              <a:rPr lang="ko-KR" altLang="en-US" sz="2400" b="1" dirty="0" err="1"/>
              <a:t>모수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추정량에</a:t>
            </a:r>
            <a:r>
              <a:rPr lang="ko-KR" altLang="en-US" sz="2400" b="1" dirty="0"/>
              <a:t> 대한 과신이 발생할 위험을 방지</a:t>
            </a:r>
            <a:endParaRPr lang="en-US" altLang="ko-KR" sz="2400" b="1" dirty="0"/>
          </a:p>
          <a:p>
            <a:pPr marL="342900" indent="-342900">
              <a:lnSpc>
                <a:spcPct val="150000"/>
              </a:lnSpc>
              <a:spcBef>
                <a:spcPts val="1800"/>
              </a:spcBef>
              <a:buAutoNum type="arabicPeriod"/>
            </a:pPr>
            <a:r>
              <a:rPr lang="ko-KR" altLang="en-US" sz="2400" dirty="0"/>
              <a:t>벌칙항에  </a:t>
            </a:r>
            <a:r>
              <a:rPr lang="en-US" altLang="ko-KR" sz="2400" dirty="0"/>
              <a:t>log(n) </a:t>
            </a:r>
            <a:r>
              <a:rPr lang="ko-KR" altLang="en-US" sz="2400" dirty="0"/>
              <a:t>이 개입되어</a:t>
            </a:r>
            <a:r>
              <a:rPr lang="en-US" altLang="ko-KR" sz="2400" dirty="0"/>
              <a:t>, </a:t>
            </a:r>
            <a:r>
              <a:rPr lang="ko-KR" altLang="en-US" sz="2400" b="1" dirty="0"/>
              <a:t>자료가 커질수록 모형이 복잡해지는 현상을 막는 효과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435126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867190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DB7CA-9D37-4877-8839-88264A3CDB19}"/>
              </a:ext>
            </a:extLst>
          </p:cNvPr>
          <p:cNvSpPr txBox="1"/>
          <p:nvPr/>
        </p:nvSpPr>
        <p:spPr>
          <a:xfrm>
            <a:off x="764863" y="1772816"/>
            <a:ext cx="68579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- devised by Gideon E. Schwarz (1978)</a:t>
            </a:r>
          </a:p>
          <a:p>
            <a:endParaRPr lang="en-US" altLang="ko-KR" sz="2400" dirty="0"/>
          </a:p>
          <a:p>
            <a:r>
              <a:rPr lang="en-US" altLang="ko-KR" sz="2400" dirty="0"/>
              <a:t>- Schwarz Information Criterion (SIC, SBC, SBIC)</a:t>
            </a:r>
          </a:p>
          <a:p>
            <a:endParaRPr lang="en-US" altLang="ko-KR" sz="2400" dirty="0"/>
          </a:p>
          <a:p>
            <a:r>
              <a:rPr lang="en-US" altLang="ko-KR" sz="2400" dirty="0"/>
              <a:t>- needs prior            for taking expectation</a:t>
            </a:r>
          </a:p>
          <a:p>
            <a:endParaRPr lang="en-US" altLang="ko-KR" sz="2400" dirty="0"/>
          </a:p>
          <a:p>
            <a:r>
              <a:rPr lang="en-US" altLang="ko-KR" sz="2400" dirty="0"/>
              <a:t>- Bayesian Information Criterion</a:t>
            </a:r>
          </a:p>
        </p:txBody>
      </p:sp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p({\bs \theta}|M ) $$&#10;&#10;&#10;\end{document}" title="IguanaTex Bitmap Display">
            <a:extLst>
              <a:ext uri="{FF2B5EF4-FFF2-40B4-BE49-F238E27FC236}">
                <a16:creationId xmlns:a16="http://schemas.microsoft.com/office/drawing/2014/main" id="{8D482791-3352-4F75-891B-03AC875850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9" y="3356993"/>
            <a:ext cx="961829" cy="30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9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F8C03CC-782B-4936-8B1C-FF32A9002856}"/>
              </a:ext>
            </a:extLst>
          </p:cNvPr>
          <p:cNvCxnSpPr/>
          <p:nvPr/>
        </p:nvCxnSpPr>
        <p:spPr>
          <a:xfrm>
            <a:off x="2411760" y="3212976"/>
            <a:ext cx="44644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7DFB09-5176-4B1C-A9BD-1BCF77D99B23}"/>
              </a:ext>
            </a:extLst>
          </p:cNvPr>
          <p:cNvSpPr/>
          <p:nvPr/>
        </p:nvSpPr>
        <p:spPr>
          <a:xfrm>
            <a:off x="4033004" y="3109014"/>
            <a:ext cx="2808188" cy="216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780DDB9-0770-4FD0-B46E-BDE4770C62C7}"/>
              </a:ext>
            </a:extLst>
          </p:cNvPr>
          <p:cNvSpPr/>
          <p:nvPr/>
        </p:nvSpPr>
        <p:spPr>
          <a:xfrm>
            <a:off x="2337899" y="31409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5299C6F-927A-41CF-8F27-438254BA0A30}"/>
              </a:ext>
            </a:extLst>
          </p:cNvPr>
          <p:cNvSpPr/>
          <p:nvPr/>
        </p:nvSpPr>
        <p:spPr>
          <a:xfrm>
            <a:off x="6795870" y="31409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48F7562-6A34-4AA7-B0EA-1823F5816614}"/>
              </a:ext>
            </a:extLst>
          </p:cNvPr>
          <p:cNvSpPr/>
          <p:nvPr/>
        </p:nvSpPr>
        <p:spPr>
          <a:xfrm>
            <a:off x="3897959" y="31409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 descr="\documentclass{article}&#10;\usepackage{amsmath}&#10;\usepackage[utf8]{inputenc}&#10;\usepackage{kotex}&#10;\pagestyle{empty}&#10;\newcommand\bs{\boldsymbol}&#10;\begin{document}&#10;&#10;$$&#10;{\bs y}$$&#10;&#10;&#10;\end{document}" title="IguanaTex Bitmap Display">
            <a:extLst>
              <a:ext uri="{FF2B5EF4-FFF2-40B4-BE49-F238E27FC236}">
                <a16:creationId xmlns:a16="http://schemas.microsoft.com/office/drawing/2014/main" id="{297DB474-3429-4303-941C-4A28E29424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47" y="3150636"/>
            <a:ext cx="147200" cy="174400"/>
          </a:xfrm>
          <a:prstGeom prst="rect">
            <a:avLst/>
          </a:prstGeom>
        </p:spPr>
      </p:pic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{\hat {\bs \mu}} $$&#10;&#10;&#10;\end{document}" title="IguanaTex Bitmap Display">
            <a:extLst>
              <a:ext uri="{FF2B5EF4-FFF2-40B4-BE49-F238E27FC236}">
                <a16:creationId xmlns:a16="http://schemas.microsoft.com/office/drawing/2014/main" id="{B0743E65-470B-4155-8E7B-70013960C2A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365" y="2892851"/>
            <a:ext cx="169600" cy="243200"/>
          </a:xfrm>
          <a:prstGeom prst="rect">
            <a:avLst/>
          </a:prstGeom>
        </p:spPr>
      </p:pic>
      <p:sp>
        <p:nvSpPr>
          <p:cNvPr id="40" name="오른쪽 중괄호 39">
            <a:extLst>
              <a:ext uri="{FF2B5EF4-FFF2-40B4-BE49-F238E27FC236}">
                <a16:creationId xmlns:a16="http://schemas.microsoft.com/office/drawing/2014/main" id="{72D051DB-BA5A-4657-8124-5E40EBBE4094}"/>
              </a:ext>
            </a:extLst>
          </p:cNvPr>
          <p:cNvSpPr/>
          <p:nvPr/>
        </p:nvSpPr>
        <p:spPr>
          <a:xfrm rot="16200000">
            <a:off x="3644676" y="1296788"/>
            <a:ext cx="493173" cy="294565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>
            <a:extLst>
              <a:ext uri="{FF2B5EF4-FFF2-40B4-BE49-F238E27FC236}">
                <a16:creationId xmlns:a16="http://schemas.microsoft.com/office/drawing/2014/main" id="{B0664EE8-7715-4973-A4CA-FB5CCE6A5ACC}"/>
              </a:ext>
            </a:extLst>
          </p:cNvPr>
          <p:cNvSpPr/>
          <p:nvPr/>
        </p:nvSpPr>
        <p:spPr>
          <a:xfrm rot="16200000" flipH="1">
            <a:off x="4404697" y="2989054"/>
            <a:ext cx="496431" cy="12926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67024690-587E-4EAF-B406-E713EE808ADA}"/>
              </a:ext>
            </a:extLst>
          </p:cNvPr>
          <p:cNvSpPr/>
          <p:nvPr/>
        </p:nvSpPr>
        <p:spPr>
          <a:xfrm rot="16200000" flipH="1">
            <a:off x="2927508" y="2864630"/>
            <a:ext cx="496432" cy="14964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2A943-DF43-443D-9312-C958FE01C7B5}"/>
              </a:ext>
            </a:extLst>
          </p:cNvPr>
          <p:cNvSpPr txBox="1"/>
          <p:nvPr/>
        </p:nvSpPr>
        <p:spPr>
          <a:xfrm>
            <a:off x="3711049" y="1977716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FF0000"/>
                </a:solidFill>
              </a:rPr>
              <a:t>?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\log n \cdot df({\bs \theta})$$&#10;&#10;&#10;\end{document}" title="IguanaTex Bitmap Display">
            <a:extLst>
              <a:ext uri="{FF2B5EF4-FFF2-40B4-BE49-F238E27FC236}">
                <a16:creationId xmlns:a16="http://schemas.microsoft.com/office/drawing/2014/main" id="{BF0C405A-C7AB-44AC-A5CD-D8CA19B6A45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108" y="3985756"/>
            <a:ext cx="1258668" cy="25447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B12386C-404D-42FD-B0FD-5D06DFEAC379}"/>
              </a:ext>
            </a:extLst>
          </p:cNvPr>
          <p:cNvSpPr txBox="1"/>
          <p:nvPr/>
        </p:nvSpPr>
        <p:spPr>
          <a:xfrm>
            <a:off x="3010454" y="3883586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</a:rPr>
              <a:t>S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6" name="그림 5" descr="\documentclass{article}&#10;\usepackage{amsmath}&#10;\usepackage[utf8]{inputenc}&#10;\usepackage{kotex}&#10;\pagestyle{empty}&#10;\newcommand\bs{\boldsymbol}&#10;\begin{document}&#10;&#10;$$&#10;p({\bs \mu}) $$&#10;&#10;&#10;\end{document}" title="IguanaTex Bitmap Display">
            <a:extLst>
              <a:ext uri="{FF2B5EF4-FFF2-40B4-BE49-F238E27FC236}">
                <a16:creationId xmlns:a16="http://schemas.microsoft.com/office/drawing/2014/main" id="{1737937D-87AB-462C-BBEB-BCE5A66A1CC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428998"/>
            <a:ext cx="510400" cy="267200"/>
          </a:xfrm>
          <a:prstGeom prst="rect">
            <a:avLst/>
          </a:prstGeom>
        </p:spPr>
      </p:pic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F7D694F1-500A-4203-854D-5831780B48AC}"/>
              </a:ext>
            </a:extLst>
          </p:cNvPr>
          <p:cNvSpPr/>
          <p:nvPr/>
        </p:nvSpPr>
        <p:spPr>
          <a:xfrm>
            <a:off x="5299227" y="3069583"/>
            <a:ext cx="129724" cy="1744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\documentclass{article}&#10;\usepackage{amsmath}&#10;\usepackage[utf8]{inputenc}&#10;\usepackage{kotex}&#10;\pagestyle{empty}&#10;\newcommand\bs{\boldsymbol}&#10;\begin{document}&#10;&#10;$$&#10;{\bar M}&#10;$$&#10;&#10;&#10;\end{document}" title="IguanaTex Bitmap Display">
            <a:extLst>
              <a:ext uri="{FF2B5EF4-FFF2-40B4-BE49-F238E27FC236}">
                <a16:creationId xmlns:a16="http://schemas.microsoft.com/office/drawing/2014/main" id="{A5787625-D57A-4636-8582-12EC0C222F7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794443"/>
            <a:ext cx="256000" cy="2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03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AIC, BIC </a:t>
            </a:r>
          </a:p>
        </p:txBody>
      </p:sp>
      <p:pic>
        <p:nvPicPr>
          <p:cNvPr id="33" name="그림 32" descr="\documentclass{article}&#10;\usepackage{amsmath}&#10;\pagestyle{empty}&#10;\begin{document}&#10;&#10;&#10;$$&#10;\mbox{AIC}(M) ~=~  -2 \, \log \, p(D| \hat{\boldsymbol \theta}) + 2 \cdot df(M)&#10;$$&#10;&#10;\end{document}" title="IguanaTex Bitmap Display">
            <a:extLst>
              <a:ext uri="{FF2B5EF4-FFF2-40B4-BE49-F238E27FC236}">
                <a16:creationId xmlns:a16="http://schemas.microsoft.com/office/drawing/2014/main" id="{2CC4E1F8-05D5-4F2D-A18E-223E24309F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72" y="2145980"/>
            <a:ext cx="4426668" cy="306284"/>
          </a:xfrm>
          <a:prstGeom prst="rect">
            <a:avLst/>
          </a:prstGeom>
        </p:spPr>
      </p:pic>
      <p:pic>
        <p:nvPicPr>
          <p:cNvPr id="35" name="그림 34" descr="\documentclass{article}&#10;\usepackage{amsmath}&#10;\pagestyle{empty}&#10;\begin{document}&#10;&#10;&#10;$$&#10;\mbox{BIC}(M) ~=~  -2 \, \log \, p(D| \hat{\boldsymbol \theta}) +  \log(n)\cdot df(M) $$&#10;&#10;\end{document}" title="IguanaTex Bitmap Display">
            <a:extLst>
              <a:ext uri="{FF2B5EF4-FFF2-40B4-BE49-F238E27FC236}">
                <a16:creationId xmlns:a16="http://schemas.microsoft.com/office/drawing/2014/main" id="{0394C059-4A99-4A76-9FE5-55DD7309DE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72" y="2949258"/>
            <a:ext cx="4964572" cy="306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975ED0-7796-4049-91B9-E848BBF6F56B}"/>
              </a:ext>
            </a:extLst>
          </p:cNvPr>
          <p:cNvSpPr txBox="1"/>
          <p:nvPr/>
        </p:nvSpPr>
        <p:spPr>
          <a:xfrm>
            <a:off x="1547664" y="3861048"/>
            <a:ext cx="6704079" cy="1671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ko-KR" sz="2000" dirty="0"/>
              <a:t>BIC </a:t>
            </a:r>
            <a:r>
              <a:rPr lang="ko-KR" altLang="en-US" sz="2000" dirty="0"/>
              <a:t>는 </a:t>
            </a:r>
            <a:r>
              <a:rPr lang="en-US" altLang="ko-KR" sz="2000" dirty="0"/>
              <a:t>AIC </a:t>
            </a:r>
            <a:r>
              <a:rPr lang="ko-KR" altLang="en-US" sz="2000" dirty="0"/>
              <a:t>에 비하여</a:t>
            </a:r>
            <a:r>
              <a:rPr lang="en-US" altLang="ko-KR" sz="2000" dirty="0"/>
              <a:t>, </a:t>
            </a:r>
            <a:r>
              <a:rPr lang="ko-KR" altLang="en-US" sz="2000" dirty="0"/>
              <a:t>모형의 복잡도에 더 큰 </a:t>
            </a:r>
            <a:r>
              <a:rPr lang="ko-KR" altLang="en-US" sz="2000" dirty="0" err="1"/>
              <a:t>가중값을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>
              <a:lnSpc>
                <a:spcPct val="180000"/>
              </a:lnSpc>
            </a:pPr>
            <a:r>
              <a:rPr lang="ko-KR" altLang="en-US" sz="2000" dirty="0"/>
              <a:t>고려하므로</a:t>
            </a:r>
            <a:r>
              <a:rPr lang="en-US" altLang="ko-KR" sz="2000" dirty="0"/>
              <a:t>, BIC </a:t>
            </a:r>
            <a:r>
              <a:rPr lang="ko-KR" altLang="en-US" sz="2000" dirty="0"/>
              <a:t>에 의하여 선정된 모형은 </a:t>
            </a:r>
            <a:r>
              <a:rPr lang="en-US" altLang="ko-KR" sz="2000" dirty="0"/>
              <a:t>AIC </a:t>
            </a:r>
            <a:r>
              <a:rPr lang="ko-KR" altLang="en-US" sz="2000" dirty="0"/>
              <a:t>에 의하여 </a:t>
            </a:r>
            <a:endParaRPr lang="en-US" altLang="ko-KR" sz="2000" dirty="0"/>
          </a:p>
          <a:p>
            <a:pPr>
              <a:lnSpc>
                <a:spcPct val="180000"/>
              </a:lnSpc>
            </a:pPr>
            <a:r>
              <a:rPr lang="ko-KR" altLang="en-US" sz="2000" dirty="0"/>
              <a:t>선정된 모형에 비하여 덜 복잡한 모형이다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4606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82684" y="1124745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HQ-IC  (Hannan-Quinn)</a:t>
            </a:r>
          </a:p>
        </p:txBody>
      </p:sp>
      <p:pic>
        <p:nvPicPr>
          <p:cNvPr id="3" name="그림 2" descr="\documentclass{article}&#10;\usepackage{amsmath}&#10;\pagestyle{empty}&#10;\begin{document}&#10;&#10;&#10;$$&#10;\mbox{HQ}(M) ~=~  -2 \, \log \, p(D| \hat{\boldsymbol \theta}) + 2 \log(\log(n)) \cdot df(M)&#10;$$&#10;&#10;\end{document}" title="IguanaTex Bitmap Display">
            <a:extLst>
              <a:ext uri="{FF2B5EF4-FFF2-40B4-BE49-F238E27FC236}">
                <a16:creationId xmlns:a16="http://schemas.microsoft.com/office/drawing/2014/main" id="{0539D244-6996-4332-B59A-0FD159D383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636912"/>
            <a:ext cx="5590858" cy="30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86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Model selection, by</a:t>
            </a:r>
            <a:r>
              <a:rPr lang="ko-KR" altLang="en-US" sz="2800" dirty="0"/>
              <a:t> </a:t>
            </a:r>
            <a:r>
              <a:rPr lang="en-US" altLang="ko-KR" sz="2800" dirty="0"/>
              <a:t>ANOVA(F-test) </a:t>
            </a:r>
          </a:p>
        </p:txBody>
      </p:sp>
      <p:pic>
        <p:nvPicPr>
          <p:cNvPr id="3" name="그림 2" descr="\documentclass{article}&#10;\usepackage{amsmath}&#10;\pagestyle{empty}&#10;\begin{document}&#10;&#10;&#10;&#10;$$M_0 \subset M_1$$&#10;&#10;\end{document}" title="IguanaTex Bitmap Display">
            <a:extLst>
              <a:ext uri="{FF2B5EF4-FFF2-40B4-BE49-F238E27FC236}">
                <a16:creationId xmlns:a16="http://schemas.microsoft.com/office/drawing/2014/main" id="{1AE34150-582F-402F-BD81-40213ECAA6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490" y="2220783"/>
            <a:ext cx="1016381" cy="213332"/>
          </a:xfrm>
          <a:prstGeom prst="rect">
            <a:avLst/>
          </a:prstGeom>
        </p:spPr>
      </p:pic>
      <p:pic>
        <p:nvPicPr>
          <p:cNvPr id="14" name="그림 13" descr="\documentclass{article}&#10;\usepackage{amsmath}&#10;\pagestyle{empty}&#10;\begin{document}&#10;&#10;&#10;$$&#10;M_0 : ~~ y = \beta_0 + \epsilon&#10;$$&#10;&#10;\end{document}" title="IguanaTex Bitmap Display">
            <a:extLst>
              <a:ext uri="{FF2B5EF4-FFF2-40B4-BE49-F238E27FC236}">
                <a16:creationId xmlns:a16="http://schemas.microsoft.com/office/drawing/2014/main" id="{C253843F-7D26-47B6-9B7B-3EEC2670489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58" y="2208126"/>
            <a:ext cx="1860572" cy="231618"/>
          </a:xfrm>
          <a:prstGeom prst="rect">
            <a:avLst/>
          </a:prstGeom>
        </p:spPr>
      </p:pic>
      <p:pic>
        <p:nvPicPr>
          <p:cNvPr id="17" name="그림 16" descr="\documentclass{article}&#10;\usepackage{amsmath}&#10;\pagestyle{empty}&#10;\begin{document}&#10;&#10;&#10;$$&#10;M_1 : ~~ y = \beta_0 + \beta_1 x_1 +\epsilon&#10;$$&#10;&#10;\end{document}" title="IguanaTex Bitmap Display">
            <a:extLst>
              <a:ext uri="{FF2B5EF4-FFF2-40B4-BE49-F238E27FC236}">
                <a16:creationId xmlns:a16="http://schemas.microsoft.com/office/drawing/2014/main" id="{787AC5F6-CEDA-435D-A2F4-8A3614DC6AF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708920"/>
            <a:ext cx="2684953" cy="231618"/>
          </a:xfrm>
          <a:prstGeom prst="rect">
            <a:avLst/>
          </a:prstGeom>
        </p:spPr>
      </p:pic>
      <p:pic>
        <p:nvPicPr>
          <p:cNvPr id="9" name="그림 8" descr="\documentclass{article}&#10;\usepackage{amsmath}&#10;\pagestyle{empty}&#10;\begin{document}&#10;&#10;&#10;$$&#10;F = \frac{(SSE(M_0) - SSE(M_1))/1}{SSE(M_1)/(n-2)}&#10;$$&#10;&#10;\end{document}" title="IguanaTex Bitmap Display">
            <a:extLst>
              <a:ext uri="{FF2B5EF4-FFF2-40B4-BE49-F238E27FC236}">
                <a16:creationId xmlns:a16="http://schemas.microsoft.com/office/drawing/2014/main" id="{5A1DA757-C45C-4E77-B200-4EB31D86A4D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58" y="3501008"/>
            <a:ext cx="3157028" cy="5389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6629A9-92F2-49AF-A417-6573DE281C90}"/>
              </a:ext>
            </a:extLst>
          </p:cNvPr>
          <p:cNvSpPr txBox="1"/>
          <p:nvPr/>
        </p:nvSpPr>
        <p:spPr>
          <a:xfrm>
            <a:off x="1115616" y="4423886"/>
            <a:ext cx="6386620" cy="1117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24000" indent="-342900">
              <a:lnSpc>
                <a:spcPct val="180000"/>
              </a:lnSpc>
              <a:buFontTx/>
              <a:buChar char="-"/>
            </a:pPr>
            <a:r>
              <a:rPr lang="en-US" altLang="ko-KR" sz="2000" dirty="0"/>
              <a:t>F-test, prefers simpler models, </a:t>
            </a:r>
          </a:p>
          <a:p>
            <a:pPr>
              <a:lnSpc>
                <a:spcPct val="180000"/>
              </a:lnSpc>
            </a:pPr>
            <a:r>
              <a:rPr lang="en-US" altLang="ko-KR" sz="2000" dirty="0"/>
              <a:t>	takes larger models only in exceptional cases</a:t>
            </a:r>
          </a:p>
        </p:txBody>
      </p:sp>
    </p:spTree>
    <p:extLst>
      <p:ext uri="{BB962C8B-B14F-4D97-AF65-F5344CB8AC3E}">
        <p14:creationId xmlns:p14="http://schemas.microsoft.com/office/powerpoint/2010/main" val="1455973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\documentclass{article}&#10;\usepackage{amsmath}&#10;\pagestyle{empty}&#10;\begin{document}&#10;&#10;&#10;&#10;$$M_0 \subset M_1$$&#10;&#10;\end{document}" title="IguanaTex Bitmap Display">
            <a:extLst>
              <a:ext uri="{FF2B5EF4-FFF2-40B4-BE49-F238E27FC236}">
                <a16:creationId xmlns:a16="http://schemas.microsoft.com/office/drawing/2014/main" id="{1AE34150-582F-402F-BD81-40213ECAA6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490" y="2220783"/>
            <a:ext cx="1016381" cy="213332"/>
          </a:xfrm>
          <a:prstGeom prst="rect">
            <a:avLst/>
          </a:prstGeom>
        </p:spPr>
      </p:pic>
      <p:pic>
        <p:nvPicPr>
          <p:cNvPr id="14" name="그림 13" descr="\documentclass{article}&#10;\usepackage{amsmath}&#10;\pagestyle{empty}&#10;\begin{document}&#10;&#10;&#10;$$&#10;M_0 : ~~ y = \beta_0 + \epsilon&#10;$$&#10;&#10;\end{document}" title="IguanaTex Bitmap Display">
            <a:extLst>
              <a:ext uri="{FF2B5EF4-FFF2-40B4-BE49-F238E27FC236}">
                <a16:creationId xmlns:a16="http://schemas.microsoft.com/office/drawing/2014/main" id="{C253843F-7D26-47B6-9B7B-3EEC2670489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58" y="2208126"/>
            <a:ext cx="1860572" cy="231618"/>
          </a:xfrm>
          <a:prstGeom prst="rect">
            <a:avLst/>
          </a:prstGeom>
        </p:spPr>
      </p:pic>
      <p:pic>
        <p:nvPicPr>
          <p:cNvPr id="17" name="그림 16" descr="\documentclass{article}&#10;\usepackage{amsmath}&#10;\pagestyle{empty}&#10;\begin{document}&#10;&#10;&#10;$$&#10;M_1 : ~~ y = \beta_0 + \beta_1 x_1 +\epsilon&#10;$$&#10;&#10;\end{document}" title="IguanaTex Bitmap Display">
            <a:extLst>
              <a:ext uri="{FF2B5EF4-FFF2-40B4-BE49-F238E27FC236}">
                <a16:creationId xmlns:a16="http://schemas.microsoft.com/office/drawing/2014/main" id="{787AC5F6-CEDA-435D-A2F4-8A3614DC6AF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708920"/>
            <a:ext cx="2684953" cy="231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A17D7-6B3E-4DD3-816C-F2CCCFD79F67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Model selection, by</a:t>
            </a:r>
          </a:p>
        </p:txBody>
      </p:sp>
      <p:pic>
        <p:nvPicPr>
          <p:cNvPr id="10" name="그림 9" descr="\documentclass{article}&#10;\usepackage{amsmath}&#10;\pagestyle{empty}&#10;\begin{document}&#10;&#10;&#10;$$&#10;R^2 $$&#10;&#10;\end{document}" title="IguanaTex Bitmap Display">
            <a:extLst>
              <a:ext uri="{FF2B5EF4-FFF2-40B4-BE49-F238E27FC236}">
                <a16:creationId xmlns:a16="http://schemas.microsoft.com/office/drawing/2014/main" id="{0FB595D3-EB57-44D4-978B-F4CBE72727B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970805"/>
            <a:ext cx="438857" cy="3657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EDC500-BE7E-4EDF-A009-7AE4A27F7486}"/>
              </a:ext>
            </a:extLst>
          </p:cNvPr>
          <p:cNvSpPr txBox="1"/>
          <p:nvPr/>
        </p:nvSpPr>
        <p:spPr>
          <a:xfrm>
            <a:off x="1269358" y="4509120"/>
            <a:ext cx="4199035" cy="563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24000" indent="-342900">
              <a:lnSpc>
                <a:spcPct val="180000"/>
              </a:lnSpc>
              <a:buFontTx/>
              <a:buChar char="-"/>
            </a:pPr>
            <a:r>
              <a:rPr lang="en-US" altLang="ko-KR" sz="2000" dirty="0"/>
              <a:t>      always takes larger models</a:t>
            </a:r>
          </a:p>
        </p:txBody>
      </p:sp>
      <p:pic>
        <p:nvPicPr>
          <p:cNvPr id="12" name="그림 11" descr="\documentclass{article}&#10;\usepackage{amsmath}&#10;\pagestyle{empty}&#10;\begin{document}&#10;&#10;&#10;$$&#10;R^2 = \frac{(SSE(M_0) - SSE(M_1))}{SSE(M_0)}&#10;$$&#10;&#10;\end{document}" title="IguanaTex Bitmap Display">
            <a:extLst>
              <a:ext uri="{FF2B5EF4-FFF2-40B4-BE49-F238E27FC236}">
                <a16:creationId xmlns:a16="http://schemas.microsoft.com/office/drawing/2014/main" id="{5D50718A-C638-4E5C-ADED-70D64EF0670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35" y="3672844"/>
            <a:ext cx="3028114" cy="538971"/>
          </a:xfrm>
          <a:prstGeom prst="rect">
            <a:avLst/>
          </a:prstGeom>
        </p:spPr>
      </p:pic>
      <p:pic>
        <p:nvPicPr>
          <p:cNvPr id="5" name="그림 4" descr="\documentclass{article}&#10;\usepackage{amsmath}&#10;\pagestyle{empty}&#10;\begin{document}&#10;&#10;&#10;$$&#10;R^2 $$&#10;&#10;\end{document}" title="IguanaTex Bitmap Display">
            <a:extLst>
              <a:ext uri="{FF2B5EF4-FFF2-40B4-BE49-F238E27FC236}">
                <a16:creationId xmlns:a16="http://schemas.microsoft.com/office/drawing/2014/main" id="{5846C99B-3E46-4009-B79E-17F491469AD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101" y="4725111"/>
            <a:ext cx="274286" cy="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64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\documentclass{article}&#10;\usepackage{amsmath}&#10;\pagestyle{empty}&#10;\begin{document}&#10;&#10;&#10;&#10;$$F   ~~\prec ~~  BIC ~~\prec~~   AIC ~~\prec~~  R^2 $$&#10;&#10;\end{document}" title="IguanaTex Bitmap Display">
            <a:extLst>
              <a:ext uri="{FF2B5EF4-FFF2-40B4-BE49-F238E27FC236}">
                <a16:creationId xmlns:a16="http://schemas.microsoft.com/office/drawing/2014/main" id="{17DD35E1-5B4D-4F62-B137-6E2102A74B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667" y="3090242"/>
            <a:ext cx="4970665" cy="3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65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7510" y="3023326"/>
            <a:ext cx="6531340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40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&gt;&gt;&gt; quit()   # Thank you !</a:t>
            </a:r>
            <a:endParaRPr kumimoji="0" lang="ko-KR" altLang="en-US" sz="40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246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{\bs y} = {\bs \mu} +{\bs \epsilon}&#10;$$&#10;&#10;&#10;\end{document}" title="IguanaTex Bitmap Display">
            <a:extLst>
              <a:ext uri="{FF2B5EF4-FFF2-40B4-BE49-F238E27FC236}">
                <a16:creationId xmlns:a16="http://schemas.microsoft.com/office/drawing/2014/main" id="{BD88B83A-D585-42D2-950E-B0FB0A7F93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628800"/>
            <a:ext cx="1142399" cy="211200"/>
          </a:xfrm>
          <a:prstGeom prst="rect">
            <a:avLst/>
          </a:prstGeom>
        </p:spPr>
      </p:pic>
      <p:pic>
        <p:nvPicPr>
          <p:cNvPr id="42" name="그림 41" descr="\documentclass{article}&#10;\usepackage{amsmath}&#10;\usepackage[utf8]{inputenc}&#10;\usepackage{kotex}&#10;\pagestyle{empty}&#10;\newcommand\bs{\boldsymbol}&#10;\begin{document}&#10;&#10;$$&#10;{\hat {\bs y}} = {\hat {\bs \mu}} = H  {\bs y}&#10;$$&#10;&#10;&#10;\end{document}" title="IguanaTex Bitmap Display">
            <a:extLst>
              <a:ext uri="{FF2B5EF4-FFF2-40B4-BE49-F238E27FC236}">
                <a16:creationId xmlns:a16="http://schemas.microsoft.com/office/drawing/2014/main" id="{02CAC670-9258-44A4-935E-535943DE05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369389"/>
            <a:ext cx="1451198" cy="243200"/>
          </a:xfrm>
          <a:prstGeom prst="rect">
            <a:avLst/>
          </a:prstGeom>
        </p:spPr>
      </p:pic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{\bs y} - {\hat {\bs y}} ~ = ~ {\bs y} - H {\bs y} &#10;~ = ~ (I-H) {\bs \epsilon} &#10;$$&#10;&#10;&#10;\end{document}" title="IguanaTex Bitmap Display">
            <a:extLst>
              <a:ext uri="{FF2B5EF4-FFF2-40B4-BE49-F238E27FC236}">
                <a16:creationId xmlns:a16="http://schemas.microsoft.com/office/drawing/2014/main" id="{B8B2FB3E-D146-4BF0-8A27-0A01288EA67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132" y="3251578"/>
            <a:ext cx="3643197" cy="267200"/>
          </a:xfrm>
          <a:prstGeom prst="rect">
            <a:avLst/>
          </a:prstGeom>
        </p:spPr>
      </p:pic>
      <p:pic>
        <p:nvPicPr>
          <p:cNvPr id="12" name="그림 11" descr="\documentclass{article}&#10;\usepackage{amsmath}&#10;\usepackage[utf8]{inputenc}&#10;\usepackage{kotex}&#10;\pagestyle{empty}&#10;\newcommand\bs{\boldsymbol}&#10;\begin{document}&#10;&#10;$$&#10;\| (I-H) {\bs \epsilon} \|^2 ~~\sim ~&#10;~\sigma^2 \cdot \chi^2 (n-p-1) &#10;$$&#10;&#10;&#10;\end{document}" title="IguanaTex Bitmap Display">
            <a:extLst>
              <a:ext uri="{FF2B5EF4-FFF2-40B4-BE49-F238E27FC236}">
                <a16:creationId xmlns:a16="http://schemas.microsoft.com/office/drawing/2014/main" id="{FEAFDD54-6672-4648-9E8D-260547C10D5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132" y="4959660"/>
            <a:ext cx="4111998" cy="3008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7B4B39C-17FD-4BBB-9CE1-F3AA46D6A774}"/>
              </a:ext>
            </a:extLst>
          </p:cNvPr>
          <p:cNvCxnSpPr>
            <a:cxnSpLocks/>
          </p:cNvCxnSpPr>
          <p:nvPr/>
        </p:nvCxnSpPr>
        <p:spPr>
          <a:xfrm>
            <a:off x="2497692" y="5434791"/>
            <a:ext cx="39759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\documentclass{article}&#10;\usepackage{amsmath}&#10;\usepackage[utf8]{inputenc}&#10;\usepackage{kotex}&#10;\pagestyle{empty}&#10;\newcommand\bs{\boldsymbol}&#10;\begin{document}&#10;&#10;$$&#10;{\bs \epsilon} ~~~\sim ~~~ N_{n} &#10;\left( {\bs 0}, ~\sigma^2 \, I \,\, &#10;\right) &#10;$$&#10;&#10;&#10;\end{document}" title="IguanaTex Bitmap Display">
            <a:extLst>
              <a:ext uri="{FF2B5EF4-FFF2-40B4-BE49-F238E27FC236}">
                <a16:creationId xmlns:a16="http://schemas.microsoft.com/office/drawing/2014/main" id="{CD21141A-1605-4250-8B0E-4044632B2B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722" y="1577501"/>
            <a:ext cx="2516798" cy="326400"/>
          </a:xfrm>
          <a:prstGeom prst="rect">
            <a:avLst/>
          </a:prstGeom>
        </p:spPr>
      </p:pic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(I-H) {\bs \epsilon} ~~~\sim ~~~ N_{n} &#10;\left( {\bs 0}, ~\sigma^2 \, (I-H) \,\, &#10;\right) &#10;$$&#10;&#10;&#10;\end{document}" title="IguanaTex Bitmap Display">
            <a:extLst>
              <a:ext uri="{FF2B5EF4-FFF2-40B4-BE49-F238E27FC236}">
                <a16:creationId xmlns:a16="http://schemas.microsoft.com/office/drawing/2014/main" id="{60447EB6-273B-410D-89A0-394975D6B3D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962" y="3995180"/>
            <a:ext cx="4188795" cy="32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7ABDB9-EA49-4861-8439-187572103191}"/>
              </a:ext>
            </a:extLst>
          </p:cNvPr>
          <p:cNvSpPr txBox="1"/>
          <p:nvPr/>
        </p:nvSpPr>
        <p:spPr>
          <a:xfrm>
            <a:off x="755576" y="629448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</a:rPr>
              <a:t>Appendix </a:t>
            </a:r>
            <a:r>
              <a:rPr lang="en-US" altLang="ko-KR" sz="2000" b="1" dirty="0">
                <a:solidFill>
                  <a:srgbClr val="FF0000"/>
                </a:solidFill>
              </a:rPr>
              <a:t>A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6" name="그림 5" descr="\documentclass{article}&#10;\usepackage{amsmath}&#10;\usepackage[utf8]{inputenc}&#10;\usepackage{kotex}&#10;\pagestyle{empty}&#10;\newcommand\bs{\boldsymbol}&#10;\begin{document}&#10;&#10;$$&#10;E \left\{ \| (I-H) {\bs \epsilon} \|^2 \right \} ~~= ~&#10;~\sigma^2 (n-p-1) &#10;$$&#10;&#10;&#10;\end{document}" title="IguanaTex Bitmap Display">
            <a:extLst>
              <a:ext uri="{FF2B5EF4-FFF2-40B4-BE49-F238E27FC236}">
                <a16:creationId xmlns:a16="http://schemas.microsoft.com/office/drawing/2014/main" id="{9E0929D9-16AE-4E56-A7ED-ECF5EE7F10C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132" y="5949280"/>
            <a:ext cx="4267198" cy="3264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C525CCD-E16F-4D06-B73F-265D095E1EC8}"/>
              </a:ext>
            </a:extLst>
          </p:cNvPr>
          <p:cNvCxnSpPr>
            <a:cxnSpLocks/>
          </p:cNvCxnSpPr>
          <p:nvPr/>
        </p:nvCxnSpPr>
        <p:spPr>
          <a:xfrm>
            <a:off x="2462132" y="6453336"/>
            <a:ext cx="426719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184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{\bs y} = {\bs \mu} +{\bs \epsilon}&#10;$$&#10;&#10;&#10;\end{document}" title="IguanaTex Bitmap Display">
            <a:extLst>
              <a:ext uri="{FF2B5EF4-FFF2-40B4-BE49-F238E27FC236}">
                <a16:creationId xmlns:a16="http://schemas.microsoft.com/office/drawing/2014/main" id="{BD88B83A-D585-42D2-950E-B0FB0A7F93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44" y="820752"/>
            <a:ext cx="1142399" cy="211200"/>
          </a:xfrm>
          <a:prstGeom prst="rect">
            <a:avLst/>
          </a:prstGeom>
        </p:spPr>
      </p:pic>
      <p:pic>
        <p:nvPicPr>
          <p:cNvPr id="6" name="그림 5" descr="\documentclass{article}&#10;\usepackage{amsmath}&#10;\usepackage[utf8]{inputenc}&#10;\usepackage{kotex}&#10;\pagestyle{empty}&#10;\newcommand\bs{\boldsymbol}&#10;\begin{document}&#10;&#10;$$&#10;{\bs y}^* = {\bs \mu} +{\bs \epsilon}^*&#10;$$&#10;&#10;&#10;\end{document}" title="IguanaTex Bitmap Display">
            <a:extLst>
              <a:ext uri="{FF2B5EF4-FFF2-40B4-BE49-F238E27FC236}">
                <a16:creationId xmlns:a16="http://schemas.microsoft.com/office/drawing/2014/main" id="{D287D82C-681E-4313-B45D-D400383AD6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592" y="1622220"/>
            <a:ext cx="1369599" cy="252800"/>
          </a:xfrm>
          <a:prstGeom prst="rect">
            <a:avLst/>
          </a:prstGeom>
        </p:spPr>
      </p:pic>
      <p:pic>
        <p:nvPicPr>
          <p:cNvPr id="42" name="그림 41" descr="\documentclass{article}&#10;\usepackage{amsmath}&#10;\usepackage[utf8]{inputenc}&#10;\usepackage{kotex}&#10;\pagestyle{empty}&#10;\newcommand\bs{\boldsymbol}&#10;\begin{document}&#10;&#10;$$&#10;{\hat {\bs y}} = {\hat {\bs \mu}} = H  {\bs y}&#10;$$&#10;&#10;&#10;\end{document}" title="IguanaTex Bitmap Display">
            <a:extLst>
              <a:ext uri="{FF2B5EF4-FFF2-40B4-BE49-F238E27FC236}">
                <a16:creationId xmlns:a16="http://schemas.microsoft.com/office/drawing/2014/main" id="{02CAC670-9258-44A4-935E-535943DE05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991" y="804752"/>
            <a:ext cx="1451198" cy="243200"/>
          </a:xfrm>
          <a:prstGeom prst="rect">
            <a:avLst/>
          </a:prstGeom>
        </p:spPr>
      </p:pic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{\bs y}^* - {\hat {\bs y}} ~ = ~ {\bs y} -{\bs \epsilon}  +{\bs \epsilon}^* - H {\bs y} &#10;~ = ~ {\bs \epsilon}^* - H {\bs \epsilon} &#10;$$&#10;&#10;&#10;\end{document}" title="IguanaTex Bitmap Display">
            <a:extLst>
              <a:ext uri="{FF2B5EF4-FFF2-40B4-BE49-F238E27FC236}">
                <a16:creationId xmlns:a16="http://schemas.microsoft.com/office/drawing/2014/main" id="{B9DE3D90-84B9-44F1-A66A-C7574979DCA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493" y="2385910"/>
            <a:ext cx="4697596" cy="251200"/>
          </a:xfrm>
          <a:prstGeom prst="rect">
            <a:avLst/>
          </a:prstGeom>
        </p:spPr>
      </p:pic>
      <p:pic>
        <p:nvPicPr>
          <p:cNvPr id="29" name="그림 28" descr="\documentclass{article}&#10;\usepackage{amsmath}&#10;\usepackage[utf8]{inputenc}&#10;\usepackage{kotex}&#10;\pagestyle{empty}&#10;\newcommand\bs{\boldsymbol}&#10;\begin{document}&#10;&#10;$$&#10;\begin{pmatrix} {\bs \epsilon}^* \\ {\bs \epsilon}\end{pmatrix} ~~~\sim ~~~ N_{2n} &#10;\left( {\bs 0}, ~\sigma^2 \begin{pmatrix} I &amp; 0\\ 0 &amp; I\end{pmatrix}&#10;\right) &#10;$$&#10;&#10;&#10;\end{document}" title="IguanaTex Bitmap Display">
            <a:extLst>
              <a:ext uri="{FF2B5EF4-FFF2-40B4-BE49-F238E27FC236}">
                <a16:creationId xmlns:a16="http://schemas.microsoft.com/office/drawing/2014/main" id="{E6A242CB-70BF-4B9C-80A8-41BF652F997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252" y="3164032"/>
            <a:ext cx="3975997" cy="638400"/>
          </a:xfrm>
          <a:prstGeom prst="rect">
            <a:avLst/>
          </a:prstGeom>
        </p:spPr>
      </p:pic>
      <p:pic>
        <p:nvPicPr>
          <p:cNvPr id="46" name="그림 45" descr="\documentclass{article}&#10;\usepackage{amsmath}&#10;\usepackage[utf8]{inputenc}&#10;\usepackage{kotex}&#10;\pagestyle{empty}&#10;\newcommand\bs{\boldsymbol}&#10;\begin{document}&#10;&#10;$$&#10;{\bs \epsilon}^* - H {\bs \epsilon}~=~(I, - H) \begin{pmatrix} {\bs \epsilon}^* \\ {\bs \epsilon}\end{pmatrix} ~~~\sim ~~~ N_n &#10;\left( {\bs 0}, ~\sigma^2 (I+H) \right) &#10;$$&#10;&#10;&#10;\end{document}" title="IguanaTex Bitmap Display">
            <a:extLst>
              <a:ext uri="{FF2B5EF4-FFF2-40B4-BE49-F238E27FC236}">
                <a16:creationId xmlns:a16="http://schemas.microsoft.com/office/drawing/2014/main" id="{F3DFA234-E755-470C-8226-ED0878DFD3F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00" y="4206224"/>
            <a:ext cx="6148795" cy="638400"/>
          </a:xfrm>
          <a:prstGeom prst="rect">
            <a:avLst/>
          </a:prstGeom>
        </p:spPr>
      </p:pic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\| {\bs \epsilon}^* - H {\bs \epsilon} \|^2 ~~\sim ~&#10;~\sigma^2 \cdot  \left \{ \chi^2 (n) +  \chi^2 (p+1) &#10;\right \}&#10;$$&#10;&#10;&#10;\end{document}" title="IguanaTex Bitmap Display">
            <a:extLst>
              <a:ext uri="{FF2B5EF4-FFF2-40B4-BE49-F238E27FC236}">
                <a16:creationId xmlns:a16="http://schemas.microsoft.com/office/drawing/2014/main" id="{2B460F0A-7BBC-4057-BA3B-8C6BD677AFB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592" y="5301208"/>
            <a:ext cx="4815998" cy="326400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D378232-3D92-4F28-8B7B-A58CA7B19B38}"/>
              </a:ext>
            </a:extLst>
          </p:cNvPr>
          <p:cNvCxnSpPr/>
          <p:nvPr/>
        </p:nvCxnSpPr>
        <p:spPr>
          <a:xfrm>
            <a:off x="7156295" y="4760336"/>
            <a:ext cx="2880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7B4B39C-17FD-4BBB-9CE1-F3AA46D6A774}"/>
              </a:ext>
            </a:extLst>
          </p:cNvPr>
          <p:cNvCxnSpPr>
            <a:cxnSpLocks/>
          </p:cNvCxnSpPr>
          <p:nvPr/>
        </p:nvCxnSpPr>
        <p:spPr>
          <a:xfrm>
            <a:off x="1793648" y="5733256"/>
            <a:ext cx="477994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\documentclass{article}&#10;\usepackage{amsmath}&#10;\usepackage[utf8]{inputenc}&#10;\usepackage{kotex}&#10;\pagestyle{empty}&#10;\newcommand\bs{\boldsymbol}&#10;\begin{document}&#10;&#10;$$&#10;E \left\{ \| {\bs \epsilon}^* - H {\bs \epsilon} \|^2 \right \} ~~= ~&#10;~\sigma^2 (n+p+1) &#10;$$&#10;&#10;&#10;\end{document}" title="IguanaTex Bitmap Display">
            <a:extLst>
              <a:ext uri="{FF2B5EF4-FFF2-40B4-BE49-F238E27FC236}">
                <a16:creationId xmlns:a16="http://schemas.microsoft.com/office/drawing/2014/main" id="{84AF3A8D-D259-4762-BE25-CDEA9AC87F8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252" y="6165304"/>
            <a:ext cx="4174398" cy="326400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1912A7B-6C12-47D6-9DCA-4F9657B9329F}"/>
              </a:ext>
            </a:extLst>
          </p:cNvPr>
          <p:cNvCxnSpPr>
            <a:cxnSpLocks/>
          </p:cNvCxnSpPr>
          <p:nvPr/>
        </p:nvCxnSpPr>
        <p:spPr>
          <a:xfrm>
            <a:off x="1793648" y="6597352"/>
            <a:ext cx="43625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928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\documentclass{article}&#10;\usepackage{amsmath}&#10;\usepackage[utf8]{inputenc}&#10;\usepackage{kotex}&#10;\pagestyle{empty}&#10;\newcommand\bs{\boldsymbol}&#10;\begin{document}&#10;&#10;$$&#10;f({\bs y}; {\bar M} )&#10;~ \approx&#10;~ f({\bs y}; M({\hat {\bs \theta}})) \cdot&#10;\exp \left\{ -\frac1{2}({\bs \theta}-{\hat{\bs \theta}})' n \, I({\bs \theta}) ({\bs \theta}-{\hat{\bs \theta}}) \right\} &#10;$$&#10;&#10;&#10;\end{document}" title="IguanaTex Bitmap Display">
            <a:extLst>
              <a:ext uri="{FF2B5EF4-FFF2-40B4-BE49-F238E27FC236}">
                <a16:creationId xmlns:a16="http://schemas.microsoft.com/office/drawing/2014/main" id="{DEF45BB6-1976-4F93-9F38-37A03FA70F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451" y="2659326"/>
            <a:ext cx="6322285" cy="60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A0A3A4-4A67-4244-9C9A-E793841F936C}"/>
              </a:ext>
            </a:extLst>
          </p:cNvPr>
          <p:cNvSpPr txBox="1"/>
          <p:nvPr/>
        </p:nvSpPr>
        <p:spPr>
          <a:xfrm>
            <a:off x="1248259" y="1412776"/>
            <a:ext cx="3380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Laplace Approximation</a:t>
            </a:r>
            <a:endParaRPr lang="ko-KR" altLang="en-US" sz="2400" dirty="0"/>
          </a:p>
        </p:txBody>
      </p:sp>
      <p:pic>
        <p:nvPicPr>
          <p:cNvPr id="4" name="그림 3" descr="\documentclass{article}&#10;\usepackage{amsmath}&#10;\usepackage[utf8]{inputenc}&#10;\usepackage{kotex}&#10;\pagestyle{empty}&#10;\newcommand\bs{\boldsymbol}&#10;\begin{document}&#10;&#10;$$&#10;\frac{\partial}{\partial {\bs \theta}}  f({\bs y}; M({\hat {\bs \theta}})) ~=~ 0&#10;$$&#10;&#10;&#10;\end{document}" title="IguanaTex Bitmap Display">
            <a:extLst>
              <a:ext uri="{FF2B5EF4-FFF2-40B4-BE49-F238E27FC236}">
                <a16:creationId xmlns:a16="http://schemas.microsoft.com/office/drawing/2014/main" id="{15AF14DA-643E-4F61-B53D-3AF8D5D709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284" y="3933126"/>
            <a:ext cx="2191238" cy="531809"/>
          </a:xfrm>
          <a:prstGeom prst="rect">
            <a:avLst/>
          </a:prstGeom>
        </p:spPr>
      </p:pic>
      <p:pic>
        <p:nvPicPr>
          <p:cNvPr id="14" name="그림 13" descr="\documentclass{article}&#10;\usepackage{amsmath}&#10;\usepackage[utf8]{inputenc}&#10;\usepackage{kotex}&#10;\pagestyle{empty}&#10;\newcommand\bs{\boldsymbol}&#10;\begin{document}&#10;&#10;that is,&#10;${\hat{\bs \theta}}$  &#10; maximizes &#10;$f({\bs y}; M({\hat {\bs \theta}}))$&#10;&#10;&#10;\end{document}" title="IguanaTex Bitmap Display">
            <a:extLst>
              <a:ext uri="{FF2B5EF4-FFF2-40B4-BE49-F238E27FC236}">
                <a16:creationId xmlns:a16="http://schemas.microsoft.com/office/drawing/2014/main" id="{B564514A-9AF4-4E05-81AC-A3BDF5554E8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285" y="5013176"/>
            <a:ext cx="3547429" cy="306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6678BC-D08E-43AA-A526-1A998D83A532}"/>
              </a:ext>
            </a:extLst>
          </p:cNvPr>
          <p:cNvSpPr txBox="1"/>
          <p:nvPr/>
        </p:nvSpPr>
        <p:spPr>
          <a:xfrm>
            <a:off x="755576" y="629448"/>
            <a:ext cx="1604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</a:rPr>
              <a:t>Appendix </a:t>
            </a:r>
            <a:r>
              <a:rPr lang="en-US" altLang="ko-KR" sz="2000" b="1" dirty="0">
                <a:solidFill>
                  <a:srgbClr val="FF0000"/>
                </a:solidFill>
              </a:rPr>
              <a:t>B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99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\documentclass{article}&#10;\usepackage{amsmath}&#10;\usepackage[utf8]{inputenc}&#10;\usepackage{kotex}&#10;\pagestyle{empty}&#10;\newcommand\bs{\boldsymbol}&#10;\begin{document}&#10;&#10;$$&#10;f({\bs y}; {\bar M})&#10;~ \approx&#10;~ f({\bs y}; M({\hat {\bs \theta}})) \cdot \int&#10;\exp \left\{ -\frac1{2}({\bs \theta}-{\hat{\bs \theta}})' n \, I({\bs \theta}) ({\bs \theta}-{\hat{\bs \theta}}) \right\} \, d \, {\bs \theta}&#10;$$&#10;&#10;&#10;\end{document}" title="IguanaTex Bitmap Display">
            <a:extLst>
              <a:ext uri="{FF2B5EF4-FFF2-40B4-BE49-F238E27FC236}">
                <a16:creationId xmlns:a16="http://schemas.microsoft.com/office/drawing/2014/main" id="{7543A65F-46A1-4179-B4AD-F30C6B72B8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3" y="2243274"/>
            <a:ext cx="7046093" cy="608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A3AEDF3-E37F-4271-835A-A3984BA468E4}"/>
              </a:ext>
            </a:extLst>
          </p:cNvPr>
          <p:cNvGrpSpPr/>
          <p:nvPr/>
        </p:nvGrpSpPr>
        <p:grpSpPr>
          <a:xfrm>
            <a:off x="1043608" y="685084"/>
            <a:ext cx="4002181" cy="891365"/>
            <a:chOff x="1043608" y="685084"/>
            <a:chExt cx="4002181" cy="891365"/>
          </a:xfrm>
        </p:grpSpPr>
        <p:pic>
          <p:nvPicPr>
            <p:cNvPr id="5" name="그림 4" descr="\documentclass{article}&#10;\usepackage{amsmath}&#10;\usepackage[utf8]{inputenc}&#10;\usepackage{kotex}&#10;\pagestyle{empty}&#10;\newcommand\bs{\boldsymbol}&#10;\begin{document}&#10;&#10;$$&#10;f({\bs y}; {\bar M} )  = \int f({\bs y}; M({\bs \theta})) p({\bs \theta}) \, d \, {\bs \theta}&#10;$$&#10;&#10;&#10;\end{document}" title="IguanaTex Bitmap Display">
              <a:extLst>
                <a:ext uri="{FF2B5EF4-FFF2-40B4-BE49-F238E27FC236}">
                  <a16:creationId xmlns:a16="http://schemas.microsoft.com/office/drawing/2014/main" id="{B1F2AA3E-9E0D-4F86-A2A9-6BC7E9D3C9B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986049"/>
              <a:ext cx="3758400" cy="590400"/>
            </a:xfrm>
            <a:prstGeom prst="rect">
              <a:avLst/>
            </a:prstGeom>
          </p:spPr>
        </p:pic>
        <p:pic>
          <p:nvPicPr>
            <p:cNvPr id="39" name="그림 38" descr="\documentclass{article}&#10;\usepackage{amsmath}&#10;\usepackage[utf8]{inputenc}&#10;\usepackage{kotex}&#10;\pagestyle{empty}&#10;\newcommand\bs{\boldsymbol}&#10;\begin{document}&#10;&#10;$$&#10;p({\bs \theta}) = 1&#10;$$&#10;&#10;&#10;\end{document}" title="IguanaTex Bitmap Display">
              <a:extLst>
                <a:ext uri="{FF2B5EF4-FFF2-40B4-BE49-F238E27FC236}">
                  <a16:creationId xmlns:a16="http://schemas.microsoft.com/office/drawing/2014/main" id="{ED1A1FA3-ED98-4DE9-9853-CAA6E9B0200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960" y="685084"/>
              <a:ext cx="833829" cy="229029"/>
            </a:xfrm>
            <a:prstGeom prst="rect">
              <a:avLst/>
            </a:prstGeom>
          </p:spPr>
        </p:pic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61EC722D-117E-406B-9790-5E3B9E0F05F1}"/>
                </a:ext>
              </a:extLst>
            </p:cNvPr>
            <p:cNvCxnSpPr/>
            <p:nvPr/>
          </p:nvCxnSpPr>
          <p:spPr>
            <a:xfrm flipV="1">
              <a:off x="3923928" y="986049"/>
              <a:ext cx="403129" cy="5904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 descr="\documentclass{article}&#10;\usepackage{amsmath}&#10;\usepackage[utf8]{inputenc}&#10;\usepackage{kotex}&#10;\pagestyle{empty}&#10;\newcommand\bs{\boldsymbol}&#10;\begin{document}&#10;&#10;$$&#10;f({\bs y}; {\bar M})&#10;~ \propto&#10;~ f({\bs y}; M({\hat {\bs \theta}})) \cdot &#10;\left( \frac{2 \pi}{n}\right)^{\mbox{dim}({\bs \theta})/2}&#10;$$&#10;&#10;&#10;\end{document}" title="IguanaTex Bitmap Display">
            <a:extLst>
              <a:ext uri="{FF2B5EF4-FFF2-40B4-BE49-F238E27FC236}">
                <a16:creationId xmlns:a16="http://schemas.microsoft.com/office/drawing/2014/main" id="{CFB7BEE8-5A0F-46E7-A126-E5171D7F42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3" y="3461197"/>
            <a:ext cx="4409900" cy="719238"/>
          </a:xfrm>
          <a:prstGeom prst="rect">
            <a:avLst/>
          </a:prstGeom>
        </p:spPr>
      </p:pic>
      <p:pic>
        <p:nvPicPr>
          <p:cNvPr id="12" name="그림 11" descr="\documentclass{article}&#10;\usepackage{amsmath}&#10;\usepackage[utf8]{inputenc}&#10;\usepackage{kotex}&#10;\pagestyle{empty}&#10;\newcommand\bs{\boldsymbol}&#10;\begin{document}&#10;&#10;$$&#10;-2 \, \log f({\bs y}; {\bar M})&#10;~ =&#10;~ -2 \, \log f({\bs y}; M({\hat {\bs \theta}})) ~+~  \log n \, \cdot \mbox{dim}({\bs \theta}) ~+~ const&#10;$$&#10;&#10;&#10;\end{document}" title="IguanaTex Bitmap Display">
            <a:extLst>
              <a:ext uri="{FF2B5EF4-FFF2-40B4-BE49-F238E27FC236}">
                <a16:creationId xmlns:a16="http://schemas.microsoft.com/office/drawing/2014/main" id="{A67519CC-4ED0-41A6-AD6E-E2F45CEC7E6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2" y="4875710"/>
            <a:ext cx="7381328" cy="306286"/>
          </a:xfrm>
          <a:prstGeom prst="rect">
            <a:avLst/>
          </a:prstGeom>
        </p:spPr>
      </p:pic>
      <p:pic>
        <p:nvPicPr>
          <p:cNvPr id="60" name="그림 59" descr="\documentclass{article}&#10;\usepackage{amsmath}&#10;\usepackage[utf8]{inputenc}&#10;\usepackage{kotex}&#10;\pagestyle{empty}&#10;\newcommand\bs{\boldsymbol}&#10;\begin{document}&#10;&#10;$$&#10;BIC&#10;~ =&#10;~ -2 \, \log f({\bs y}; M({\hat {\bs \theta}})) ~+~  \log n \, \cdot \mbox{dim}({\bs \theta})&#10;$$&#10;&#10;&#10;\end{document}" title="IguanaTex Bitmap Display">
            <a:extLst>
              <a:ext uri="{FF2B5EF4-FFF2-40B4-BE49-F238E27FC236}">
                <a16:creationId xmlns:a16="http://schemas.microsoft.com/office/drawing/2014/main" id="{17397CC9-C725-4711-B6BA-521619FA41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877272"/>
            <a:ext cx="5167235" cy="306286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8786D09-15FC-490A-A896-72F89A1F1702}"/>
              </a:ext>
            </a:extLst>
          </p:cNvPr>
          <p:cNvCxnSpPr>
            <a:cxnSpLocks/>
          </p:cNvCxnSpPr>
          <p:nvPr/>
        </p:nvCxnSpPr>
        <p:spPr>
          <a:xfrm>
            <a:off x="1069792" y="4365104"/>
            <a:ext cx="44383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31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7342"/>
  <p:tag name="ORIGINALWIDTH" val="2284.215"/>
  <p:tag name="LATEXADDIN" val="\documentclass{article}&#10;\usepackage{amsmath}&#10;\pagestyle{empty}&#10;\begin{document}&#10;&#10;&#10;&#10;New data :  $D^* = \{(y_i^* , {\boldsymbol x}_i^* ) | i=1,2, \ldots, n \} &#10;$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37.008"/>
  <p:tag name="LATEXADDIN" val="\documentclass{article}&#10;\usepackage{amsmath}&#10;\pagestyle{empty}&#10;\begin{document}&#10;&#10;&#10;&#10;Data :  $D= \{(y_i , {\boldsymbol x}_i ) | i=1,2, \ldots, n \} &#10;$&#10;&#10;\end{document}"/>
  <p:tag name="IGUANATEXSIZE" val="20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2321"/>
  <p:tag name="ORIGINALWIDTH" val="80.24"/>
  <p:tag name="LATEXADDIN" val="\documentclass{article}&#10;\usepackage{amsmath}&#10;\pagestyle{empty}&#10;\begin{document}&#10;&#10;&#10;$$&#10;\hat{\boldsymbol \beta}&#10;$$&#10;&#10;\end{document}"/>
  <p:tag name="IGUANATEXSIZE" val="20"/>
  <p:tag name="IGUANATEXCURSOR" val="10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317"/>
  <p:tag name="ORIGINALWIDTH" val="633.6708"/>
  <p:tag name="LATEXADDIN" val="\documentclass{article}&#10;\usepackage{amsmath}&#10;\pagestyle{empty}&#10;\begin{document}&#10;&#10;&#10;$$&#10;\hat{y} = \hat{\mu} = {\boldsymbol x} \hat{\boldsymbol \beta}&#10;$$&#10;&#10;\end{document}"/>
  <p:tag name="IGUANATEXSIZE" val="20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58.49268"/>
  <p:tag name="LATEXADDIN" val="\documentclass{article}&#10;\usepackage{amsmath}&#10;\pagestyle{empty}&#10;\begin{document}&#10;&#10;&#10;$$&#10;y&#10;$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.7353"/>
  <p:tag name="ORIGINALWIDTH" val="105.7368"/>
  <p:tag name="LATEXADDIN" val="\documentclass{article}&#10;\usepackage{amsmath}&#10;\pagestyle{empty}&#10;\begin{document}&#10;&#10;&#10;$$&#10;y^*&#10;$$&#10;&#10;\end{document}"/>
  <p:tag name="IGUANATEXSIZE" val="20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671.1661"/>
  <p:tag name="LATEXADDIN" val="\documentclass{article}&#10;\usepackage{amsmath}&#10;\pagestyle{empty}&#10;\begin{document}&#10;&#10;&#10;$$&#10;\sum_i^n ( y_i - \hat{y}_i )^2&#10;$$&#10;&#10;\end{document}"/>
  <p:tag name="IGUANATEXSIZE" val="20"/>
  <p:tag name="IGUANATEXCURSOR" val="11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711.661"/>
  <p:tag name="LATEXADDIN" val="\documentclass{article}&#10;\usepackage{amsmath}&#10;\pagestyle{empty}&#10;\begin{document}&#10;&#10;&#10;$$&#10;\sum_i^n ( y_i^* - \hat{y}_i^* )^2&#10;$$&#10;&#10;\end{document}"/>
  <p:tag name="IGUANATEXSIZE" val="20"/>
  <p:tag name="IGUANATEXCURSOR" val="11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4826"/>
  <p:tag name="ORIGINALWIDTH" val="83.23961"/>
  <p:tag name="LATEXADDIN" val="\documentclass{article}&#10;\usepackage{amsmath}&#10;\pagestyle{empty}&#10;\begin{document}&#10;&#10;&#10;$$&#10;\stackrel{?}{\approx}&#10;$$&#10;&#10;\end{document}"/>
  <p:tag name="IGUANATEXSIZE" val="24"/>
  <p:tag name="IGUANATEXCURSOR" val="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852.6434"/>
  <p:tag name="LATEXADDIN" val="\documentclass{article}&#10;\usepackage{amsmath}&#10;\pagestyle{empty}&#10;\begin{document}&#10;&#10;&#10;$$&#10;\hat{y}^* = \hat{\mu}^* = {\boldsymbol x}^* \hat{\boldsymbol \beta}^*&#10;$$&#10;&#10;\end{document}"/>
  <p:tag name="IGUANATEXSIZE" val="20"/>
  <p:tag name="IGUANATEXCURSOR" val="15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128.2339"/>
  <p:tag name="LATEXADDIN" val="\documentclass{article}&#10;\usepackage{amsmath}&#10;\pagestyle{empty}&#10;\begin{document}&#10;&#10;&#10;$$&#10;\hat{\boldsymbol \beta}^*&#10;$$&#10;&#10;\end{document}"/>
  <p:tag name="IGUANATEXSIZE" val="20"/>
  <p:tag name="IGUANATEXCURSOR" val="1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317"/>
  <p:tag name="ORIGINALWIDTH" val="690.6636"/>
  <p:tag name="LATEXADDIN" val="\documentclass{article}&#10;\usepackage{amsmath}&#10;\pagestyle{empty}&#10;\begin{document}&#10;&#10;&#10;$$&#10;\hat{y} = \hat{\mu} = {\boldsymbol x}^* \hat{\boldsymbol \beta}&#10;$$&#10;&#10;\end{document}"/>
  <p:tag name="IGUANATEXSIZE" val="20"/>
  <p:tag name="IGUANATEXCURSOR" val="10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692.1635"/>
  <p:tag name="LATEXADDIN" val="\documentclass{article}&#10;\usepackage{amsmath}&#10;\pagestyle{empty}&#10;\begin{document}&#10;&#10;&#10;$$&#10;\sum_i^n ( y_i^* - \hat{y}_i )^2&#10;$$&#10;&#10;\end{document}"/>
  <p:tag name="IGUANATEXSIZE" val="20"/>
  <p:tag name="IGUANATEXCURSOR" val="11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244.469"/>
  <p:tag name="LATEXADDIN" val="\documentclass{article}&#10;\usepackage{amsmath}&#10;\usepackage[utf8]{inputenc}&#10;\usepackage{kotex}&#10;\pagestyle{empty}&#10;\newcommand\bs{\boldsymbol}&#10;\begin{document}&#10;&#10;$$&#10;SSE({\bs \mu})  =  &#10;\sum_{i=1}^n (y_i - \mu_i )^2 ~~~\sim~~~ \sigma^2 \cdot \chi^2 (n)&#10;$$&#10;&#10;&#10;\end{document}"/>
  <p:tag name="IGUANATEXSIZE" val="28"/>
  <p:tag name="IGUANATEXCURSOR" val="2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672.666"/>
  <p:tag name="LATEXADDIN" val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/>
  <p:tag name="IGUANATEXSIZE" val="28"/>
  <p:tag name="IGUANATEXCURSOR" val="2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672.666"/>
  <p:tag name="LATEXADDIN" val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/>
  <p:tag name="IGUANATEXSIZE" val="16"/>
  <p:tag name="IGUANATEXCURSOR" val="2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1466.067"/>
  <p:tag name="LATEXADDIN" val="\documentclass{article}&#10;\usepackage{amsmath}&#10;\usepackage[utf8]{inputenc}&#10;\usepackage{kotex}&#10;\pagestyle{empty}&#10;\newcommand\bs{\boldsymbol}&#10;\begin{document}&#10;&#10;$$&#10;{\hat \sigma}^2  ~=~ \frac1{(n-p-1)} \, SSE({\hat {\bs \mu}})  &#10;$$&#10;&#10;&#10;\end{document}"/>
  <p:tag name="IGUANATEXSIZE" val="16"/>
  <p:tag name="IGUANATEXCURSOR" val="2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640.795"/>
  <p:tag name="LATEXADDIN" val="\documentclass{article}&#10;\usepackage{amsmath}&#10;\usepackage[utf8]{inputenc}&#10;\usepackage{kotex}&#10;\pagestyle{empty}&#10;\newcommand\bs{\boldsymbol}&#10;\begin{document}&#10;&#10;$$&#10;SSE^*({\hat {\bs \mu}})  =  &#10;\sum_{i=1}^n (y_i^* - {\hat \mu}_i )^2 ~~~\sim~~~ $$&#10;&#10;&#10;\end{document}"/>
  <p:tag name="IGUANATEXSIZE" val="28"/>
  <p:tag name="IGUANATEXCURSOR" val="2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3124.859"/>
  <p:tag name="LATEXADDIN" val="\documentclass{article}&#10;\usepackage{amsmath}&#10;\usepackage[utf8]{inputenc}&#10;\usepackage{kotex}&#10;\pagestyle{empty}&#10;\newcommand\bs{\boldsymbol}&#10;\begin{document}&#10;&#10;$$&#10;SSE^*({\hat {\bs \mu}})  =  &#10;\sum_{i=1}^n (y_i^* - {\hat \mu}_i )^2 ~~~\sim~~~ \sigma^2 \cdot \left\{ \chi^2 (n)+ \chi^2 (p+1)&#10;\right \}&#10;$$&#10;&#10;&#10;\end{document}"/>
  <p:tag name="IGUANATEXSIZE" val="28"/>
  <p:tag name="IGUANATEXCURSOR" val="2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672.666"/>
  <p:tag name="LATEXADDIN" val="\documentclass{article}&#10;\usepackage{amsmath}&#10;\usepackage[utf8]{inputenc}&#10;\usepackage{kotex}&#10;\pagestyle{empty}&#10;\newcommand\bs{\boldsymbol}&#10;\begin{document}&#10;&#10;$$&#10;SSE({\hat {\bs \mu}})  =  &#10;\sum_{i=1}^n (y_i - {\hat \mu}_i )^2 ~~~\sim~~~ \sigma^2 \cdot \chi^2 (n-p-1)&#10;$$&#10;&#10;&#10;\end{document}"/>
  <p:tag name="IGUANATEXSIZE" val="28"/>
  <p:tag name="IGUANATEXCURSOR" val="2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2340.457"/>
  <p:tag name="LATEXADDIN" val="\documentclass{article}&#10;\usepackage{amsmath}&#10;\usepackage[utf8]{inputenc}&#10;\usepackage{kotex}&#10;\pagestyle{empty}&#10;\newcommand\bs{\boldsymbol}&#10;\begin{document}&#10;&#10;$$&#10; SSE^*({\hat {\bs \mu}}) ~~~ \approx ~~~ SSE({\hat {\bs \mu}})&#10; ~~+~~ {\bs 2} \cdot \sigma^2 (p+1)$$&#10;&#10;&#10;\end{document}"/>
  <p:tag name="IGUANATEXSIZE" val="28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244.469"/>
  <p:tag name="LATEXADDIN" val="\documentclass{article}&#10;\usepackage{amsmath}&#10;\usepackage[utf8]{inputenc}&#10;\usepackage{kotex}&#10;\pagestyle{empty}&#10;\newcommand\bs{\boldsymbol}&#10;\begin{document}&#10;&#10;$$&#10;SSE({\bs \mu})  =  &#10;\sum_{i=1}^n (y_i - \mu_i )^2 ~~~\sim~~~ \sigma^2 \cdot \chi^2 (n)&#10;$$&#10;&#10;&#10;\end{document}"/>
  <p:tag name="IGUANATEXSIZE" val="28"/>
  <p:tag name="IGUANATEXCURSOR" val="2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.23772"/>
  <p:tag name="ORIGINALWIDTH" val="661.4173"/>
  <p:tag name="LATEXADDIN" val="\documentclass{article}&#10;\usepackage{amsmath}&#10;\usepackage[utf8]{inputenc}&#10;\usepackage{kotex}&#10;\pagestyle{empty}&#10;\newcommand\bs{\boldsymbol}&#10;\begin{document}&#10;&#10;$$&#10;y_i ~=~ \alpha + \epsilon_i&#10;$$&#10;&#10;&#10;\end{document}"/>
  <p:tag name="IGUANATEXSIZE" val="20"/>
  <p:tag name="IGUANATEXCURSOR" val="1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437.1953"/>
  <p:tag name="LATEXADDIN" val="\documentclass{article}&#10;\usepackage{amsmath}&#10;\usepackage[utf8]{inputenc}&#10;\usepackage{kotex}&#10;\pagestyle{empty}&#10;\newcommand\bs{\boldsymbol}&#10;\begin{document}&#10;&#10;$$&#10;\mu_i ~=~ \alpha&#10;$$&#10;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480.6899"/>
  <p:tag name="LATEXADDIN" val="\documentclass{article}&#10;\usepackage{amsmath}&#10;\usepackage[utf8]{inputenc}&#10;\usepackage{kotex}&#10;\pagestyle{empty}&#10;\newcommand\bs{\boldsymbol}&#10;\begin{document}&#10;&#10;$$&#10;{\hat \mu}_i ~=~ {\bar y}_n&#10;$$&#10;&#10;&#10;\end{document}"/>
  <p:tag name="IGUANATEXSIZE" val="20"/>
  <p:tag name="IGUANATEXCURSOR" val="1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782.9021"/>
  <p:tag name="LATEXADDIN" val="\documentclass{article}&#10;\usepackage{amsmath}&#10;\usepackage[utf8]{inputenc}&#10;\usepackage{kotex}&#10;\pagestyle{empty}&#10;\newcommand\bs{\boldsymbol}&#10;\begin{document}&#10;&#10;$$&#10;\epsilon_i ~\sim~N(0, \sigma^2 )&#10;$$&#10;&#10;&#10;\end{document}"/>
  <p:tag name="IGUANATEXSIZE" val="20"/>
  <p:tag name="IGUANATEXCURSOR" val="1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694.4132"/>
  <p:tag name="LATEXADDIN" val="\documentclass{article}&#10;\usepackage{amsmath}&#10;\usepackage[utf8]{inputenc}&#10;\usepackage{kotex}&#10;\pagestyle{empty}&#10;\newcommand\bs{\boldsymbol}&#10;\begin{document}&#10;&#10;$$&#10;y_i^* ~=~ \alpha + \epsilon_i^*&#10;$$&#10;&#10;&#10;\end{document}"/>
  <p:tag name="IGUANATEXSIZE" val="20"/>
  <p:tag name="IGUANATEXCURSOR" val="1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798.6501"/>
  <p:tag name="LATEXADDIN" val="\documentclass{article}&#10;\usepackage{amsmath}&#10;\usepackage[utf8]{inputenc}&#10;\usepackage{kotex}&#10;\pagestyle{empty}&#10;\newcommand\bs{\boldsymbol}&#10;\begin{document}&#10;&#10;$$&#10;\epsilon_i^* ~\sim~N(0, \sigma^2 )&#10;$$&#10;&#10;&#10;\end{document}"/>
  <p:tag name="IGUANATEXSIZE" val="20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627.671"/>
  <p:tag name="LATEXADDIN" val="\documentclass{article}&#10;\usepackage{amsmath}&#10;\usepackage[utf8]{inputenc}&#10;\usepackage{kotex}&#10;\pagestyle{empty}&#10;\newcommand\bs{\boldsymbol}&#10;\begin{document}&#10;&#10;$$&#10;E \left[ \, SSE({\hat {\bs \mu}}) \, \right]  =  &#10;E \left[\, \sum_{i=1}^n (y_i - {\hat \mu}_i )^2 \, \right] ~=~ \sigma^2 (n-1)&#10;$$&#10;&#10;&#10;\end{document}"/>
  <p:tag name="IGUANATEXSIZE" val="20"/>
  <p:tag name="IGUANATEXCURSOR" val="2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704.912"/>
  <p:tag name="LATEXADDIN" val="\documentclass{article}&#10;\usepackage{amsmath}&#10;\usepackage[utf8]{inputenc}&#10;\usepackage{kotex}&#10;\pagestyle{empty}&#10;\newcommand\bs{\boldsymbol}&#10;\begin{document}&#10;&#10;$$&#10;E \left[ \, SSE^*({\hat {\bs \mu}}) \, \right]  =  &#10;E \left[\, \sum_{i=1}^n (y_i^* - {\hat \mu}_i )^2 \, \right] ~=~ \sigma^2 (n+1)&#10;$$&#10;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211.474"/>
  <p:tag name="LATEXADDIN" val="\documentclass{article}&#10;\usepackage{amsmath}&#10;\usepackage[utf8]{inputenc}&#10;\usepackage{kotex}&#10;\pagestyle{empty}&#10;\newcommand\bs{\boldsymbol}&#10;\begin{document}&#10;&#10;$$&#10;\sum_{i=1}^n (y_i^* - {\hat \mu}_i )^2 ~~\approx~~&#10;\sum_{i=1}^n (y_i - {\hat \mu}_i )^2 ~ +~&#10; 2 \, \sigma^2&#10;$$&#10;&#10;&#10;\end{document}"/>
  <p:tag name="IGUANATEXSIZE" val="20"/>
  <p:tag name="IGUANATEXCURSOR" val="2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143.232"/>
  <p:tag name="LATEXADDIN" val="\documentclass{article}&#10;\usepackage{amsmath}&#10;\usepackage[utf8]{inputenc}&#10;\usepackage{kotex}&#10;\pagestyle{empty}&#10;\newcommand\bs{\boldsymbol}&#10;\begin{document}&#10;&#10;$$&#10;\sum_{i=1}^n (y_i - {\bar y}_n )^2 &#10;~=~ \sum_{i=1}^n \left( &#10;y_i^2  - 2 y_i \, {\bar y}_n +{\bar y}_n^2 &#10;\right)&#10; $$&#10;&#10;&#10;\end{document}"/>
  <p:tag name="IGUANATEXSIZE" val="16"/>
  <p:tag name="IGUANATEXCURSOR" val="26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3329.584"/>
  <p:tag name="LATEXADDIN" val="\documentclass{article}&#10;\usepackage{amsmath}&#10;\usepackage[utf8]{inputenc}&#10;\usepackage{kotex}&#10;\pagestyle{empty}&#10;\newcommand\bs{\boldsymbol}&#10;\begin{document}&#10;&#10;$$&#10;=~ \left ( \sum_{i=1}^n&#10;y_i^2  \right) - \frac2n  \left( \sum_{i=1}^n  y_i \right) \left( \sum_{j=1}^n  y_j \right)&#10; +\frac1n  \left( \sum_{i=1}^n  y_i \right)&#10;\left( \sum_{j=1}^n  y_j \right)&#10;$$&#10;&#10;&#10;\end{document}"/>
  <p:tag name="IGUANATEXSIZE" val="14"/>
  <p:tag name="IGUANATEXCURSOR" val="2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2056.243"/>
  <p:tag name="LATEXADDIN" val="\documentclass{article}&#10;\usepackage{amsmath}&#10;\usepackage[utf8]{inputenc}&#10;\usepackage{kotex}&#10;\pagestyle{empty}&#10;\newcommand\bs{\boldsymbol}&#10;\begin{document}&#10;&#10;$$&#10;=~ \left ( \sum_{i=1}^n&#10;y_i^2  \right) - \frac1n  \left( \sum_{i=1}^n  y_i^2 +   &#10;\sum_{i \not= j }  y_i y_j \right)&#10;$$&#10;&#10;&#10;\end{document}"/>
  <p:tag name="IGUANATEXSIZE" val="14"/>
  <p:tag name="IGUANATEXCURSOR" val="2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632.546"/>
  <p:tag name="LATEXADDIN" val="\documentclass{article}&#10;\usepackage{amsmath}&#10;\usepackage[utf8]{inputenc}&#10;\usepackage{kotex}&#10;\pagestyle{empty}&#10;\newcommand\bs{\boldsymbol}&#10;\begin{document}&#10;&#10;$$&#10;E \left [ \, \sum_{i=1}^n (y_i - {\bar y}_n )^2&#10;\, \right]&#10;~=~  &#10;n \, (\sigma^2 + \mu^2 ) - \frac1n \left \{ n(\sigma^2 +\mu^2 ) +  n(n-1) \mu^2&#10;\right\}&#10;$$&#10;&#10;&#10;\end{document}"/>
  <p:tag name="IGUANATEXSIZE" val="16"/>
  <p:tag name="IGUANATEXCURSOR" val="2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671.916"/>
  <p:tag name="LATEXADDIN" val="\documentclass{article}&#10;\usepackage{amsmath}&#10;\usepackage[utf8]{inputenc}&#10;\usepackage{kotex}&#10;\pagestyle{empty}&#10;\newcommand\bs{\boldsymbol}&#10;\begin{document}&#10;&#10;$$&#10;=~(n-1) \sigma^2&#10;$$&#10;&#10;&#10;\end{document}"/>
  <p:tag name="IGUANATEXSIZE" val="16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4275.965"/>
  <p:tag name="LATEXADDIN" val="\documentclass{article}&#10;\usepackage{amsmath}&#10;\usepackage[utf8]{inputenc}&#10;\usepackage{kotex}&#10;\pagestyle{empty}&#10;\newcommand\bs{\boldsymbol}&#10;\begin{document}&#10;&#10;$$&#10;E \left [ \, \sum_{i=1}^n (y_i^* - {\bar y}_n )^2&#10;\, \right]&#10;~=~  &#10;n \, (\sigma^2 + \mu^2 ) - \frac2n \left( n^2 \mu^2 \right)&#10;+\frac1n \left \{ n(\sigma^2 +\mu^2 ) +  n(n-1) \mu^2&#10;\right\}&#10;$$&#10;&#10;&#10;\end{document}"/>
  <p:tag name="IGUANATEXSIZE" val="16"/>
  <p:tag name="IGUANATEXCURSOR" val="28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671.916"/>
  <p:tag name="LATEXADDIN" val="\documentclass{article}&#10;\usepackage{amsmath}&#10;\usepackage[utf8]{inputenc}&#10;\usepackage{kotex}&#10;\pagestyle{empty}&#10;\newcommand\bs{\boldsymbol}&#10;\begin{document}&#10;&#10;$$&#10;=~(n+1) \sigma^2&#10;$$&#10;&#10;&#10;\end{document}"/>
  <p:tag name="IGUANATEXSIZE" val="16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337.458"/>
  <p:tag name="LATEXADDIN" val="\documentclass{article}&#10;\usepackage{amsmath}&#10;\usepackage[utf8]{inputenc}&#10;\usepackage{kotex}&#10;\pagestyle{empty}&#10;\newcommand\bs{\boldsymbol}&#10;\begin{document}&#10;&#10;$$&#10;\sum_{i=1}^n (y_i^* - {\bar y}_n )^2 &#10;~=~ \sum_{i=1}^n \left( &#10;(y_i^*)^2  - 2 y_i^* \, {\bar y}_n +{\bar y}_n^2 &#10;\right)&#10; $$&#10;&#10;&#10;\end{document}"/>
  <p:tag name="IGUANATEXSIZE" val="16"/>
  <p:tag name="IGUANATEXCURSOR" val="2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3539.557"/>
  <p:tag name="LATEXADDIN" val="\documentclass{article}&#10;\usepackage{amsmath}&#10;\usepackage[utf8]{inputenc}&#10;\usepackage{kotex}&#10;\pagestyle{empty}&#10;\newcommand\bs{\boldsymbol}&#10;\begin{document}&#10;&#10;$$&#10;=~ \left ( \sum_{i=1}^n&#10;(y_i^*)^2  \right) - \frac2n  \left( \sum_{i=1}^n  y_i^* \right) \left( \sum_{j=1}^n  y_j \right)&#10; +\frac1n  \left( \sum_{i=1}^n  y_i^2 +   &#10;\sum_{i \not= j }  y_i y_j \right)&#10;$$&#10;&#10;&#10;\end{document}"/>
  <p:tag name="IGUANATEXSIZE" val="14"/>
  <p:tag name="IGUANATEXCURSOR" val="3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71.6536"/>
  <p:tag name="LATEXADDIN" val="\documentclass{article}&#10;\usepackage{amsmath}&#10;\usepackage[utf8]{inputenc}&#10;\usepackage{kotex}&#10;\pagestyle{empty}&#10;\begin{document}&#10;&#10;$&#10;y ~\sim ~N( \mu , \sigma^2 )&#10;$&#10;&#10;&#10;\end{document}"/>
  <p:tag name="IGUANATEXSIZE" val="28"/>
  <p:tag name="IGUANATEXCURSOR" val="14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069.741"/>
  <p:tag name="LATEXADDIN" val="\documentclass{article}&#10;\usepackage{amsmath}&#10;\usepackage[utf8]{inputenc}&#10;\usepackage{kotex}&#10;\pagestyle{empty}&#10;\newcommand\bs{\boldsymbol}&#10;\begin{document}&#10;&#10;$$&#10;p(y)~=~&#10;\frac1{\sqrt{2 \pi \sigma^2}}&#10; \, \exp \left\{ -\frac1{2 \sigma^2 } &#10; (y - \mu )^2  \right\}&#10;$$&#10;&#10;&#10;\end{document}"/>
  <p:tag name="IGUANATEXSIZE" val="28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645.669"/>
  <p:tag name="LATEXADDIN" val="\documentclass{article}&#10;\usepackage{amsmath}&#10;\usepackage[utf8]{inputenc}&#10;\usepackage{kotex}&#10;\pagestyle{empty}&#10;\newcommand\bs{\boldsymbol}&#10;\begin{document}&#10;&#10;$$&#10;p({\bs y} )~=~&#10;\left(&#10;\frac1{\sqrt{2 \pi \sigma^2}}&#10;\right)^n \, \exp \left\{ -\frac1{2 \sigma^2 } &#10;\sum_{i=1}^n (y_i - \mu_i )^2  \right\}&#10;$$&#10;&#10;&#10;\end{document}"/>
  <p:tag name="IGUANATEXSIZE" val="28"/>
  <p:tag name="IGUANATEXCURSOR" val="1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871.766"/>
  <p:tag name="LATEXADDIN" val="\documentclass{article}&#10;\usepackage{amsmath}&#10;\usepackage[utf8]{inputenc}&#10;\usepackage{kotex}&#10;\pagestyle{empty}&#10;\newcommand\bs{\boldsymbol}&#10;\begin{document}&#10;&#10;$$&#10;p({\bs y} )~=~ p(y_1, \ldots, y_n ) ~=~ \prod_i^n p( y_i ) &#10;$$&#10;&#10;&#10;\end{document}"/>
  <p:tag name="IGUANATEXSIZE" val="28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653.543"/>
  <p:tag name="LATEXADDIN" val="\documentclass{article}&#10;\usepackage{amsmath}&#10;\usepackage[utf8]{inputenc}&#10;\usepackage{kotex}&#10;\newcommand\bs{\boldsymbol}&#10;\pagestyle{empty}&#10;\begin{document}&#10;&#10;$$&#10;y_i ~\sim ~N( \mu_i , \sigma^2 ), \qquad \mu_i = {\bs x}_i {\bs \beta}&#10;$$&#10;&#10;&#10;\end{document}"/>
  <p:tag name="IGUANATEXSIZE" val="28"/>
  <p:tag name="IGUANATEXCURSOR" val="2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633.671"/>
  <p:tag name="LATEXADDIN" val="\documentclass{article}&#10;\usepackage{amsmath}&#10;\usepackage[utf8]{inputenc}&#10;\usepackage{kotex}&#10;\pagestyle{empty}&#10;\newcommand\bs{\boldsymbol}&#10;\begin{document}&#10;&#10;$$&#10;(-2) \log L({\bs \mu} )~=~ n\, \log ( 2 \pi \sigma^2)&#10;+ \frac1{\sigma^2 } &#10;\sum_{i=1}^n (y_i - \mu_i )^2 &#10;$$&#10;&#10;&#10;\end{document}"/>
  <p:tag name="IGUANATEXSIZE" val="28"/>
  <p:tag name="IGUANATEXCURSOR" val="19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767.904"/>
  <p:tag name="LATEXADDIN" val="\documentclass{article}&#10;\usepackage{amsmath}&#10;\usepackage[utf8]{inputenc}&#10;\usepackage{kotex}&#10;\pagestyle{empty}&#10;\newcommand\bs{\boldsymbol}&#10;\begin{document}&#10;&#10;$$&#10;p({\bs y} | {\bs \mu}  )~=~&#10;\left(&#10;\frac1{\sqrt{2 \pi \sigma^2}}&#10;\right)^n \, \exp \left\{ -\frac1{2 \sigma^2 } &#10;\sum_{i=1}^n (y_i - \mu_i )^2  \right\}&#10;$$&#10;&#10;&#10;\end{document}"/>
  <p:tag name="IGUANATEXSIZE" val="28"/>
  <p:tag name="IGUANATEXCURSOR" val="17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3493.813"/>
  <p:tag name="LATEXADDIN" val="\documentclass{article}&#10;\usepackage{amsmath}&#10;\usepackage[utf8]{inputenc}&#10;\usepackage{kotex}&#10;\pagestyle{empty}&#10;\newcommand\bs{\boldsymbol}&#10;\begin{document}&#10;&#10;$$&#10;(-2) \log L({\hat{\bs \mu} }) - n\, \log ( 2 \pi \sigma^2) ~=~&#10; \frac1{\sigma^2 } &#10;\sum_{i=1}^n (y_i - {\hat \mu}_i )^2 &#10;~=~&#10; \frac1{\sigma^2 } SSE({\hat {\bs \mu}}) &#10;$$&#10;&#10;&#10;\end{document}"/>
  <p:tag name="IGUANATEXSIZE" val="20"/>
  <p:tag name="IGUANATEXCURSOR" val="20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3628.796"/>
  <p:tag name="LATEXADDIN" val="\documentclass{article}&#10;\usepackage{amsmath}&#10;\usepackage[utf8]{inputenc}&#10;\usepackage{kotex}&#10;\pagestyle{empty}&#10;\newcommand\bs{\boldsymbol}&#10;\begin{document}&#10;&#10;$$&#10;(-2) \log L^* ({\hat{\bs \mu} }) - n\, \log (2 \pi \sigma^2) ~=~&#10; \frac1{\sigma^2 } &#10;\sum_{i=1}^n (y_i^* - {\hat \mu}_i )^2  ~=~&#10; \frac1{\sigma^2 } SSE^* ({\hat {\bs \mu}}) &#10;$$&#10;&#10;&#10;\end{document}"/>
  <p:tag name="IGUANATEXSIZE" val="20"/>
  <p:tag name="IGUANATEXCURSOR" val="20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87.664"/>
  <p:tag name="LATEXADDIN" val="\documentclass{article}&#10;\usepackage{amsmath}&#10;\usepackage[utf8]{inputenc}&#10;\usepackage{kotex}&#10;\pagestyle{empty}&#10;\newcommand\bs{\boldsymbol}&#10;\begin{document}&#10;&#10;$$&#10;(-2) \log L^*({\hat {\bs \mu}}) ~~~ \approx ~~~ (-2) \log L ({\hat {\bs \mu}})&#10; ~~+~~ {\bs 2} \, (p+1)$$&#10;&#10;&#10;\end{document}"/>
  <p:tag name="IGUANATEXSIZE" val="28"/>
  <p:tag name="IGUANATEXCURSOR" val="25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226.847"/>
  <p:tag name="LATEXADDIN" val="\documentclass{article}&#10;\usepackage{amsmath}&#10;\usepackage[utf8]{inputenc}&#10;\usepackage{kotex}&#10;\pagestyle{empty}&#10;\newcommand\bs{\boldsymbol}&#10;\begin{document}&#10;&#10;$$&#10;(-2) \log L^*({\hat {\bs \mu}}) ~~~~~~~~ \approx ~~~ (-2) \log L ({\hat {\bs \mu}})&#10; ~~~~~~~~+~~~~ {\bs 2} \, (p+1)$$&#10;&#10;&#10;\end{document}"/>
  <p:tag name="IGUANATEXSIZE" val="28"/>
  <p:tag name="IGUANATEXCURSOR" val="2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3539.557"/>
  <p:tag name="LATEXADDIN" val="\documentclass{article}&#10;\usepackage{amsmath}&#10;\usepackage[utf8]{inputenc}&#10;\usepackage{kotex}&#10;\pagestyle{empty}&#10;\newcommand\bs{\boldsymbol}&#10;\begin{document}&#10;&#10;$$&#10;(-2) \log L^*(({\hat {\bs \mu}}, {\hat {\bs \sigma^2}})) ~~~ \approx ~~~ (-2) \log L (({\hat {\bs \mu}}, {\hat {\bs \sigma^2}}))&#10; ~~+~~~ {\bs 2} \, (p+1+1)$$&#10;&#10;&#10;\end{document}"/>
  <p:tag name="IGUANATEXSIZE" val="20"/>
  <p:tag name="IGUANATEXCURSOR" val="29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3259.093"/>
  <p:tag name="LATEXADDIN" val="\documentclass{article}&#10;\usepackage{amsmath}&#10;\usepackage[utf8]{inputenc}&#10;\usepackage{kotex}&#10;\pagestyle{empty}&#10;\newcommand\bs{\boldsymbol}&#10;\begin{document}&#10;&#10;$$&#10;(-2) \log L^*({\hat{\bs \theta}}) ~~~~~~~~~~ \approx ~~~~ (-2) \log L ({\hat {\bs \theta}})&#10; ~~~~~~~~~+~~~ {\bs 2} \,\, df({\bs \theta})$$&#10;&#10;&#10;\end{document}"/>
  <p:tag name="IGUANATEXSIZE" val="20"/>
  <p:tag name="IGUANATEXCURSOR" val="2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3259.093"/>
  <p:tag name="LATEXADDIN" val="\documentclass{article}&#10;\usepackage{amsmath}&#10;\usepackage[utf8]{inputenc}&#10;\usepackage{kotex}&#10;\pagestyle{empty}&#10;\newcommand\bs{\boldsymbol}&#10;\begin{document}&#10;&#10;$$&#10;(-2) \log L^*({\hat{\bs \theta}}) ~~~~~~~~~~ \approx ~~~~ (-2) \log L ({\hat {\bs \theta}})&#10; ~~~~~~~~~+~~~ {\bs 2} \,\, df({\bs \theta})$$&#10;&#10;&#10;\end{document}"/>
  <p:tag name="IGUANATEXSIZE" val="20"/>
  <p:tag name="IGUANATEXCURSOR" val="2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254.218"/>
  <p:tag name="LATEXADDIN" val="\documentclass{article}&#10;\usepackage{amsmath}&#10;\usepackage[utf8]{inputenc}&#10;\usepackage{kotex}&#10;\pagestyle{empty}&#10;\newcommand\bs{\boldsymbol}&#10;\begin{document}&#10;&#10;$$&#10;AIC ~~~ = ~~~~ (-2) \log L ({\hat {\bs \theta}})&#10;~~~~+~~~ {\bs 2} \,\, df({\bs \theta})$$&#10;&#10;&#10;\end{document}"/>
  <p:tag name="IGUANATEXSIZE" val="20"/>
  <p:tag name="IGUANATEXCURSOR" val="2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807.649"/>
  <p:tag name="LATEXADDIN" val="\documentclass{article}&#10;\usepackage{amsmath}&#10;\usepackage[utf8]{inputenc}&#10;\usepackage{kotex}&#10;\pagestyle{empty}&#10;\newcommand\bs{\boldsymbol}&#10;\begin{document}&#10;&#10;$$&#10;df({\bs \theta}) ~:~~\mbox{the number of parameters ${\bs \theta}$, ~~ i.e. $\mbox{dim}({\bs \theta})$}&#10;$$&#10;&#10;&#10;\end{document}"/>
  <p:tag name="IGUANATEXSIZE" val="20"/>
  <p:tag name="IGUANATEXCURSOR" val="17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.7353"/>
  <p:tag name="ORIGINALWIDTH" val="118.4852"/>
  <p:tag name="LATEXADDIN" val="\documentclass{article}&#10;\usepackage{amsmath}&#10;\usepackage[utf8]{inputenc}&#10;\usepackage{kotex}&#10;\pagestyle{empty}&#10;\newcommand\bs{\boldsymbol}&#10;\begin{document}&#10;&#10;$$&#10;{\bs y}^* $$&#10;&#10;&#10;\end{document}"/>
  <p:tag name="IGUANATEXSIZE" val="28"/>
  <p:tag name="IGUANATEXCURSOR" val="16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79.49008"/>
  <p:tag name="LATEXADDIN" val="\documentclass{article}&#10;\usepackage{amsmath}&#10;\usepackage[utf8]{inputenc}&#10;\usepackage{kotex}&#10;\pagestyle{empty}&#10;\newcommand\bs{\boldsymbol}&#10;\begin{document}&#10;&#10;$$&#10;{\bs \mu}$$&#10;&#10;&#10;\end{document}"/>
  <p:tag name="IGUANATEXSIZE" val="28"/>
  <p:tag name="IGUANATEXCURSOR" val="16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[utf8]{inputenc}&#10;\usepackage{kotex}&#10;\pagestyle{empty}&#10;\newcommand\bs{\boldsymbol}&#10;\begin{document}&#10;&#10;$$&#10;{\bs y}$$&#10;&#10;&#10;\end{document}"/>
  <p:tag name="IGUANATEXSIZE" val="28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68.99134"/>
  <p:tag name="LATEXADDIN" val="\documentclass{article}&#10;\usepackage{amsmath}&#10;\usepackage[utf8]{inputenc}&#10;\usepackage{kotex}&#10;\pagestyle{empty}&#10;\newcommand\bs{\boldsymbol}&#10;\begin{document}&#10;&#10;$$&#10;{\hat {\bs y}} $$&#10;&#10;&#10;\end{document}"/>
  <p:tag name="IGUANATEXSIZE" val="28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18.4852"/>
  <p:tag name="LATEXADDIN" val="\documentclass{article}&#10;\usepackage{amsmath}&#10;\usepackage[utf8]{inputenc}&#10;\usepackage{kotex}&#10;\pagestyle{empty}&#10;\newcommand\bs{\boldsymbol}&#10;\begin{document}&#10;&#10;$$&#10;{\hat {\bs y}}^* $$&#10;&#10;&#10;\end{document}"/>
  <p:tag name="IGUANATEXSIZE" val="28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3.2021"/>
  <p:tag name="LATEXADDIN" val="\documentclass{article}&#10;\usepackage{amsmath}&#10;\usepackage[utf8]{inputenc}&#10;\usepackage{kotex}&#10;\pagestyle{empty}&#10;\newcommand\bs{\boldsymbol}&#10;\begin{document}&#10;&#10;$$&#10;{\bs 2} \,\, df({\bs \theta})$$&#10;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091.489"/>
  <p:tag name="LATEXADDIN" val="\documentclass{article}&#10;\usepackage{amsmath}&#10;\usepackage[utf8]{inputenc}&#10;\usepackage{kotex}&#10;\pagestyle{empty}&#10;\newcommand\bs{\boldsymbol}&#10;\begin{document}&#10;&#10;$$&#10;AIC(M) ~ = ~~ (-2) \log L ({\hat {\bs \theta}})&#10;~+~ {\bs 2} \, df({\bs \theta})$$&#10;&#10;&#10;\end{document}"/>
  <p:tag name="IGUANATEXSIZE" val="24"/>
  <p:tag name="IGUANATEXCURSOR" val="2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901.387"/>
  <p:tag name="LATEXADDIN" val="\documentclass{article}&#10;\usepackage{amsmath}&#10;\pagestyle{empty}&#10;\begin{document}&#10;&#10;&#10;$$&#10;-2 \log p(D^* | \hat{\boldsymbol \theta})&#10;~\approx~ -2 \log p(D | \hat{\boldsymbol \theta}) + 2 \, df({\boldsymbol \theta})~~=~~\mbox{AIC}&#10;$$&#10;&#10;\end{document}"/>
  <p:tag name="IGUANATEXSIZE" val="20"/>
  <p:tag name="IGUANATEXCURSOR" val="2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2395.201"/>
  <p:tag name="LATEXADDIN" val="\documentclass{article}&#10;\usepackage{amsmath}&#10;\pagestyle{empty}&#10;\begin{document}&#10;&#10;$ &#10;C_p ~=~ (n-p-1) ( MSE - \hat \sigma^2 )/ \hat \sigma^2  + (p+1)&#10;$&#10;&#10;&#10;\end{document}"/>
  <p:tag name="IGUANATEXSIZE" val="20"/>
  <p:tag name="IGUANATEXCURSOR" val="10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1428.571"/>
  <p:tag name="LATEXADDIN" val="\documentclass{article}&#10;\usepackage{amsmath}&#10;\pagestyle{empty}&#10;\begin{document}&#10;&#10;$ &#10;= ~ SSE /\hat \sigma^2 - n + 2 (p+1)&#10;$&#10;&#10;&#10;\end{document}"/>
  <p:tag name="IGUANATEXSIZE" val="20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.7368"/>
  <p:tag name="ORIGINALWIDTH" val="1445.819"/>
  <p:tag name="LATEXADDIN" val="\documentclass{article}&#10;\usepackage{amsmath}&#10;\pagestyle{empty}&#10;\begin{document}&#10;&#10;$ &#10;\hat \sigma^2 ~=~ \mbox{ MSE of Full model}&#10;$&#10;&#10;&#10;\end{document}"/>
  <p:tag name="IGUANATEXSIZE" val="20"/>
  <p:tag name="IGUANATEXCURSOR" val="12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.7346"/>
  <p:tag name="ORIGINALWIDTH" val="131.9835"/>
  <p:tag name="LATEXADDIN" val="\documentclass{article}&#10;\usepackage{amsmath}&#10;\pagestyle{empty}&#10;\begin{document}&#10;&#10;$ &#10;C_p $&#10;&#10;&#10;\end{document}"/>
  <p:tag name="IGUANATEXSIZE" val="28"/>
  <p:tag name="IGUANATEXCURSOR" val="8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554.1807"/>
  <p:tag name="LATEXADDIN" val="\documentclass{article}&#10;\usepackage{amsmath}&#10;\pagestyle{empty}&#10;\begin{document}&#10;&#10;&#10;$$&#10;y = \beta_0 + \epsilon&#10;$$&#10;&#10;\end{document}"/>
  <p:tag name="IGUANATEXSIZE" val="20"/>
  <p:tag name="IGUANATEXCURSOR" val="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51.631"/>
  <p:tag name="LATEXADDIN" val="\documentclass{article}&#10;\usepackage{amsmath}&#10;\usepackage[utf8]{inputenc}&#10;\usepackage{kotex}&#10;\pagestyle{empty}&#10;\newcommand\bs{\boldsymbol}&#10;\begin{document}&#10;&#10;$$&#10;M_1 ({\bs \theta}), \ldots, M_s ({\bs \theta})&#10;$$&#10;&#10;&#10;\end{document}"/>
  <p:tag name="IGUANATEXSIZE" val="28"/>
  <p:tag name="IGUANATEXCURSOR" val="1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959.1301"/>
  <p:tag name="LATEXADDIN" val="\documentclass{article}&#10;\usepackage{amsmath}&#10;\pagestyle{empty}&#10;\begin{document}&#10;&#10;&#10;$$&#10;y = \beta_0 + \beta_1 x_1 + \epsilon&#10;$$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870.6412"/>
  <p:tag name="LATEXADDIN" val="\documentclass{article}&#10;\usepackage{amsmath}&#10;\usepackage[utf8]{inputenc}&#10;\usepackage{kotex}&#10;\pagestyle{empty}&#10;\newcommand\bs{\boldsymbol}&#10;\begin{document}&#10;&#10;$$&#10;{\bs \theta} = (\, \beta_0 \,) ~\in ~R^1&#10;$$&#10;&#10;&#10;\end{document}"/>
  <p:tag name="IGUANATEXSIZE" val="20"/>
  <p:tag name="IGUANATEXCURSOR" val="19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055.118"/>
  <p:tag name="LATEXADDIN" val="\documentclass{article}&#10;\usepackage{amsmath}&#10;\usepackage[utf8]{inputenc}&#10;\usepackage{kotex}&#10;\pagestyle{empty}&#10;\newcommand\bs{\boldsymbol}&#10;\begin{document}&#10;&#10;$$&#10;{\bs \theta} = (\, \beta_0 , \beta_1 \,) ~\in ~R^2&#10;$$&#10;&#10;&#10;\end{document}"/>
  <p:tag name="IGUANATEXSIZE" val="20"/>
  <p:tag name="IGUANATEXCURSOR" val="2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897.263"/>
  <p:tag name="LATEXADDIN" val="\documentclass{article}&#10;\usepackage{amsmath}&#10;\usepackage[utf8]{inputenc}&#10;\usepackage{kotex}&#10;\pagestyle{empty}&#10;\newcommand\bs{\boldsymbol}&#10;\begin{document}&#10;&#10;$$&#10;p({\bs y}| {\bar M }) = \int p({\bs y}| M({\bs \theta})) \, p({\bs \theta}|M ) \, d \, {\bs \theta}&#10;$$&#10;&#10;&#10;\end{document}"/>
  <p:tag name="IGUANATEXSIZE" val="28"/>
  <p:tag name="IGUANATEXCURSOR" val="1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328.084"/>
  <p:tag name="LATEXADDIN" val="\documentclass{article}&#10;\usepackage{amsmath}&#10;\usepackage[utf8]{inputenc}&#10;\usepackage{kotex}&#10;\pagestyle{empty}&#10;\newcommand\bs{\boldsymbol}&#10;\begin{document}&#10;&#10;$$&#10;p({\bs y}) = \int p({\bs y}| {\bs \theta}) \, p({\bs \theta} ) \, d \, {\bs \theta} &#10;$$&#10;&#10;&#10;\end{document}"/>
  <p:tag name="IGUANATEXSIZE" val="28"/>
  <p:tag name="IGUANATEXCURSOR" val="17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396.325"/>
  <p:tag name="LATEXADDIN" val="\documentclass{article}&#10;\usepackage{amsmath}&#10;\usepackage[utf8]{inputenc}&#10;\usepackage{kotex}&#10;\pagestyle{empty}&#10;\newcommand\bs{\boldsymbol}&#10;\begin{document}&#10;&#10;$$&#10; = \int p({\bs y}| M, {\bs \theta} ) \, p({\bs \theta}| M ) \, d \, {\bs \theta}&#10;$$&#10;&#10;&#10;\end{document}"/>
  <p:tag name="IGUANATEXSIZE" val="28"/>
  <p:tag name="IGUANATEXCURSOR" val="21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69.1788"/>
  <p:tag name="LATEXADDIN" val="\documentclass{article}&#10;\usepackage{amsmath}&#10;\usepackage[utf8]{inputenc}&#10;\usepackage{kotex}&#10;\pagestyle{empty}&#10;\newcommand\bs{\boldsymbol}&#10;\begin{document}&#10;&#10;$$&#10;p({\bs y}| M({\bs \theta}))&#10;$$&#10;&#10;&#10;\end{document}"/>
  <p:tag name="IGUANATEXSIZE" val="28"/>
  <p:tag name="IGUANATEXCURSOR" val="16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6.4829"/>
  <p:tag name="ORIGINALWIDTH" val="1308.586"/>
  <p:tag name="LATEXADDIN" val="\documentclass{article}&#10;\usepackage{amsmath}&#10;\usepackage[utf8]{inputenc}&#10;\usepackage{kotex}&#10;\pagestyle{empty}&#10;\newcommand\bs{\boldsymbol}&#10;\begin{document}&#10;&#10;$$&#10;p({\bs y}| {\bar M }) = E[ p({\bs y}| M({\bs \theta}) )] $$&#10;&#10;&#10;\end{document}"/>
  <p:tag name="IGUANATEXSIZE" val="28"/>
  <p:tag name="IGUANATEXCURSOR" val="1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445.069"/>
  <p:tag name="LATEXADDIN" val="\documentclass{article}&#10;\usepackage{amsmath}&#10;\usepackage[utf8]{inputenc}&#10;\usepackage{kotex}&#10;\pagestyle{empty}&#10;\newcommand\bs{\boldsymbol}&#10;\begin{document}&#10;&#10;$$&#10;= \int p({\bs y}| M({\bs \theta})) \, p({\bs \theta}|M ) \, d \, {\bs \theta}&#10;$$&#10;&#10;&#10;\end{document}"/>
  <p:tag name="IGUANATEXSIZE" val="28"/>
  <p:tag name="IGUANATEXCURSOR" val="21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619.048"/>
  <p:tag name="LATEXADDIN" val="\documentclass{article}&#10;\usepackage{amsmath}&#10;\usepackage[utf8]{inputenc}&#10;\usepackage{kotex}&#10;\pagestyle{empty}&#10;\newcommand\bs{\boldsymbol}&#10;\begin{document}&#10;&#10;$$&#10;p({\bs \theta}|M ) ~:~~\mbox{prior under model}&#10;$$&#10;&#10;&#10;\end{document}"/>
  <p:tag name="IGUANATEXSIZE" val="20"/>
  <p:tag name="IGUANATEXCURSOR" val="2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2051.744"/>
  <p:tag name="LATEXADDIN" val="\documentclass{article}&#10;\usepackage{amsmath}&#10;\usepackage[utf8]{inputenc}&#10;\usepackage{kotex}&#10;\pagestyle{empty}&#10;\newcommand\bs{\boldsymbol}&#10;\begin{document}&#10;&#10;$$&#10;p({\bs y}| M({\hat {\bs \theta})})  ~~\propto ~~ p({\bs y}| {\bar M }) \cdot \left( \frac{n}{2 \pi}\right)^{df({\bs \theta})/2}&#10;$$&#10;&#10;&#10;\end{document}"/>
  <p:tag name="IGUANATEXSIZE" val="28"/>
  <p:tag name="IGUANATEXCURSOR" val="2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2129.734"/>
  <p:tag name="LATEXADDIN" val="\documentclass{article}&#10;\usepackage{amsmath}&#10;\usepackage[utf8]{inputenc}&#10;\usepackage{kotex}&#10;\pagestyle{empty}&#10;\newcommand\bs{\boldsymbol}&#10;\begin{document}&#10;&#10;$$&#10;p({\bs y}| {\bar M })  ~~\propto ~~  p({\bs y}| M({\hat {\bs \theta})}) \cdot \left( \frac{n}{2 \pi}\right)^{ - df({\bs \theta})/2}&#10;$$&#10;&#10;&#10;\end{document}"/>
  <p:tag name="IGUANATEXSIZE" val="28"/>
  <p:tag name="IGUANATEXCURSOR" val="2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3499.063"/>
  <p:tag name="LATEXADDIN" val="\documentclass{article}&#10;\usepackage{amsmath}&#10;\newcommand\bs{\boldsymbol}&#10;\pagestyle{empty}&#10;\begin{document}&#10;&#10;&#10;$$&#10; -2 \, \log \, p ({\bs y} | {\bar M }) ~ \approx ~ -2 \, \log \, p ( {\bs y} | M( \hat{\boldsymbol \theta} ) ) ~+~ &#10; \log n  \cdot df({\bs \theta}) ~+~ const&#10;$$&#10;&#10;\end{document}"/>
  <p:tag name="IGUANATEXSIZE" val="20"/>
  <p:tag name="IGUANATEXCURSOR" val="17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421.447"/>
  <p:tag name="LATEXADDIN" val="\documentclass{article}&#10;\usepackage{amsmath}&#10;\newcommand\bs{\boldsymbol}&#10;\pagestyle{empty}&#10;\begin{document}&#10;&#10;&#10;$$&#10;BIC ~ = ~ -2 \, \log \, p ( {\bs y} | M( \hat{\boldsymbol \theta} ) ) ~+~ &#10; \log n  \cdot df({\bs \theta})&#10;$$&#10;&#10;\end{document}"/>
  <p:tag name="IGUANATEXSIZE" val="20"/>
  <p:tag name="IGUANATEXCURSOR" val="20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2129.734"/>
  <p:tag name="LATEXADDIN" val="\documentclass{article}&#10;\usepackage{amsmath}&#10;\usepackage[utf8]{inputenc}&#10;\usepackage{kotex}&#10;\pagestyle{empty}&#10;\newcommand\bs{\boldsymbol}&#10;\begin{document}&#10;&#10;$$&#10;p({\bs y}| {\bar M })  ~~\propto ~~  p({\bs y}| M({\hat {\bs \theta})}) \cdot \left( \frac{n}{2 \pi}\right)^{ - df({\bs \theta})/2}&#10;$$&#10;&#10;&#10;\end{document}"/>
  <p:tag name="IGUANATEXSIZE" val="28"/>
  <p:tag name="IGUANATEXCURSOR" val="2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94.4507"/>
  <p:tag name="LATEXADDIN" val="\documentclass{article}&#10;\usepackage{amsmath}&#10;\usepackage[utf8]{inputenc}&#10;\usepackage{kotex}&#10;\pagestyle{empty}&#10;\newcommand\bs{\boldsymbol}&#10;\begin{document}&#10;&#10;$$&#10;p({\bs \theta}|M ) $$&#10;&#10;&#10;\end{document}"/>
  <p:tag name="IGUANATEXSIZE" val="24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[utf8]{inputenc}&#10;\usepackage{kotex}&#10;\pagestyle{empty}&#10;\newcommand\bs{\boldsymbol}&#10;\begin{document}&#10;&#10;$$&#10;{\bs y}$$&#10;&#10;&#10;\end{document}"/>
  <p:tag name="IGUANATEXSIZE" val="28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79.49008"/>
  <p:tag name="LATEXADDIN" val="\documentclass{article}&#10;\usepackage{amsmath}&#10;\usepackage[utf8]{inputenc}&#10;\usepackage{kotex}&#10;\pagestyle{empty}&#10;\newcommand\bs{\boldsymbol}&#10;\begin{document}&#10;&#10;$$&#10;{\hat {\bs \mu}} $$&#10;&#10;&#10;\end{document}"/>
  <p:tag name="IGUANATEXSIZE" val="28"/>
  <p:tag name="IGUANATEXCURSOR" val="17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19.4226"/>
  <p:tag name="LATEXADDIN" val="\documentclass{article}&#10;\usepackage{amsmath}&#10;\usepackage[utf8]{inputenc}&#10;\usepackage{kotex}&#10;\pagestyle{empty}&#10;\newcommand\bs{\boldsymbol}&#10;\begin{document}&#10;&#10;$$&#10;\log n \cdot df({\bs \theta})$$&#10;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9.2201"/>
  <p:tag name="LATEXADDIN" val="\documentclass{article}&#10;\usepackage{amsmath}&#10;\usepackage[utf8]{inputenc}&#10;\usepackage{kotex}&#10;\pagestyle{empty}&#10;\newcommand\bs{\boldsymbol}&#10;\begin{document}&#10;&#10;$$&#10;p({\bs \mu}) $$&#10;&#10;&#10;\end{document}"/>
  <p:tag name="IGUANATEXSIZE" val="28"/>
  <p:tag name="IGUANATEXCURSOR" val="17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25.9843"/>
  <p:tag name="LATEXADDIN" val="\documentclass{article}&#10;\usepackage{amsmath}&#10;\usepackage[utf8]{inputenc}&#10;\usepackage{kotex}&#10;\pagestyle{empty}&#10;\newcommand\bs{\boldsymbol}&#10;\begin{document}&#10;&#10;$$&#10;{\bar M}&#10;$$&#10;&#10;&#10;\end{document}"/>
  <p:tag name="IGUANATEXSIZE" val="20"/>
  <p:tag name="IGUANATEXCURSOR" val="16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178.478"/>
  <p:tag name="LATEXADDIN" val="\documentclass{article}&#10;\usepackage{amsmath}&#10;\pagestyle{empty}&#10;\begin{document}&#10;&#10;&#10;$$&#10;\mbox{AIC}(M) ~=~  -2 \, \log \, p(D| \hat{\boldsymbol \theta}) + 2 \cdot df(M)&#10;$$&#10;&#10;\end{document}"/>
  <p:tag name="IGUANATEXSIZE" val="20"/>
  <p:tag name="IGUANATEXCURSOR" val="9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443.195"/>
  <p:tag name="LATEXADDIN" val="\documentclass{article}&#10;\usepackage{amsmath}&#10;\pagestyle{empty}&#10;\begin{document}&#10;&#10;&#10;$$&#10;\mbox{BIC}(M) ~=~  -2 \, \log \, p(D| \hat{\boldsymbol \theta}) +  \log(n)\cdot df(M) $$&#10;&#10;\end{document}"/>
  <p:tag name="IGUANATEXSIZE" val="20"/>
  <p:tag name="IGUANATEXCURSOR" val="9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751.406"/>
  <p:tag name="LATEXADDIN" val="\documentclass{article}&#10;\usepackage{amsmath}&#10;\pagestyle{empty}&#10;\begin{document}&#10;&#10;&#10;$$&#10;\mbox{HQ}(M) ~=~  -2 \, \log \, p(D| \hat{\boldsymbol \theta}) + 2 \log(\log(n)) \cdot df(M)&#10;$$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00.1875"/>
  <p:tag name="LATEXADDIN" val="\documentclass{article}&#10;\usepackage{amsmath}&#10;\pagestyle{empty}&#10;\begin{document}&#10;&#10;&#10;&#10;$$M_0 \subset M_1$$&#10;&#10;\end{document}"/>
  <p:tag name="IGUANATEXSIZE" val="20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915.6355"/>
  <p:tag name="LATEXADDIN" val="\documentclass{article}&#10;\usepackage{amsmath}&#10;\pagestyle{empty}&#10;\begin{document}&#10;&#10;&#10;$$&#10;M_0 : ~~ y = \beta_0 + \epsilon&#10;$$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1321.335"/>
  <p:tag name="LATEXADDIN" val="\documentclass{article}&#10;\usepackage{amsmath}&#10;\pagestyle{empty}&#10;\begin{document}&#10;&#10;&#10;$$&#10;M_1 : ~~ y = \beta_0 + \beta_1 x_1 +\epsilon&#10;$$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726.284"/>
  <p:tag name="LATEXADDIN" val="\documentclass{article}&#10;\usepackage{amsmath}&#10;\pagestyle{empty}&#10;\begin{document}&#10;&#10;&#10;$$&#10;F = \frac{(SSE(M_0) - SSE(M_1))/1}{SSE(M_1)/(n-2)}&#10;$$&#10;&#10;\end{document}"/>
  <p:tag name="IGUANATEXSIZE" val="18"/>
  <p:tag name="IGUANATEXCURSOR" val="12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00.1875"/>
  <p:tag name="LATEXADDIN" val="\documentclass{article}&#10;\usepackage{amsmath}&#10;\pagestyle{empty}&#10;\begin{document}&#10;&#10;&#10;&#10;$$M_0 \subset M_1$$&#10;&#10;\end{document}"/>
  <p:tag name="IGUANATEXSIZE" val="20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915.6355"/>
  <p:tag name="LATEXADDIN" val="\documentclass{article}&#10;\usepackage{amsmath}&#10;\pagestyle{empty}&#10;\begin{document}&#10;&#10;&#10;$$&#10;M_0 : ~~ y = \beta_0 + \epsilon&#10;$$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1321.335"/>
  <p:tag name="LATEXADDIN" val="\documentclass{article}&#10;\usepackage{amsmath}&#10;\pagestyle{empty}&#10;\begin{document}&#10;&#10;&#10;$$&#10;M_1 : ~~ y = \beta_0 + \beta_1 x_1 +\epsilon&#10;$$&#10;&#10;\end{document}"/>
  <p:tag name="IGUANATEXSIZE" val="20"/>
  <p:tag name="IGUANATEXCURSOR" val="1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134.9832"/>
  <p:tag name="LATEXADDIN" val="\documentclass{article}&#10;\usepackage{amsmath}&#10;\pagestyle{empty}&#10;\begin{document}&#10;&#10;&#10;$$&#10;R^2 $$&#10;&#10;\end{document}"/>
  <p:tag name="IGUANATEXSIZE" val="32"/>
  <p:tag name="IGUANATEXCURSOR" val="8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655.793"/>
  <p:tag name="LATEXADDIN" val="\documentclass{article}&#10;\usepackage{amsmath}&#10;\pagestyle{empty}&#10;\begin{document}&#10;&#10;&#10;$$&#10;R^2 = \frac{(SSE(M_0) - SSE(M_1))}{SSE(M_0)}&#10;$$&#10;&#10;\end{document}"/>
  <p:tag name="IGUANATEXSIZE" val="18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134.9832"/>
  <p:tag name="LATEXADDIN" val="\documentclass{article}&#10;\usepackage{amsmath}&#10;\pagestyle{empty}&#10;\begin{document}&#10;&#10;&#10;$$&#10;R^2 $$&#10;&#10;\end{document}"/>
  <p:tag name="IGUANATEXSIZE" val="20"/>
  <p:tag name="IGUANATEXCURSOR" val="8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1747.282"/>
  <p:tag name="LATEXADDIN" val="\documentclass{article}&#10;\usepackage{amsmath}&#10;\pagestyle{empty}&#10;\begin{document}&#10;&#10;&#10;&#10;$$F   ~~\prec ~~  BIC ~~\prec~~   AIC ~~\prec~~  R^2 $$&#10;&#10;\end{document}"/>
  <p:tag name="IGUANATEXSIZE" val="28"/>
  <p:tag name="IGUANATEXCURSOR" val="1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.98764"/>
  <p:tag name="ORIGINALWIDTH" val="535.433"/>
  <p:tag name="LATEXADDIN" val="\documentclass{article}&#10;\usepackage{amsmath}&#10;\usepackage[utf8]{inputenc}&#10;\usepackage{kotex}&#10;\pagestyle{empty}&#10;\newcommand\bs{\boldsymbol}&#10;\begin{document}&#10;&#10;$$&#10;{\bs y} = {\bs \mu} +{\bs \epsilon}&#10;$$&#10;&#10;&#10;\end{document}"/>
  <p:tag name="IGUANATEXSIZE" val="28"/>
  <p:tag name="IGUANATEXCURSOR" val="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680.165"/>
  <p:tag name="LATEXADDIN" val="\documentclass{article}&#10;\usepackage{amsmath}&#10;\usepackage[utf8]{inputenc}&#10;\usepackage{kotex}&#10;\pagestyle{empty}&#10;\newcommand\bs{\boldsymbol}&#10;\begin{document}&#10;&#10;$$&#10;{\hat {\bs y}} = {\hat {\bs \mu}} = H  {\bs y}&#10;$$&#10;&#10;&#10;\end{document}"/>
  <p:tag name="IGUANATEXSIZE" val="28"/>
  <p:tag name="IGUANATEXCURSOR" val="1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707.536"/>
  <p:tag name="LATEXADDIN" val="\documentclass{article}&#10;\usepackage{amsmath}&#10;\usepackage[utf8]{inputenc}&#10;\usepackage{kotex}&#10;\pagestyle{empty}&#10;\newcommand\bs{\boldsymbol}&#10;\begin{document}&#10;&#10;$$&#10;{\bs y} - {\hat {\bs y}} ~ = ~ {\bs y} - H {\bs y} &#10;~ = ~ (I-H) {\bs \epsilon} &#10;$$&#10;&#10;&#10;\end{document}"/>
  <p:tag name="IGUANATEXSIZE" val="28"/>
  <p:tag name="IGUANATEXCURSOR" val="2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927.259"/>
  <p:tag name="LATEXADDIN" val="\documentclass{article}&#10;\usepackage{amsmath}&#10;\usepackage[utf8]{inputenc}&#10;\usepackage{kotex}&#10;\pagestyle{empty}&#10;\newcommand\bs{\boldsymbol}&#10;\begin{document}&#10;&#10;$$&#10;\| (I-H) {\bs \epsilon} \|^2 ~~\sim ~&#10;~\sigma^2 \cdot \chi^2 (n-p-1) &#10;$$&#10;&#10;&#10;\end{document}"/>
  <p:tag name="IGUANATEXSIZE" val="28"/>
  <p:tag name="IGUANATEXCURSOR" val="2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1179.603"/>
  <p:tag name="LATEXADDIN" val="\documentclass{article}&#10;\usepackage{amsmath}&#10;\usepackage[utf8]{inputenc}&#10;\usepackage{kotex}&#10;\pagestyle{empty}&#10;\newcommand\bs{\boldsymbol}&#10;\begin{document}&#10;&#10;$$&#10;{\bs \epsilon} ~~~\sim ~~~ N_{n} &#10;\left( {\bs 0}, ~\sigma^2 \, I \,\, &#10;\right) &#10;$$&#10;&#10;&#10;\end{document}"/>
  <p:tag name="IGUANATEXSIZE" val="28"/>
  <p:tag name="IGUANATEXCURSOR" val="22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1963.255"/>
  <p:tag name="LATEXADDIN" val="\documentclass{article}&#10;\usepackage{amsmath}&#10;\usepackage[utf8]{inputenc}&#10;\usepackage{kotex}&#10;\pagestyle{empty}&#10;\newcommand\bs{\boldsymbol}&#10;\begin{document}&#10;&#10;$$&#10;(I-H) {\bs \epsilon} ~~~\sim ~~~ N_{n} &#10;\left( {\bs 0}, ~\sigma^2 \, (I-H) \,\, &#10;\right) &#10;$$&#10;&#10;&#10;\end{document}"/>
  <p:tag name="IGUANATEXSIZE" val="28"/>
  <p:tag name="IGUANATEXCURSOR" val="2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2000"/>
  <p:tag name="LATEXADDIN" val="\documentclass{article}&#10;\usepackage{amsmath}&#10;\usepackage[utf8]{inputenc}&#10;\usepackage{kotex}&#10;\pagestyle{empty}&#10;\newcommand\bs{\boldsymbol}&#10;\begin{document}&#10;&#10;$$&#10;E \left\{ \| (I-H) {\bs \epsilon} \|^2 \right \} ~~= ~&#10;~\sigma^2 (n-p-1) &#10;$$&#10;&#10;&#10;\end{document}"/>
  <p:tag name="IGUANATEXSIZE" val="28"/>
  <p:tag name="IGUANATEXCURSOR" val="2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.98764"/>
  <p:tag name="ORIGINALWIDTH" val="535.433"/>
  <p:tag name="LATEXADDIN" val="\documentclass{article}&#10;\usepackage{amsmath}&#10;\usepackage[utf8]{inputenc}&#10;\usepackage{kotex}&#10;\pagestyle{empty}&#10;\newcommand\bs{\boldsymbol}&#10;\begin{document}&#10;&#10;$$&#10;{\bs y} = {\bs \mu} +{\bs \epsilon}&#10;$$&#10;&#10;&#10;\end{document}"/>
  <p:tag name="IGUANATEXSIZE" val="28"/>
  <p:tag name="IGUANATEXCURSOR" val="9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.4852"/>
  <p:tag name="ORIGINALWIDTH" val="641.9197"/>
  <p:tag name="LATEXADDIN" val="\documentclass{article}&#10;\usepackage{amsmath}&#10;\usepackage[utf8]{inputenc}&#10;\usepackage{kotex}&#10;\pagestyle{empty}&#10;\newcommand\bs{\boldsymbol}&#10;\begin{document}&#10;&#10;$$&#10;{\bs y}^* = {\bs \mu} +{\bs \epsilon}^*&#10;$$&#10;&#10;&#10;\end{document}"/>
  <p:tag name="IGUANATEXSIZE" val="28"/>
  <p:tag name="IGUANATEXCURSOR" val="1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9857"/>
  <p:tag name="ORIGINALWIDTH" val="680.165"/>
  <p:tag name="LATEXADDIN" val="\documentclass{article}&#10;\usepackage{amsmath}&#10;\usepackage[utf8]{inputenc}&#10;\usepackage{kotex}&#10;\pagestyle{empty}&#10;\newcommand\bs{\boldsymbol}&#10;\begin{document}&#10;&#10;$$&#10;{\hat {\bs y}} = {\hat {\bs \mu}} = H  {\bs y}&#10;$$&#10;&#10;&#10;\end{document}"/>
  <p:tag name="IGUANATEXSIZE" val="28"/>
  <p:tag name="IGUANATEXCURSOR" val="19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.7353"/>
  <p:tag name="ORIGINALWIDTH" val="2201.725"/>
  <p:tag name="LATEXADDIN" val="\documentclass{article}&#10;\usepackage{amsmath}&#10;\usepackage[utf8]{inputenc}&#10;\usepackage{kotex}&#10;\pagestyle{empty}&#10;\newcommand\bs{\boldsymbol}&#10;\begin{document}&#10;&#10;$$&#10;{\bs y}^* - {\hat {\bs y}} ~ = ~ {\bs y} -{\bs \epsilon}  +{\bs \epsilon}^* - H {\bs y} &#10;~ = ~ {\bs \epsilon}^* - H {\bs \epsilon} &#10;$$&#10;&#10;&#10;\end{document}"/>
  <p:tag name="IGUANATEXSIZE" val="28"/>
  <p:tag name="IGUANATEXCURSOR" val="2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863.517"/>
  <p:tag name="LATEXADDIN" val="\documentclass{article}&#10;\usepackage{amsmath}&#10;\usepackage[utf8]{inputenc}&#10;\usepackage{kotex}&#10;\pagestyle{empty}&#10;\newcommand\bs{\boldsymbol}&#10;\begin{document}&#10;&#10;$$&#10;\begin{pmatrix} {\bs \epsilon}^* \\ {\bs \epsilon}\end{pmatrix} ~~~\sim ~~~ N_{2n} &#10;\left( {\bs 0}, ~\sigma^2 \begin{pmatrix} I &amp; 0\\ 0 &amp; I\end{pmatrix}&#10;\right) &#10;$$&#10;&#10;&#10;\end{document}"/>
  <p:tag name="IGUANATEXSIZE" val="28"/>
  <p:tag name="IGUANATEXCURSOR" val="26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881.89"/>
  <p:tag name="LATEXADDIN" val="\documentclass{article}&#10;\usepackage{amsmath}&#10;\usepackage[utf8]{inputenc}&#10;\usepackage{kotex}&#10;\pagestyle{empty}&#10;\newcommand\bs{\boldsymbol}&#10;\begin{document}&#10;&#10;$$&#10;{\bs \epsilon}^* - H {\bs \epsilon}~=~(I, - H) \begin{pmatrix} {\bs \epsilon}^* \\ {\bs \epsilon}\end{pmatrix} ~~~\sim ~~~ N_n &#10;\left( {\bs 0}, ~\sigma^2 (I+H) \right) &#10;$$&#10;&#10;&#10;\end{document}"/>
  <p:tag name="IGUANATEXSIZE" val="28"/>
  <p:tag name="IGUANATEXCURSOR" val="31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2257.218"/>
  <p:tag name="LATEXADDIN" val="\documentclass{article}&#10;\usepackage{amsmath}&#10;\usepackage[utf8]{inputenc}&#10;\usepackage{kotex}&#10;\pagestyle{empty}&#10;\newcommand\bs{\boldsymbol}&#10;\begin{document}&#10;&#10;$$&#10;\| {\bs \epsilon}^* - H {\bs \epsilon} \|^2 ~~\sim ~&#10;~\sigma^2 \cdot  \left \{ \chi^2 (n) +  \chi^2 (p+1) &#10;\right \}&#10;$$&#10;&#10;&#10;\end{document}"/>
  <p:tag name="IGUANATEXSIZE" val="28"/>
  <p:tag name="IGUANATEXCURSOR" val="2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.9809"/>
  <p:tag name="ORIGINALWIDTH" val="1956.505"/>
  <p:tag name="LATEXADDIN" val="\documentclass{article}&#10;\usepackage{amsmath}&#10;\usepackage[utf8]{inputenc}&#10;\usepackage{kotex}&#10;\pagestyle{empty}&#10;\newcommand\bs{\boldsymbol}&#10;\begin{document}&#10;&#10;$$&#10;E \left\{ \| {\bs \epsilon}^* - H {\bs \epsilon} \|^2 \right \} ~~= ~&#10;~\sigma^2 (n+p+1) &#10;$$&#10;&#10;&#10;\end{document}"/>
  <p:tag name="IGUANATEXSIZE" val="28"/>
  <p:tag name="IGUANATEXCURSOR" val="2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3111.361"/>
  <p:tag name="LATEXADDIN" val="\documentclass{article}&#10;\usepackage{amsmath}&#10;\usepackage[utf8]{inputenc}&#10;\usepackage{kotex}&#10;\pagestyle{empty}&#10;\newcommand\bs{\boldsymbol}&#10;\begin{document}&#10;&#10;$$&#10;f({\bs y}; {\bar M} )&#10;~ \approx&#10;~ f({\bs y}; M({\hat {\bs \theta}})) \cdot&#10;\exp \left\{ -\frac1{2}({\bs \theta}-{\hat{\bs \theta}})' n \, I({\bs \theta}) ({\bs \theta}-{\hat{\bs \theta}}) \right\} &#10;$$&#10;&#10;&#10;\end{document}"/>
  <p:tag name="IGUANATEXSIZE" val="20"/>
  <p:tag name="IGUANATEXCURSOR" val="17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1078.365"/>
  <p:tag name="LATEXADDIN" val="\documentclass{article}&#10;\usepackage{amsmath}&#10;\usepackage[utf8]{inputenc}&#10;\usepackage{kotex}&#10;\pagestyle{empty}&#10;\newcommand\bs{\boldsymbol}&#10;\begin{document}&#10;&#10;$$&#10;\frac{\partial}{\partial {\bs \theta}}  f({\bs y}; M({\hat {\bs \theta}})) ~=~ 0&#10;$$&#10;&#10;&#10;\end{document}"/>
  <p:tag name="IGUANATEXSIZE" val="20"/>
  <p:tag name="IGUANATEXCURSOR" val="19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1745.782"/>
  <p:tag name="LATEXADDIN" val="\documentclass{article}&#10;\usepackage{amsmath}&#10;\usepackage[utf8]{inputenc}&#10;\usepackage{kotex}&#10;\pagestyle{empty}&#10;\newcommand\bs{\boldsymbol}&#10;\begin{document}&#10;&#10;that is,&#10;${\hat{\bs \theta}}$  &#10; maximizes &#10;$f({\bs y}; M({\hat {\bs \theta}}))$&#10;&#10;&#10;\end{document}"/>
  <p:tag name="IGUANATEXSIZE" val="20"/>
  <p:tag name="IGUANATEXCURSOR" val="23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3467.567"/>
  <p:tag name="LATEXADDIN" val="\documentclass{article}&#10;\usepackage{amsmath}&#10;\usepackage[utf8]{inputenc}&#10;\usepackage{kotex}&#10;\pagestyle{empty}&#10;\newcommand\bs{\boldsymbol}&#10;\begin{document}&#10;&#10;$$&#10;f({\bs y}; {\bar M})&#10;~ \approx&#10;~ f({\bs y}; M({\hat {\bs \theta}})) \cdot \int&#10;\exp \left\{ -\frac1{2}({\bs \theta}-{\hat{\bs \theta}})' n \, I({\bs \theta}) ({\bs \theta}-{\hat{\bs \theta}}) \right\} \, d \, {\bs \theta}&#10;$$&#10;&#10;&#10;\end{document}"/>
  <p:tag name="IGUANATEXSIZE" val="20"/>
  <p:tag name="IGUANATEXCURSOR" val="17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9557"/>
  <p:tag name="ORIGINALWIDTH" val="2170.229"/>
  <p:tag name="LATEXADDIN" val="\documentclass{article}&#10;\usepackage{amsmath}&#10;\usepackage[utf8]{inputenc}&#10;\usepackage{kotex}&#10;\pagestyle{empty}&#10;\newcommand\bs{\boldsymbol}&#10;\begin{document}&#10;&#10;$$&#10;f({\bs y}; {\bar M})&#10;~ \propto&#10;~ f({\bs y}; M({\hat {\bs \theta}})) \cdot &#10;\left( \frac{2 \pi}{n}\right)^{\mbox{dim}({\bs \theta})/2}&#10;$$&#10;&#10;&#10;\end{document}"/>
  <p:tag name="IGUANATEXSIZE" val="20"/>
  <p:tag name="IGUANATEXCURSOR" val="17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3632.546"/>
  <p:tag name="LATEXADDIN" val="\documentclass{article}&#10;\usepackage{amsmath}&#10;\usepackage[utf8]{inputenc}&#10;\usepackage{kotex}&#10;\pagestyle{empty}&#10;\newcommand\bs{\boldsymbol}&#10;\begin{document}&#10;&#10;$$&#10;-2 \, \log f({\bs y}; {\bar M})&#10;~ =&#10;~ -2 \, \log f({\bs y}; M({\hat {\bs \theta}})) ~+~  \log n \, \cdot \mbox{dim}({\bs \theta}) ~+~ const&#10;$$&#10;&#10;&#10;\end{document}"/>
  <p:tag name="IGUANATEXSIZE" val="20"/>
  <p:tag name="IGUANATEXCURSOR" val="18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542.932"/>
  <p:tag name="LATEXADDIN" val="\documentclass{article}&#10;\usepackage{amsmath}&#10;\usepackage[utf8]{inputenc}&#10;\usepackage{kotex}&#10;\pagestyle{empty}&#10;\newcommand\bs{\boldsymbol}&#10;\begin{document}&#10;&#10;$$&#10;BIC&#10;~ =&#10;~ -2 \, \log f({\bs y}; M({\hat {\bs \theta}})) ~+~  \log n \, \cdot \mbox{dim}({\bs \theta})&#10;$$&#10;&#10;&#10;\end{document}"/>
  <p:tag name="IGUANATEXSIZE" val="20"/>
  <p:tag name="IGUANATEXCURSOR" val="16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1761.53"/>
  <p:tag name="LATEXADDIN" val="\documentclass{article}&#10;\usepackage{amsmath}&#10;\usepackage[utf8]{inputenc}&#10;\usepackage{kotex}&#10;\pagestyle{empty}&#10;\newcommand\bs{\boldsymbol}&#10;\begin{document}&#10;&#10;$$&#10;f({\bs y}; {\bar M} )  = \int f({\bs y}; M({\bs \theta})) p({\bs \theta}) \, d \, {\bs \theta}&#10;$$&#10;&#10;&#10;\end{document}"/>
  <p:tag name="IGUANATEXSIZE" val="28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55.943"/>
  <p:tag name="LATEXADDIN" val="\documentclass{article}&#10;\usepackage{amsmath}&#10;\usepackage[utf8]{inputenc}&#10;\usepackage{kotex}&#10;\pagestyle{empty}&#10;\newcommand\bs{\boldsymbol}&#10;\begin{document}&#10;&#10;$$&#10;p({\bs \theta}) = 1&#10;$$&#10;&#10;&#10;\end{document}"/>
  <p:tag name="IGUANATEXSIZE" val="18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24757</TotalTime>
  <Words>396</Words>
  <Application>Microsoft Office PowerPoint</Application>
  <PresentationFormat>화면 슬라이드 쇼(4:3)</PresentationFormat>
  <Paragraphs>83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굴림</vt:lpstr>
      <vt:lpstr>맑은 고딕</vt:lpstr>
      <vt:lpstr>Arial</vt:lpstr>
      <vt:lpstr>Book Antiqua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YD Lee</dc:creator>
  <cp:lastModifiedBy>YLee</cp:lastModifiedBy>
  <cp:revision>486</cp:revision>
  <dcterms:created xsi:type="dcterms:W3CDTF">2016-08-03T06:26:54Z</dcterms:created>
  <dcterms:modified xsi:type="dcterms:W3CDTF">2024-10-31T01:42:25Z</dcterms:modified>
</cp:coreProperties>
</file>