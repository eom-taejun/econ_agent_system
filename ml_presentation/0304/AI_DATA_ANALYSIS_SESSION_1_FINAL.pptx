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F5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283593"/>
                </a:solidFill>
                <a:latin typeface="Arial"/>
              </a:defRPr>
            </a:pPr>
            <a:r>
              <a:t>강의 개요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2286000"/>
            <a:ext cx="85313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1E1E1E"/>
                </a:solidFill>
                <a:latin typeface="Arial"/>
              </a:defRPr>
            </a:pPr>
            <a:r>
              <a:t>• 학회: Parrot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3383280"/>
            <a:ext cx="85313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1E1E1E"/>
                </a:solidFill>
                <a:latin typeface="Arial"/>
              </a:defRPr>
            </a:pPr>
            <a:r>
              <a:t>• 강의 주제: 머신러닝의 철학과 손실 함수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4480560"/>
            <a:ext cx="85313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1E1E1E"/>
                </a:solidFill>
                <a:latin typeface="Arial"/>
              </a:defRPr>
            </a:pPr>
            <a:r>
              <a:t>• 강의자: 엄태준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F5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283593"/>
                </a:solidFill>
                <a:latin typeface="Arial"/>
              </a:defRPr>
            </a:pPr>
            <a:r>
              <a:t>상관관계 ≠ 인과관계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645920"/>
            <a:ext cx="5303520" cy="4114800"/>
          </a:xfrm>
          <a:prstGeom prst="rect">
            <a:avLst/>
          </a:prstGeom>
          <a:solidFill>
            <a:srgbClr val="F0F0F0"/>
          </a:solidFill>
          <a:ln w="12700">
            <a:solidFill>
              <a:srgbClr val="03A9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4937760" cy="3749039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200" i="1">
                <a:solidFill>
                  <a:srgbClr val="646464"/>
                </a:solidFill>
              </a:defRPr>
            </a:pPr>
            <a:r>
              <a:t>[VISUAL GUIDE]</a:t>
            </a:r>
            <a:br/>
            <a:r>
              <a:t>추후 관련 이미지 또는 그래프 삽입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164592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232323"/>
                </a:solidFill>
                <a:latin typeface="Arial"/>
              </a:defRPr>
            </a:pPr>
            <a:r>
              <a:t>• 상관관계: 두 변수가 함께 움직이는 통계적 경향성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356616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232323"/>
                </a:solidFill>
                <a:latin typeface="Arial"/>
              </a:defRPr>
            </a:pPr>
            <a:r>
              <a:t>• 인과관계: 한 변수의 변화가 결과의 직접적 원인이 되는 관계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548640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232323"/>
                </a:solidFill>
                <a:latin typeface="Arial"/>
              </a:defRPr>
            </a:pPr>
            <a:r>
              <a:t>• 식별 문제: 기전 없는 상관성을 인과로 오판하는 위험성 경계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F5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283593"/>
                </a:solidFill>
                <a:latin typeface="Arial"/>
              </a:defRPr>
            </a:pPr>
            <a:r>
              <a:t>데이터 분석의 과학적 프로세스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645920"/>
            <a:ext cx="5303520" cy="4114800"/>
          </a:xfrm>
          <a:prstGeom prst="rect">
            <a:avLst/>
          </a:prstGeom>
          <a:solidFill>
            <a:srgbClr val="F0F0F0"/>
          </a:solidFill>
          <a:ln w="12700">
            <a:solidFill>
              <a:srgbClr val="03A9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4937760" cy="3749039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200" i="1">
                <a:solidFill>
                  <a:srgbClr val="646464"/>
                </a:solidFill>
              </a:defRPr>
            </a:pPr>
            <a:r>
              <a:t>[VISUAL GUIDE]</a:t>
            </a:r>
            <a:br/>
            <a:r>
              <a:t>추후 관련 이미지 또는 그래프 삽입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164592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232323"/>
                </a:solidFill>
                <a:latin typeface="Arial"/>
              </a:defRPr>
            </a:pPr>
            <a:r>
              <a:t>• 단계: 현상 관찰 → 가설 설정 → 실험 설계 → 데이터 분석 → 인과 규명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356616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232323"/>
                </a:solidFill>
                <a:latin typeface="Arial"/>
              </a:defRPr>
            </a:pPr>
            <a:r>
              <a:t>• 핵심: 상관성을 논리적·수학적 과정을 통해 인과성으로 좁혀가는 여정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548640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232323"/>
                </a:solidFill>
                <a:latin typeface="Arial"/>
              </a:defRPr>
            </a:pPr>
            <a:r>
              <a:t>• 가치: 데이터 표면의 노이즈를 걷어내고 본질적 패턴을 발견하는 과정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F5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283593"/>
                </a:solidFill>
                <a:latin typeface="Arial"/>
              </a:defRPr>
            </a:pPr>
            <a:r>
              <a:t>실험적 검증의 당위성: A/B Test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645920"/>
            <a:ext cx="5303520" cy="4114800"/>
          </a:xfrm>
          <a:prstGeom prst="rect">
            <a:avLst/>
          </a:prstGeom>
          <a:solidFill>
            <a:srgbClr val="F0F0F0"/>
          </a:solidFill>
          <a:ln w="12700">
            <a:solidFill>
              <a:srgbClr val="03A9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4937760" cy="3749039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200" i="1">
                <a:solidFill>
                  <a:srgbClr val="646464"/>
                </a:solidFill>
              </a:defRPr>
            </a:pPr>
            <a:r>
              <a:t>[VISUAL GUIDE]</a:t>
            </a:r>
            <a:br/>
            <a:r>
              <a:t>추후 관련 이미지 또는 그래프 삽입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164592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232323"/>
                </a:solidFill>
                <a:latin typeface="Arial"/>
              </a:defRPr>
            </a:pPr>
            <a:r>
              <a:t>• 원리: 실험군과 대조군의 무작위 배정을 통한 처리 효과 산출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356616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232323"/>
                </a:solidFill>
                <a:latin typeface="Arial"/>
              </a:defRPr>
            </a:pPr>
            <a:r>
              <a:t>• 특징: 변수 간의 외생성 확보를 통해 인과관계를 통계적으로 증명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548640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232323"/>
                </a:solidFill>
                <a:latin typeface="Arial"/>
              </a:defRPr>
            </a:pPr>
            <a:r>
              <a:t>• Why: 기전을 완벽히 몰라도 엄밀한 실험적 증거가 반복되면 인과로 인정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F5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283593"/>
                </a:solidFill>
                <a:latin typeface="Arial"/>
              </a:defRPr>
            </a:pPr>
            <a:r>
              <a:t>분석의 궁극적 지향점: 예측과 설득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645920"/>
            <a:ext cx="5303520" cy="4114800"/>
          </a:xfrm>
          <a:prstGeom prst="rect">
            <a:avLst/>
          </a:prstGeom>
          <a:solidFill>
            <a:srgbClr val="F0F0F0"/>
          </a:solidFill>
          <a:ln w="12700">
            <a:solidFill>
              <a:srgbClr val="03A9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4937760" cy="3749039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200" i="1">
                <a:solidFill>
                  <a:srgbClr val="646464"/>
                </a:solidFill>
              </a:defRPr>
            </a:pPr>
            <a:r>
              <a:t>[VISUAL GUIDE]</a:t>
            </a:r>
            <a:br/>
            <a:r>
              <a:t>추후 관련 이미지 또는 그래프 삽입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164592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232323"/>
                </a:solidFill>
                <a:latin typeface="Arial"/>
              </a:defRPr>
            </a:pPr>
            <a:r>
              <a:t>• 예측: 보이지 않는 미래 데이터(y_T+1)를 수치로 가장 정확하게 타격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356616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232323"/>
                </a:solidFill>
                <a:latin typeface="Arial"/>
              </a:defRPr>
            </a:pPr>
            <a:r>
              <a:t>• 설득: 데이터 기반의 논리적 근거로 의사결정권자를 움직임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548640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232323"/>
                </a:solidFill>
                <a:latin typeface="Arial"/>
              </a:defRPr>
            </a:pPr>
            <a:r>
              <a:t>• 분석의 미학: 단순한 숫자 나열을 넘어 비즈니스 행동으로 바꾸는 트리거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F5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283593"/>
                </a:solidFill>
                <a:latin typeface="Arial"/>
              </a:defRPr>
            </a:pPr>
            <a:r>
              <a:t>기술의 역사: 고전 통계에서 에이전틱 AI까지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645920"/>
            <a:ext cx="5303520" cy="4114800"/>
          </a:xfrm>
          <a:prstGeom prst="rect">
            <a:avLst/>
          </a:prstGeom>
          <a:solidFill>
            <a:srgbClr val="F0F0F0"/>
          </a:solidFill>
          <a:ln w="12700">
            <a:solidFill>
              <a:srgbClr val="03A9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4937760" cy="3749039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200" i="1">
                <a:solidFill>
                  <a:srgbClr val="646464"/>
                </a:solidFill>
              </a:defRPr>
            </a:pPr>
            <a:r>
              <a:t>[VISUAL GUIDE]</a:t>
            </a:r>
            <a:br/>
            <a:r>
              <a:t>추후 관련 이미지 또는 그래프 삽입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164592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232323"/>
                </a:solidFill>
                <a:latin typeface="Arial"/>
              </a:defRPr>
            </a:pPr>
            <a:r>
              <a:t>• 과거: 엄밀한 수식 증명과 인과 규명 중심의 고전 통계학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356616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232323"/>
                </a:solidFill>
                <a:latin typeface="Arial"/>
              </a:defRPr>
            </a:pPr>
            <a:r>
              <a:t>• 현재: 압도적 연산량 기반의 예측 성능 중심 머신러닝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548640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232323"/>
                </a:solidFill>
                <a:latin typeface="Arial"/>
              </a:defRPr>
            </a:pPr>
            <a:r>
              <a:t>• 미래: 학습된 모델을 바탕으로 스스로 판단하고 행동하는 시스템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F5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283593"/>
                </a:solidFill>
                <a:latin typeface="Arial"/>
              </a:defRPr>
            </a:pPr>
            <a:r>
              <a:t>고전 통계학의 근본 철학: 모집단과 추론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645920"/>
            <a:ext cx="5303520" cy="4114800"/>
          </a:xfrm>
          <a:prstGeom prst="rect">
            <a:avLst/>
          </a:prstGeom>
          <a:solidFill>
            <a:srgbClr val="F0F0F0"/>
          </a:solidFill>
          <a:ln w="12700">
            <a:solidFill>
              <a:srgbClr val="03A9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4937760" cy="3749039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200" i="1">
                <a:solidFill>
                  <a:srgbClr val="646464"/>
                </a:solidFill>
              </a:defRPr>
            </a:pPr>
            <a:r>
              <a:t>[VISUAL GUIDE]</a:t>
            </a:r>
            <a:br/>
            <a:r>
              <a:t>추후 관련 이미지 또는 그래프 삽입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164592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232323"/>
                </a:solidFill>
                <a:latin typeface="Arial"/>
              </a:defRPr>
            </a:pPr>
            <a:r>
              <a:t>• 철학: 모집단이 데이터를 생성하는 근본적인 규칙 식별에 집착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356616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232323"/>
                </a:solidFill>
                <a:latin typeface="Arial"/>
              </a:defRPr>
            </a:pPr>
            <a:r>
              <a:t>• 방법: 샘플 데이터를 통해 모집단의 모수를 추정하고 가설 검정 수행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548640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232323"/>
                </a:solidFill>
                <a:latin typeface="Arial"/>
              </a:defRPr>
            </a:pPr>
            <a:r>
              <a:t>• 가치: 모델의 수식적 신뢰성과 추론의 엄밀함을 최우선으로 설정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F5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283593"/>
                </a:solidFill>
                <a:latin typeface="Arial"/>
              </a:defRPr>
            </a:pPr>
            <a:r>
              <a:t>선형회귀: 수식적 정의와 인과적 해석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645920"/>
            <a:ext cx="5303520" cy="4114800"/>
          </a:xfrm>
          <a:prstGeom prst="rect">
            <a:avLst/>
          </a:prstGeom>
          <a:solidFill>
            <a:srgbClr val="F0F0F0"/>
          </a:solidFill>
          <a:ln w="12700">
            <a:solidFill>
              <a:srgbClr val="03A9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4937760" cy="3749039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200" i="1">
                <a:solidFill>
                  <a:srgbClr val="646464"/>
                </a:solidFill>
              </a:defRPr>
            </a:pPr>
            <a:r>
              <a:t>[VISUAL GUIDE]</a:t>
            </a:r>
            <a:br/>
            <a:r>
              <a:t>추후 관련 이미지 또는 그래프 삽입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164592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232323"/>
                </a:solidFill>
                <a:latin typeface="Arial"/>
              </a:defRPr>
            </a:pPr>
            <a:r>
              <a:t>• 수식: y = Xb + e (종속변수 = 독립변수와 가중치의 결합 + 오차항)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356616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232323"/>
                </a:solidFill>
                <a:latin typeface="Arial"/>
              </a:defRPr>
            </a:pPr>
            <a:r>
              <a:t>• 해석: 독립변수의 단위 변화가 종속변수에 미치는 한계 반응 측정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548640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232323"/>
                </a:solidFill>
                <a:latin typeface="Arial"/>
              </a:defRPr>
            </a:pPr>
            <a:r>
              <a:t>• Why: 가장 강력한 해석력을 제공하며 모든 현대 ML의 기초가 됨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F5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283593"/>
                </a:solidFill>
                <a:latin typeface="Arial"/>
              </a:defRPr>
            </a:pPr>
            <a:r>
              <a:t>통계적 한계 (1): 다중공선성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645920"/>
            <a:ext cx="5303520" cy="4114800"/>
          </a:xfrm>
          <a:prstGeom prst="rect">
            <a:avLst/>
          </a:prstGeom>
          <a:solidFill>
            <a:srgbClr val="F0F0F0"/>
          </a:solidFill>
          <a:ln w="12700">
            <a:solidFill>
              <a:srgbClr val="03A9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4937760" cy="3749039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200" i="1">
                <a:solidFill>
                  <a:srgbClr val="646464"/>
                </a:solidFill>
              </a:defRPr>
            </a:pPr>
            <a:r>
              <a:t>[VISUAL GUIDE]</a:t>
            </a:r>
            <a:br/>
            <a:r>
              <a:t>추후 관련 이미지 또는 그래프 삽입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164592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232323"/>
                </a:solidFill>
                <a:latin typeface="Arial"/>
              </a:defRPr>
            </a:pPr>
            <a:r>
              <a:t>• 현상: 독립변수 간 강한 선형 상관관계가 존재하여 개별 영향력 식별 불가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356616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232323"/>
                </a:solidFill>
                <a:latin typeface="Arial"/>
              </a:defRPr>
            </a:pPr>
            <a:r>
              <a:t>• 수식 오류: 행렬(X'X)의 역행렬 존재 조건 위반으로 인한 회귀 계수의 분산 폭주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548640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232323"/>
                </a:solidFill>
                <a:latin typeface="Arial"/>
              </a:defRPr>
            </a:pPr>
            <a:r>
              <a:t>• 결과: 어떤 변수가 진짜 인과적 기여를 하는지 수치적으로 판단 불가능한 상태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F5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283593"/>
                </a:solidFill>
                <a:latin typeface="Arial"/>
              </a:defRPr>
            </a:pPr>
            <a:r>
              <a:t>통계적 한계 (2): 차원의 저주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645920"/>
            <a:ext cx="5303520" cy="4114800"/>
          </a:xfrm>
          <a:prstGeom prst="rect">
            <a:avLst/>
          </a:prstGeom>
          <a:solidFill>
            <a:srgbClr val="F0F0F0"/>
          </a:solidFill>
          <a:ln w="12700">
            <a:solidFill>
              <a:srgbClr val="03A9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4937760" cy="3749039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200" i="1">
                <a:solidFill>
                  <a:srgbClr val="646464"/>
                </a:solidFill>
              </a:defRPr>
            </a:pPr>
            <a:r>
              <a:t>[VISUAL GUIDE]</a:t>
            </a:r>
            <a:br/>
            <a:r>
              <a:t>추후 관련 이미지 또는 그래프 삽입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164592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232323"/>
                </a:solidFill>
                <a:latin typeface="Arial"/>
              </a:defRPr>
            </a:pPr>
            <a:r>
              <a:t>• 현상: 변수(차원)가 증가함에 따라 데이터 밀도가 지수적으로 감소하는 현상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356616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232323"/>
                </a:solidFill>
                <a:latin typeface="Arial"/>
              </a:defRPr>
            </a:pPr>
            <a:r>
              <a:t>• 영향: 샘플 간 거리가 멀어지는 데이터 희소성 발생으로 패턴 학습 무력화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548640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232323"/>
                </a:solidFill>
                <a:latin typeface="Arial"/>
              </a:defRPr>
            </a:pPr>
            <a:r>
              <a:t>• 한계: 고차원 대용량 데이터 환경에서 고전적 추정 방식의 성능이 급감하는 이유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F5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283593"/>
                </a:solidFill>
                <a:latin typeface="Arial"/>
              </a:defRPr>
            </a:pPr>
            <a:r>
              <a:t>시대적 전환: 머신러닝의 탄생 배경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645920"/>
            <a:ext cx="5303520" cy="4114800"/>
          </a:xfrm>
          <a:prstGeom prst="rect">
            <a:avLst/>
          </a:prstGeom>
          <a:solidFill>
            <a:srgbClr val="F0F0F0"/>
          </a:solidFill>
          <a:ln w="12700">
            <a:solidFill>
              <a:srgbClr val="03A9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4937760" cy="3749039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200" i="1">
                <a:solidFill>
                  <a:srgbClr val="646464"/>
                </a:solidFill>
              </a:defRPr>
            </a:pPr>
            <a:r>
              <a:t>[VISUAL GUIDE]</a:t>
            </a:r>
            <a:br/>
            <a:r>
              <a:t>추후 관련 이미지 또는 그래프 삽입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164592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232323"/>
                </a:solidFill>
                <a:latin typeface="Arial"/>
              </a:defRPr>
            </a:pPr>
            <a:r>
              <a:t>• 데이터: 인터넷 및 센서 보급에 따른 비정형·고차원 데이터의 폭발적 증가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356616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232323"/>
                </a:solidFill>
                <a:latin typeface="Arial"/>
              </a:defRPr>
            </a:pPr>
            <a:r>
              <a:t>• 컴퓨팅: GPU 기반 대규모 병렬 연산 및 분산 처리 기술의 비약적 발전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548640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232323"/>
                </a:solidFill>
                <a:latin typeface="Arial"/>
              </a:defRPr>
            </a:pPr>
            <a:r>
              <a:t>• 필요성: 사람이 직접 규칙을 짜는 방식의 한계를 넘는 데이터 기반 자동화 요구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F5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283593"/>
                </a:solidFill>
                <a:latin typeface="Arial"/>
              </a:defRPr>
            </a:pPr>
            <a:r>
              <a:t>머신러닝 패러다임: 예측 정확도의 극대화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645920"/>
            <a:ext cx="5303520" cy="4114800"/>
          </a:xfrm>
          <a:prstGeom prst="rect">
            <a:avLst/>
          </a:prstGeom>
          <a:solidFill>
            <a:srgbClr val="F0F0F0"/>
          </a:solidFill>
          <a:ln w="12700">
            <a:solidFill>
              <a:srgbClr val="03A9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4937760" cy="3749039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200" i="1">
                <a:solidFill>
                  <a:srgbClr val="646464"/>
                </a:solidFill>
              </a:defRPr>
            </a:pPr>
            <a:r>
              <a:t>[VISUAL GUIDE]</a:t>
            </a:r>
            <a:br/>
            <a:r>
              <a:t>추후 관련 이미지 또는 그래프 삽입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164592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232323"/>
                </a:solidFill>
                <a:latin typeface="Arial"/>
              </a:defRPr>
            </a:pPr>
            <a:r>
              <a:t>• 철학: "내부 기전을 완벽히 설명하지 못해도 좋으니, 정확하게 적중하라"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356616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232323"/>
                </a:solidFill>
                <a:latin typeface="Arial"/>
              </a:defRPr>
            </a:pPr>
            <a:r>
              <a:t>• 전략: 복잡한 비선형 구조와 연산 부하를 감수하며 예측 오차를 최소화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548640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232323"/>
                </a:solidFill>
                <a:latin typeface="Arial"/>
              </a:defRPr>
            </a:pPr>
            <a:r>
              <a:t>• 전환: 인과 구조의 규명에서 결과의 적중으로의 이동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F5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283593"/>
                </a:solidFill>
                <a:latin typeface="Arial"/>
              </a:defRPr>
            </a:pPr>
            <a:r>
              <a:t>손실 함수의 수학적 정의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645920"/>
            <a:ext cx="5303520" cy="4114800"/>
          </a:xfrm>
          <a:prstGeom prst="rect">
            <a:avLst/>
          </a:prstGeom>
          <a:solidFill>
            <a:srgbClr val="F0F0F0"/>
          </a:solidFill>
          <a:ln w="12700">
            <a:solidFill>
              <a:srgbClr val="03A9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4937760" cy="3749039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200" i="1">
                <a:solidFill>
                  <a:srgbClr val="646464"/>
                </a:solidFill>
              </a:defRPr>
            </a:pPr>
            <a:r>
              <a:t>[VISUAL GUIDE]</a:t>
            </a:r>
            <a:br/>
            <a:r>
              <a:t>추후 관련 이미지 또는 그래프 삽입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164592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232323"/>
                </a:solidFill>
                <a:latin typeface="Arial"/>
              </a:defRPr>
            </a:pPr>
            <a:r>
              <a:t>• 정의: 모델의 예측값과 실제값의 차이를 수치화한 비용 함수 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356616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232323"/>
                </a:solidFill>
                <a:latin typeface="Arial"/>
              </a:defRPr>
            </a:pPr>
            <a:r>
              <a:t>• 목적: 모델 학습 시 최소화해야 할 목적 함수의 핵심 지표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548640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232323"/>
                </a:solidFill>
                <a:latin typeface="Arial"/>
              </a:defRPr>
            </a:pPr>
            <a:r>
              <a:t>• 역할: 어떤 종류의 오차에 더 큰 패널티를 줄 것인지 결정하는 경제적 기준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F5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283593"/>
                </a:solidFill>
                <a:latin typeface="Arial"/>
              </a:defRPr>
            </a:pPr>
            <a:r>
              <a:t>손실 함수의 공통 성질: 비음수성 및 단조성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645920"/>
            <a:ext cx="5303520" cy="4114800"/>
          </a:xfrm>
          <a:prstGeom prst="rect">
            <a:avLst/>
          </a:prstGeom>
          <a:solidFill>
            <a:srgbClr val="F0F0F0"/>
          </a:solidFill>
          <a:ln w="12700">
            <a:solidFill>
              <a:srgbClr val="03A9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4937760" cy="3749039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200" i="1">
                <a:solidFill>
                  <a:srgbClr val="646464"/>
                </a:solidFill>
              </a:defRPr>
            </a:pPr>
            <a:r>
              <a:t>[VISUAL GUIDE]</a:t>
            </a:r>
            <a:br/>
            <a:r>
              <a:t>추후 관련 이미지 또는 그래프 삽입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164592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232323"/>
                </a:solidFill>
                <a:latin typeface="Arial"/>
              </a:defRPr>
            </a:pPr>
            <a:r>
              <a:t>• 비음수성: 모든 오차에 대한 비용은 0보다 크거나 같음 (L &gt;= 0)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356616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232323"/>
                </a:solidFill>
                <a:latin typeface="Arial"/>
              </a:defRPr>
            </a:pPr>
            <a:r>
              <a:t>• 단조성: 예측값이 실제값에서 멀어질수록 손실의 크기는 줄어들지 않고 증가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548640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232323"/>
                </a:solidFill>
                <a:latin typeface="Arial"/>
              </a:defRPr>
            </a:pPr>
            <a:r>
              <a:t>• Why: 손실의 최소값은 예측이 완벽할 때(f=y) 0이 되는 지점으로 설정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F5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283593"/>
                </a:solidFill>
                <a:latin typeface="Arial"/>
              </a:defRPr>
            </a:pPr>
            <a:r>
              <a:t>대칭적 손실: 제곱 오차와 절대 오차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645920"/>
            <a:ext cx="5303520" cy="4114800"/>
          </a:xfrm>
          <a:prstGeom prst="rect">
            <a:avLst/>
          </a:prstGeom>
          <a:solidFill>
            <a:srgbClr val="F0F0F0"/>
          </a:solidFill>
          <a:ln w="12700">
            <a:solidFill>
              <a:srgbClr val="03A9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4937760" cy="3749039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200" i="1">
                <a:solidFill>
                  <a:srgbClr val="646464"/>
                </a:solidFill>
              </a:defRPr>
            </a:pPr>
            <a:r>
              <a:t>[VISUAL GUIDE]</a:t>
            </a:r>
            <a:br/>
            <a:r>
              <a:t>추후 관련 이미지 또는 그래프 삽입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164592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232323"/>
                </a:solidFill>
                <a:latin typeface="Arial"/>
              </a:defRPr>
            </a:pPr>
            <a:r>
              <a:t>• 제곱 오차: 오차의 제곱에 비례하여 큰 오차에 매우 강한 패널티 부여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356616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232323"/>
                </a:solidFill>
                <a:latin typeface="Arial"/>
              </a:defRPr>
            </a:pPr>
            <a:r>
              <a:t>• 절대 오차: 오차의 크기에 선형적으로 비례하며 이상치에 상대적으로 견고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548640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232323"/>
                </a:solidFill>
                <a:latin typeface="Arial"/>
              </a:defRPr>
            </a:pPr>
            <a:r>
              <a:t>• 특징: 예측값의 과대평가와 과소평가에 동일한 비용을 부과하는 대칭 구조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F5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283593"/>
                </a:solidFill>
                <a:latin typeface="Arial"/>
              </a:defRPr>
            </a:pPr>
            <a:r>
              <a:t>비대칭적 손실: 예측 방향에 따른 비용 차이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645920"/>
            <a:ext cx="5303520" cy="4114800"/>
          </a:xfrm>
          <a:prstGeom prst="rect">
            <a:avLst/>
          </a:prstGeom>
          <a:solidFill>
            <a:srgbClr val="F0F0F0"/>
          </a:solidFill>
          <a:ln w="12700">
            <a:solidFill>
              <a:srgbClr val="03A9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4937760" cy="3749039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200" i="1">
                <a:solidFill>
                  <a:srgbClr val="646464"/>
                </a:solidFill>
              </a:defRPr>
            </a:pPr>
            <a:r>
              <a:t>[VISUAL GUIDE]</a:t>
            </a:r>
            <a:br/>
            <a:r>
              <a:t>추후 관련 이미지 또는 그래프 삽입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164592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232323"/>
                </a:solidFill>
                <a:latin typeface="Arial"/>
              </a:defRPr>
            </a:pPr>
            <a:r>
              <a:t>• 현상: 현실 비즈니스에서는 오차의 방향에 따라 발생하는 기회비용이 서로 다름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356616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232323"/>
                </a:solidFill>
                <a:latin typeface="Arial"/>
              </a:defRPr>
            </a:pPr>
            <a:r>
              <a:t>• 예시: 재고 관리 시 과소예측(품절 비용)과 과대예측(재고 유지 비용)의 불균형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548640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232323"/>
                </a:solidFill>
                <a:latin typeface="Arial"/>
              </a:defRPr>
            </a:pPr>
            <a:r>
              <a:t>• Why: 상황에 맞는 최적의 비대칭 손실 함수를 선택하는 것이 모델러의 역량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F5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283593"/>
                </a:solidFill>
                <a:latin typeface="Arial"/>
              </a:defRPr>
            </a:pPr>
            <a:r>
              <a:t>최적 예측의 원리: 기대 손실의 최소화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645920"/>
            <a:ext cx="5303520" cy="4114800"/>
          </a:xfrm>
          <a:prstGeom prst="rect">
            <a:avLst/>
          </a:prstGeom>
          <a:solidFill>
            <a:srgbClr val="F0F0F0"/>
          </a:solidFill>
          <a:ln w="12700">
            <a:solidFill>
              <a:srgbClr val="03A9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4937760" cy="3749039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200" i="1">
                <a:solidFill>
                  <a:srgbClr val="646464"/>
                </a:solidFill>
              </a:defRPr>
            </a:pPr>
            <a:r>
              <a:t>[VISUAL GUIDE]</a:t>
            </a:r>
            <a:br/>
            <a:r>
              <a:t>추후 관련 이미지 또는 그래프 삽입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164592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232323"/>
                </a:solidFill>
                <a:latin typeface="Arial"/>
              </a:defRPr>
            </a:pPr>
            <a:r>
              <a:t>• 원리: 단순히 오차를 줄이는 것이 아니라 기대 손실 E[L]을 최소화하는 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356616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232323"/>
                </a:solidFill>
                <a:latin typeface="Arial"/>
              </a:defRPr>
            </a:pPr>
            <a:r>
              <a:t>• 과정: 데이터의 조건부 분포를 고려하여 평균적으로 가장 비용이 적은 예측치 산출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548640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232323"/>
                </a:solidFill>
                <a:latin typeface="Arial"/>
              </a:defRPr>
            </a:pPr>
            <a:r>
              <a:t>• 가치: 수학적 최적화가 비즈니스적 이익 극대화로 연결되는 핵심 기전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F5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283593"/>
                </a:solidFill>
                <a:latin typeface="Arial"/>
              </a:defRPr>
            </a:pPr>
            <a:r>
              <a:t>과적합: 정확도의 독배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645920"/>
            <a:ext cx="5303520" cy="4114800"/>
          </a:xfrm>
          <a:prstGeom prst="rect">
            <a:avLst/>
          </a:prstGeom>
          <a:solidFill>
            <a:srgbClr val="F0F0F0"/>
          </a:solidFill>
          <a:ln w="12700">
            <a:solidFill>
              <a:srgbClr val="03A9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4937760" cy="3749039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200" i="1">
                <a:solidFill>
                  <a:srgbClr val="646464"/>
                </a:solidFill>
              </a:defRPr>
            </a:pPr>
            <a:r>
              <a:t>[VISUAL GUIDE]</a:t>
            </a:r>
            <a:br/>
            <a:r>
              <a:t>추후 관련 이미지 또는 그래프 삽입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164592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232323"/>
                </a:solidFill>
                <a:latin typeface="Arial"/>
              </a:defRPr>
            </a:pPr>
            <a:r>
              <a:t>• 현상: 훈련 데이터 오차는 0에 수렴하나 검증 데이터 오차는 급격히 상승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356616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232323"/>
                </a:solidFill>
                <a:latin typeface="Arial"/>
              </a:defRPr>
            </a:pPr>
            <a:r>
              <a:t>• 원인: 데이터 내 유의미한 신호가 아닌 무작위 노이즈까지 학습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548640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232323"/>
                </a:solidFill>
                <a:latin typeface="Arial"/>
              </a:defRPr>
            </a:pPr>
            <a:r>
              <a:t>• 결론: 일반화 능력이 없는 모델은 실전에서 가치를 상실함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F5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283593"/>
                </a:solidFill>
                <a:latin typeface="Arial"/>
              </a:defRPr>
            </a:pPr>
            <a:r>
              <a:t>바이어스-베리언스 트레이드오프의 역설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645920"/>
            <a:ext cx="5303520" cy="4114800"/>
          </a:xfrm>
          <a:prstGeom prst="rect">
            <a:avLst/>
          </a:prstGeom>
          <a:solidFill>
            <a:srgbClr val="F0F0F0"/>
          </a:solidFill>
          <a:ln w="12700">
            <a:solidFill>
              <a:srgbClr val="03A9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4937760" cy="3749039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200" i="1">
                <a:solidFill>
                  <a:srgbClr val="646464"/>
                </a:solidFill>
              </a:defRPr>
            </a:pPr>
            <a:r>
              <a:t>[VISUAL GUIDE]</a:t>
            </a:r>
            <a:br/>
            <a:r>
              <a:t>추후 관련 이미지 또는 그래프 삽입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164592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232323"/>
                </a:solidFill>
                <a:latin typeface="Arial"/>
              </a:defRPr>
            </a:pPr>
            <a:r>
              <a:t>• 편향: 모델의 단순함으로 인해 데이터의 본질적 관계를 놓치는 오차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356616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232323"/>
                </a:solidFill>
                <a:latin typeface="Arial"/>
              </a:defRPr>
            </a:pPr>
            <a:r>
              <a:t>• 분산: 모델의 복잡함으로 인해 데이터의 작은 변동에 민감하게 반응하는 오차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548640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232323"/>
                </a:solidFill>
                <a:latin typeface="Arial"/>
              </a:defRPr>
            </a:pPr>
            <a:r>
              <a:t>• 역설: 하나를 줄이려 하면 다른 하나가 늘어나는 상충 관계의 존재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F5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283593"/>
                </a:solidFill>
                <a:latin typeface="Arial"/>
              </a:defRPr>
            </a:pPr>
            <a:r>
              <a:t>오차의 분해: 편향, 분산, 그리고 노이즈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645920"/>
            <a:ext cx="5303520" cy="4114800"/>
          </a:xfrm>
          <a:prstGeom prst="rect">
            <a:avLst/>
          </a:prstGeom>
          <a:solidFill>
            <a:srgbClr val="F0F0F0"/>
          </a:solidFill>
          <a:ln w="12700">
            <a:solidFill>
              <a:srgbClr val="03A9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4937760" cy="3749039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200" i="1">
                <a:solidFill>
                  <a:srgbClr val="646464"/>
                </a:solidFill>
              </a:defRPr>
            </a:pPr>
            <a:r>
              <a:t>[VISUAL GUIDE]</a:t>
            </a:r>
            <a:br/>
            <a:r>
              <a:t>추후 관련 이미지 또는 그래프 삽입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164592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232323"/>
                </a:solidFill>
                <a:latin typeface="Arial"/>
              </a:defRPr>
            </a:pPr>
            <a:r>
              <a:t>• 공식: 총 오차 = 편향^2 + 분산 + 줄일 수 없는 오차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356616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232323"/>
                </a:solidFill>
                <a:latin typeface="Arial"/>
              </a:defRPr>
            </a:pPr>
            <a:r>
              <a:t>• 목표: 모델 복잡도를 조절하여 총 오차가 최소가 되는 최적의 스위트 스팟 포착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548640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232323"/>
                </a:solidFill>
                <a:latin typeface="Arial"/>
              </a:defRPr>
            </a:pPr>
            <a:r>
              <a:t>• 결론: 머신러닝의 모든 기법은 결국 이 트레이드오프를 극복하기 위한 수단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F5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283593"/>
                </a:solidFill>
                <a:latin typeface="Arial"/>
              </a:defRPr>
            </a:pPr>
            <a:r>
              <a:t>결론: 통찰을 위한 진화하는 도구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645920"/>
            <a:ext cx="5303520" cy="4114800"/>
          </a:xfrm>
          <a:prstGeom prst="rect">
            <a:avLst/>
          </a:prstGeom>
          <a:solidFill>
            <a:srgbClr val="F0F0F0"/>
          </a:solidFill>
          <a:ln w="12700">
            <a:solidFill>
              <a:srgbClr val="03A9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4937760" cy="3749039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200" i="1">
                <a:solidFill>
                  <a:srgbClr val="646464"/>
                </a:solidFill>
              </a:defRPr>
            </a:pPr>
            <a:r>
              <a:t>[VISUAL GUIDE]</a:t>
            </a:r>
            <a:br/>
            <a:r>
              <a:t>추후 관련 이미지 또는 그래프 삽입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164592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232323"/>
                </a:solidFill>
                <a:latin typeface="Arial"/>
              </a:defRPr>
            </a:pPr>
            <a:r>
              <a:t>• ML의 성격: 절대적 정답이 아닌, 데이터 통찰을 얻기 위한 가변적 도구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356616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232323"/>
                </a:solidFill>
                <a:latin typeface="Arial"/>
              </a:defRPr>
            </a:pPr>
            <a:r>
              <a:t>• 학습의 자세: 기술의 역사와 수학적 원리를 이해하고 나만의 결론을 도출할 것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548640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232323"/>
                </a:solidFill>
                <a:latin typeface="Arial"/>
              </a:defRPr>
            </a:pPr>
            <a:r>
              <a:t>• 메시지: 도구를 섬기지 말고, 데이터를 꿰뚫는 주인이 될 것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